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62" r:id="rId2"/>
    <p:sldId id="408" r:id="rId3"/>
    <p:sldId id="394" r:id="rId4"/>
    <p:sldId id="409" r:id="rId5"/>
    <p:sldId id="401" r:id="rId6"/>
    <p:sldId id="402" r:id="rId7"/>
    <p:sldId id="403" r:id="rId8"/>
    <p:sldId id="404" r:id="rId9"/>
    <p:sldId id="405" r:id="rId10"/>
    <p:sldId id="406" r:id="rId11"/>
    <p:sldId id="407" r:id="rId12"/>
  </p:sldIdLst>
  <p:sldSz cx="12192000" cy="6858000"/>
  <p:notesSz cx="6858000" cy="9144000"/>
  <p:custDataLst>
    <p:tags r:id="rId1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CB9"/>
    <a:srgbClr val="FFFFFF"/>
    <a:srgbClr val="CFD5EA"/>
    <a:srgbClr val="E9EBF5"/>
    <a:srgbClr val="005FBF"/>
    <a:srgbClr val="005C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118" autoAdjust="0"/>
  </p:normalViewPr>
  <p:slideViewPr>
    <p:cSldViewPr snapToGrid="0" snapToObjects="1">
      <p:cViewPr varScale="1">
        <p:scale>
          <a:sx n="69" d="100"/>
          <a:sy n="69" d="100"/>
        </p:scale>
        <p:origin x="54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7BB6BB-7BE1-4302-BB54-337C964EF0EA}" type="datetimeFigureOut">
              <a:rPr lang="zh-CN" altLang="en-US" smtClean="0"/>
              <a:t>2025/5/19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845B74-3AF8-437E-A446-1297CA166FF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smtClean="0">
                <a:solidFill>
                  <a:schemeClr val="tx1">
                    <a:lumMod val="95000"/>
                    <a:lumOff val="5000"/>
                  </a:schemeClr>
                </a:solidFill>
                <a:latin typeface="Arial" panose="020B0604020202020204" pitchFamily="34" charset="0"/>
                <a:ea typeface="+mn-ea"/>
                <a:cs typeface="Arial" panose="020B0604020202020204" pitchFamily="34" charset="0"/>
              </a:rPr>
              <a:t>技术领域：本发明涉及</a:t>
            </a:r>
            <a:r>
              <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rPr>
              <a:t>(…</a:t>
            </a:r>
            <a:r>
              <a:rPr lang="zh-CN" altLang="en-US" sz="1200" dirty="0" smtClean="0">
                <a:solidFill>
                  <a:schemeClr val="tx1">
                    <a:lumMod val="95000"/>
                    <a:lumOff val="5000"/>
                  </a:schemeClr>
                </a:solidFill>
                <a:latin typeface="Arial" panose="020B0604020202020204" pitchFamily="34" charset="0"/>
                <a:ea typeface="+mn-ea"/>
                <a:cs typeface="Arial" panose="020B0604020202020204" pitchFamily="34" charset="0"/>
              </a:rPr>
              <a:t>一般领域</a:t>
            </a:r>
            <a:r>
              <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rPr>
              <a:t>)</a:t>
            </a:r>
            <a:r>
              <a:rPr lang="zh-CN" altLang="en-US" sz="1200" dirty="0" smtClean="0">
                <a:solidFill>
                  <a:schemeClr val="tx1">
                    <a:lumMod val="95000"/>
                    <a:lumOff val="5000"/>
                  </a:schemeClr>
                </a:solidFill>
                <a:latin typeface="Arial" panose="020B0604020202020204" pitchFamily="34" charset="0"/>
                <a:ea typeface="+mn-ea"/>
                <a:cs typeface="Arial" panose="020B0604020202020204" pitchFamily="34" charset="0"/>
              </a:rPr>
              <a:t>，特别涉及</a:t>
            </a:r>
            <a:r>
              <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rPr>
              <a:t>(…</a:t>
            </a:r>
            <a:r>
              <a:rPr lang="zh-CN" altLang="en-US" sz="1200" dirty="0" smtClean="0">
                <a:solidFill>
                  <a:schemeClr val="tx1">
                    <a:lumMod val="95000"/>
                    <a:lumOff val="5000"/>
                  </a:schemeClr>
                </a:solidFill>
                <a:latin typeface="Arial" panose="020B0604020202020204" pitchFamily="34" charset="0"/>
                <a:ea typeface="+mn-ea"/>
                <a:cs typeface="Arial" panose="020B0604020202020204" pitchFamily="34" charset="0"/>
              </a:rPr>
              <a:t>具体领域</a:t>
            </a:r>
            <a:r>
              <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rPr>
              <a:t>)</a:t>
            </a:r>
            <a:r>
              <a:rPr lang="zh-CN" altLang="en-US" sz="1200" dirty="0" smtClean="0">
                <a:solidFill>
                  <a:schemeClr val="tx1">
                    <a:lumMod val="95000"/>
                    <a:lumOff val="5000"/>
                  </a:schemeClr>
                </a:solidFill>
                <a:latin typeface="Arial" panose="020B0604020202020204" pitchFamily="34" charset="0"/>
                <a:ea typeface="+mn-ea"/>
                <a:cs typeface="Arial" panose="020B0604020202020204" pitchFamily="34" charset="0"/>
              </a:rPr>
              <a:t>，利用</a:t>
            </a:r>
            <a:r>
              <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rPr>
              <a:t>(…</a:t>
            </a:r>
            <a:r>
              <a:rPr lang="zh-CN" altLang="en-US" sz="1200" dirty="0" smtClean="0">
                <a:solidFill>
                  <a:schemeClr val="tx1">
                    <a:lumMod val="95000"/>
                    <a:lumOff val="5000"/>
                  </a:schemeClr>
                </a:solidFill>
                <a:latin typeface="Arial" panose="020B0604020202020204" pitchFamily="34" charset="0"/>
                <a:ea typeface="+mn-ea"/>
                <a:cs typeface="Arial" panose="020B0604020202020204" pitchFamily="34" charset="0"/>
              </a:rPr>
              <a:t>主要的技术手段</a:t>
            </a:r>
            <a:r>
              <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rPr>
              <a:t>)</a:t>
            </a:r>
            <a:r>
              <a:rPr lang="zh-CN" altLang="en-US" sz="1200" dirty="0" smtClean="0">
                <a:solidFill>
                  <a:schemeClr val="tx1">
                    <a:lumMod val="95000"/>
                    <a:lumOff val="5000"/>
                  </a:schemeClr>
                </a:solidFill>
                <a:latin typeface="Arial" panose="020B0604020202020204" pitchFamily="34" charset="0"/>
                <a:ea typeface="+mn-ea"/>
                <a:cs typeface="Arial" panose="020B0604020202020204" pitchFamily="34" charset="0"/>
              </a:rPr>
              <a:t>，应用于</a:t>
            </a:r>
            <a:r>
              <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rPr>
              <a:t>(…</a:t>
            </a:r>
            <a:r>
              <a:rPr lang="zh-CN" altLang="en-US" sz="1200" dirty="0" smtClean="0">
                <a:solidFill>
                  <a:schemeClr val="tx1">
                    <a:lumMod val="95000"/>
                    <a:lumOff val="5000"/>
                  </a:schemeClr>
                </a:solidFill>
                <a:latin typeface="Arial" panose="020B0604020202020204" pitchFamily="34" charset="0"/>
                <a:ea typeface="+mn-ea"/>
                <a:cs typeface="Arial" panose="020B0604020202020204" pitchFamily="34" charset="0"/>
              </a:rPr>
              <a:t>主要技术手段的作用效果</a:t>
            </a:r>
            <a:r>
              <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rPr>
              <a:t>)</a:t>
            </a:r>
            <a:r>
              <a:rPr lang="zh-CN" altLang="en-US" sz="1200" dirty="0" smtClean="0">
                <a:solidFill>
                  <a:schemeClr val="tx1">
                    <a:lumMod val="95000"/>
                    <a:lumOff val="5000"/>
                  </a:schemeClr>
                </a:solidFill>
                <a:latin typeface="Arial" panose="020B0604020202020204" pitchFamily="34" charset="0"/>
                <a:ea typeface="+mn-ea"/>
                <a:cs typeface="Arial" panose="020B0604020202020204" pitchFamily="34" charset="0"/>
              </a:rPr>
              <a:t>。</a:t>
            </a:r>
            <a:r>
              <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rPr>
              <a:t>The invention is related to </a:t>
            </a:r>
            <a:r>
              <a:rPr lang="en-US" altLang="zh-TW" sz="1200" dirty="0" smtClean="0">
                <a:solidFill>
                  <a:schemeClr val="tx1">
                    <a:lumMod val="95000"/>
                    <a:lumOff val="5000"/>
                  </a:schemeClr>
                </a:solidFill>
                <a:latin typeface="Arial" panose="020B0604020202020204" pitchFamily="34" charset="0"/>
                <a:ea typeface="等线" panose="02010600030101010101" pitchFamily="2" charset="-122"/>
                <a:cs typeface="Arial" panose="020B0604020202020204" pitchFamily="34" charset="0"/>
              </a:rPr>
              <a:t>(…general field</a:t>
            </a:r>
            <a:r>
              <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rPr>
              <a:t>), especially to (…special field). By utilizing (…technical method), the invention can be applied in (…the invention effects through technical method)</a:t>
            </a:r>
            <a:r>
              <a:rPr lang="en-US" altLang="zh-TW" sz="1200" dirty="0" smtClean="0">
                <a:solidFill>
                  <a:schemeClr val="tx1">
                    <a:lumMod val="95000"/>
                    <a:lumOff val="5000"/>
                  </a:schemeClr>
                </a:solidFill>
                <a:latin typeface="Arial" panose="020B0604020202020204" pitchFamily="34" charset="0"/>
                <a:ea typeface="等线" panose="02010600030101010101" pitchFamily="2" charset="-122"/>
                <a:cs typeface="Arial" panose="020B0604020202020204" pitchFamily="34" charset="0"/>
              </a:rPr>
              <a:t>.</a:t>
            </a:r>
          </a:p>
          <a:p>
            <a:endParaRPr lang="zh-CN" altLang="en-US" dirty="0"/>
          </a:p>
        </p:txBody>
      </p:sp>
      <p:sp>
        <p:nvSpPr>
          <p:cNvPr id="4" name="灯片编号占位符 3"/>
          <p:cNvSpPr>
            <a:spLocks noGrp="1"/>
          </p:cNvSpPr>
          <p:nvPr>
            <p:ph type="sldNum" sz="quarter" idx="10"/>
          </p:nvPr>
        </p:nvSpPr>
        <p:spPr/>
        <p:txBody>
          <a:bodyPr/>
          <a:lstStyle/>
          <a:p>
            <a:fld id="{00845B74-3AF8-437E-A446-1297CA166FFB}" type="slidenum">
              <a:rPr lang="zh-CN" altLang="en-US" smtClean="0"/>
              <a:t>2</a:t>
            </a:fld>
            <a:endParaRPr lang="zh-CN" altLang="en-US"/>
          </a:p>
        </p:txBody>
      </p:sp>
    </p:spTree>
    <p:extLst>
      <p:ext uri="{BB962C8B-B14F-4D97-AF65-F5344CB8AC3E}">
        <p14:creationId xmlns:p14="http://schemas.microsoft.com/office/powerpoint/2010/main" val="33935258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专利交底书目录</a:t>
            </a:r>
            <a:r>
              <a:rPr lang="en-US" altLang="zh-CN" dirty="0" smtClean="0"/>
              <a:t>(Patent content)</a:t>
            </a:r>
          </a:p>
          <a:p>
            <a:pPr marL="171450" indent="-171450">
              <a:buFont typeface="Wingdings" panose="05000000000000000000" pitchFamily="2" charset="2"/>
              <a:buChar char="l"/>
            </a:pPr>
            <a:r>
              <a:rPr lang="zh-CN" altLang="en-US" dirty="0" smtClean="0"/>
              <a:t>此页无需填写，有星号标识代表必填项</a:t>
            </a:r>
            <a:endParaRPr lang="en-US" altLang="zh-CN" dirty="0" smtClean="0"/>
          </a:p>
          <a:p>
            <a:pPr marL="171450" indent="-171450">
              <a:buFont typeface="Wingdings" panose="05000000000000000000" pitchFamily="2" charset="2"/>
              <a:buChar char="l"/>
            </a:pPr>
            <a:r>
              <a:rPr lang="en-US" altLang="zh-CN" dirty="0" smtClean="0"/>
              <a:t>Don’t need to fill out for this page.</a:t>
            </a:r>
            <a:r>
              <a:rPr lang="en-US" altLang="zh-CN" baseline="0" dirty="0" smtClean="0"/>
              <a:t> The asterisks indicate required items.</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00845B74-3AF8-437E-A446-1297CA166FFB}" type="slidenum">
              <a:rPr lang="zh-CN" altLang="en-US" smtClean="0"/>
              <a:t>3</a:t>
            </a:fld>
            <a:endParaRPr lang="zh-CN" altLang="en-US"/>
          </a:p>
        </p:txBody>
      </p:sp>
    </p:spTree>
    <p:extLst>
      <p:ext uri="{BB962C8B-B14F-4D97-AF65-F5344CB8AC3E}">
        <p14:creationId xmlns:p14="http://schemas.microsoft.com/office/powerpoint/2010/main" val="18826559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smtClean="0">
                <a:latin typeface="Arial" panose="020B0604020202020204" pitchFamily="34" charset="0"/>
                <a:cs typeface="Arial" panose="020B0604020202020204" pitchFamily="34" charset="0"/>
              </a:rPr>
              <a:t>先前技术 </a:t>
            </a:r>
            <a:r>
              <a:rPr lang="en-US" altLang="zh-CN" sz="1200" dirty="0" smtClean="0">
                <a:latin typeface="Arial" panose="020B0604020202020204" pitchFamily="34" charset="0"/>
                <a:cs typeface="Arial" panose="020B0604020202020204" pitchFamily="34" charset="0"/>
              </a:rPr>
              <a:t>(Related</a:t>
            </a:r>
            <a:r>
              <a:rPr lang="en-US" altLang="zh-CN" sz="1200" baseline="0" dirty="0" smtClean="0">
                <a:latin typeface="Arial" panose="020B0604020202020204" pitchFamily="34" charset="0"/>
                <a:cs typeface="Arial" panose="020B0604020202020204" pitchFamily="34" charset="0"/>
              </a:rPr>
              <a:t> prior art)</a:t>
            </a:r>
            <a:endParaRPr lang="en-US" altLang="zh-CN" sz="1200" dirty="0" smtClean="0">
              <a:latin typeface="Arial" panose="020B0604020202020204" pitchFamily="34" charset="0"/>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lang="zh-CN" altLang="en-US" sz="1200" dirty="0" smtClean="0">
                <a:solidFill>
                  <a:schemeClr val="tx1">
                    <a:lumMod val="95000"/>
                    <a:lumOff val="5000"/>
                  </a:schemeClr>
                </a:solidFill>
                <a:latin typeface="Arial" panose="020B0604020202020204" pitchFamily="34" charset="0"/>
                <a:ea typeface="+mn-ea"/>
                <a:cs typeface="Arial" panose="020B0604020202020204" pitchFamily="34" charset="0"/>
              </a:rPr>
              <a:t>清楚介绍本发明背景技术以及主要的先前技术。</a:t>
            </a:r>
            <a:r>
              <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rPr>
              <a:t>Please describe the background of technology</a:t>
            </a:r>
            <a:r>
              <a:rPr lang="en-US" altLang="zh-CN" sz="1200" baseline="0" dirty="0" smtClean="0">
                <a:solidFill>
                  <a:schemeClr val="tx1">
                    <a:lumMod val="95000"/>
                    <a:lumOff val="5000"/>
                  </a:schemeClr>
                </a:solidFill>
                <a:latin typeface="Arial" panose="020B0604020202020204" pitchFamily="34" charset="0"/>
                <a:ea typeface="+mn-ea"/>
                <a:cs typeface="Arial" panose="020B0604020202020204" pitchFamily="34" charset="0"/>
              </a:rPr>
              <a:t> and the major prior art. </a:t>
            </a:r>
            <a:endPar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lang="zh-CN" altLang="en-US" sz="1200" dirty="0" smtClean="0">
                <a:solidFill>
                  <a:schemeClr val="tx1">
                    <a:lumMod val="95000"/>
                    <a:lumOff val="5000"/>
                  </a:schemeClr>
                </a:solidFill>
                <a:latin typeface="Arial" panose="020B0604020202020204" pitchFamily="34" charset="0"/>
                <a:ea typeface="+mn-ea"/>
                <a:cs typeface="Arial" panose="020B0604020202020204" pitchFamily="34" charset="0"/>
              </a:rPr>
              <a:t>需要解决技术问题的挑战。</a:t>
            </a:r>
            <a:r>
              <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rPr>
              <a:t>Describe</a:t>
            </a:r>
            <a:r>
              <a:rPr lang="en-US" altLang="zh-CN" sz="1200" baseline="0" dirty="0" smtClean="0">
                <a:solidFill>
                  <a:schemeClr val="tx1">
                    <a:lumMod val="95000"/>
                    <a:lumOff val="5000"/>
                  </a:schemeClr>
                </a:solidFill>
                <a:latin typeface="Arial" panose="020B0604020202020204" pitchFamily="34" charset="0"/>
                <a:ea typeface="+mn-ea"/>
                <a:cs typeface="Arial" panose="020B0604020202020204" pitchFamily="34" charset="0"/>
              </a:rPr>
              <a:t> the t</a:t>
            </a:r>
            <a:r>
              <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rPr>
              <a:t>echnical challenge to be solved.</a:t>
            </a:r>
          </a:p>
          <a:p>
            <a:r>
              <a:rPr lang="en-US" altLang="zh-CN" dirty="0" smtClean="0"/>
              <a:t>Example : </a:t>
            </a:r>
            <a:r>
              <a:rPr lang="zh-CN" altLang="en-US" dirty="0" smtClean="0"/>
              <a:t>本发明涉及</a:t>
            </a:r>
            <a:r>
              <a:rPr lang="en-US" altLang="zh-CN" dirty="0" smtClean="0"/>
              <a:t>(</a:t>
            </a:r>
            <a:r>
              <a:rPr lang="zh-CN" altLang="en-US" dirty="0" smtClean="0"/>
              <a:t>集成电路领域</a:t>
            </a:r>
            <a:r>
              <a:rPr lang="en-US" altLang="zh-CN" dirty="0" smtClean="0"/>
              <a:t>)</a:t>
            </a:r>
            <a:r>
              <a:rPr lang="zh-CN" altLang="en-US" dirty="0" smtClean="0"/>
              <a:t>，特别涉及</a:t>
            </a:r>
            <a:r>
              <a:rPr lang="en-US" altLang="zh-CN" dirty="0" smtClean="0"/>
              <a:t>(</a:t>
            </a:r>
            <a:r>
              <a:rPr lang="zh-CN" altLang="en-US" dirty="0" smtClean="0"/>
              <a:t>内存存储器</a:t>
            </a:r>
            <a:r>
              <a:rPr lang="en-US" altLang="zh-CN" dirty="0" smtClean="0"/>
              <a:t>)</a:t>
            </a:r>
            <a:r>
              <a:rPr lang="zh-CN" altLang="en-US" dirty="0" smtClean="0"/>
              <a:t>，利用</a:t>
            </a:r>
            <a:r>
              <a:rPr lang="en-US" altLang="zh-CN" dirty="0" smtClean="0"/>
              <a:t>(</a:t>
            </a:r>
            <a:r>
              <a:rPr lang="zh-CN" altLang="en-US" dirty="0" smtClean="0"/>
              <a:t>上拉及下拉驱动电路控制</a:t>
            </a:r>
            <a:r>
              <a:rPr lang="en-US" altLang="zh-CN" dirty="0" smtClean="0"/>
              <a:t>)</a:t>
            </a:r>
            <a:r>
              <a:rPr lang="zh-CN" altLang="en-US" dirty="0" smtClean="0"/>
              <a:t>，应用于</a:t>
            </a:r>
            <a:r>
              <a:rPr lang="en-US" altLang="zh-CN" dirty="0" smtClean="0"/>
              <a:t>(</a:t>
            </a:r>
            <a:r>
              <a:rPr lang="zh-CN" altLang="en-US" dirty="0" smtClean="0"/>
              <a:t>感应放大器的侦测能力</a:t>
            </a:r>
            <a:r>
              <a:rPr lang="en-US" altLang="zh-CN" dirty="0" smtClean="0"/>
              <a:t>)</a:t>
            </a:r>
            <a:r>
              <a:rPr lang="zh-CN" altLang="en-US" dirty="0" smtClean="0"/>
              <a:t>。</a:t>
            </a:r>
          </a:p>
          <a:p>
            <a:endParaRPr lang="zh-CN" altLang="en-US" dirty="0"/>
          </a:p>
        </p:txBody>
      </p:sp>
      <p:sp>
        <p:nvSpPr>
          <p:cNvPr id="4" name="灯片编号占位符 3"/>
          <p:cNvSpPr>
            <a:spLocks noGrp="1"/>
          </p:cNvSpPr>
          <p:nvPr>
            <p:ph type="sldNum" sz="quarter" idx="10"/>
          </p:nvPr>
        </p:nvSpPr>
        <p:spPr/>
        <p:txBody>
          <a:bodyPr/>
          <a:lstStyle/>
          <a:p>
            <a:fld id="{00845B74-3AF8-437E-A446-1297CA166FFB}" type="slidenum">
              <a:rPr lang="zh-CN" altLang="en-US" smtClean="0"/>
              <a:t>4</a:t>
            </a:fld>
            <a:endParaRPr lang="zh-CN" altLang="en-US"/>
          </a:p>
        </p:txBody>
      </p:sp>
    </p:spTree>
    <p:extLst>
      <p:ext uri="{BB962C8B-B14F-4D97-AF65-F5344CB8AC3E}">
        <p14:creationId xmlns:p14="http://schemas.microsoft.com/office/powerpoint/2010/main" val="3517272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smtClean="0">
                <a:latin typeface="Arial" panose="020B0604020202020204" pitchFamily="34" charset="0"/>
                <a:cs typeface="Arial" panose="020B0604020202020204" pitchFamily="34" charset="0"/>
              </a:rPr>
              <a:t>先前技术 </a:t>
            </a:r>
            <a:r>
              <a:rPr lang="en-US" altLang="zh-CN" sz="1200" dirty="0" smtClean="0">
                <a:latin typeface="Arial" panose="020B0604020202020204" pitchFamily="34" charset="0"/>
                <a:cs typeface="Arial" panose="020B0604020202020204" pitchFamily="34" charset="0"/>
              </a:rPr>
              <a:t>(Related</a:t>
            </a:r>
            <a:r>
              <a:rPr lang="en-US" altLang="zh-CN" sz="1200" baseline="0" dirty="0" smtClean="0">
                <a:latin typeface="Arial" panose="020B0604020202020204" pitchFamily="34" charset="0"/>
                <a:cs typeface="Arial" panose="020B0604020202020204" pitchFamily="34" charset="0"/>
              </a:rPr>
              <a:t> prior art)</a:t>
            </a:r>
            <a:endParaRPr lang="en-US" altLang="zh-CN" sz="1200" dirty="0" smtClean="0">
              <a:latin typeface="Arial" panose="020B0604020202020204" pitchFamily="34" charset="0"/>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lang="zh-CN" altLang="en-US" sz="1200" dirty="0" smtClean="0">
                <a:solidFill>
                  <a:schemeClr val="tx1">
                    <a:lumMod val="95000"/>
                    <a:lumOff val="5000"/>
                  </a:schemeClr>
                </a:solidFill>
                <a:latin typeface="Arial" panose="020B0604020202020204" pitchFamily="34" charset="0"/>
                <a:ea typeface="+mn-ea"/>
                <a:cs typeface="Arial" panose="020B0604020202020204" pitchFamily="34" charset="0"/>
              </a:rPr>
              <a:t>清楚介绍本发明背景技术以及主要的先前技术。</a:t>
            </a:r>
            <a:r>
              <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rPr>
              <a:t>Please describe the background of technology</a:t>
            </a:r>
            <a:r>
              <a:rPr lang="en-US" altLang="zh-CN" sz="1200" baseline="0" dirty="0" smtClean="0">
                <a:solidFill>
                  <a:schemeClr val="tx1">
                    <a:lumMod val="95000"/>
                    <a:lumOff val="5000"/>
                  </a:schemeClr>
                </a:solidFill>
                <a:latin typeface="Arial" panose="020B0604020202020204" pitchFamily="34" charset="0"/>
                <a:ea typeface="+mn-ea"/>
                <a:cs typeface="Arial" panose="020B0604020202020204" pitchFamily="34" charset="0"/>
              </a:rPr>
              <a:t> and the major prior art. </a:t>
            </a:r>
            <a:endPar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endParaRPr>
          </a:p>
          <a:p>
            <a:endParaRPr lang="zh-CN" altLang="en-US" dirty="0"/>
          </a:p>
        </p:txBody>
      </p:sp>
      <p:sp>
        <p:nvSpPr>
          <p:cNvPr id="4" name="灯片编号占位符 3"/>
          <p:cNvSpPr>
            <a:spLocks noGrp="1"/>
          </p:cNvSpPr>
          <p:nvPr>
            <p:ph type="sldNum" sz="quarter" idx="10"/>
          </p:nvPr>
        </p:nvSpPr>
        <p:spPr/>
        <p:txBody>
          <a:bodyPr/>
          <a:lstStyle/>
          <a:p>
            <a:fld id="{00845B74-3AF8-437E-A446-1297CA166FFB}" type="slidenum">
              <a:rPr lang="zh-CN" altLang="en-US" smtClean="0"/>
              <a:t>5</a:t>
            </a:fld>
            <a:endParaRPr lang="zh-CN" altLang="en-US"/>
          </a:p>
        </p:txBody>
      </p:sp>
    </p:spTree>
    <p:extLst>
      <p:ext uri="{BB962C8B-B14F-4D97-AF65-F5344CB8AC3E}">
        <p14:creationId xmlns:p14="http://schemas.microsoft.com/office/powerpoint/2010/main" val="39822998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lang="zh-CN" altLang="en-US" sz="1200" dirty="0" smtClean="0">
                <a:solidFill>
                  <a:schemeClr val="tx1">
                    <a:lumMod val="95000"/>
                    <a:lumOff val="5000"/>
                  </a:schemeClr>
                </a:solidFill>
                <a:latin typeface="Arial" panose="020B0604020202020204" pitchFamily="34" charset="0"/>
                <a:ea typeface="+mn-ea"/>
                <a:cs typeface="Arial" panose="020B0604020202020204" pitchFamily="34" charset="0"/>
              </a:rPr>
              <a:t>发明目的：说明发明的动机。</a:t>
            </a:r>
            <a:r>
              <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rPr>
              <a:t>Description of the motivation</a:t>
            </a:r>
            <a:r>
              <a:rPr lang="en-US" altLang="zh-CN" sz="1200" baseline="0" dirty="0" smtClean="0">
                <a:solidFill>
                  <a:schemeClr val="tx1">
                    <a:lumMod val="95000"/>
                    <a:lumOff val="5000"/>
                  </a:schemeClr>
                </a:solidFill>
                <a:latin typeface="Arial" panose="020B0604020202020204" pitchFamily="34" charset="0"/>
                <a:ea typeface="+mn-ea"/>
                <a:cs typeface="Arial" panose="020B0604020202020204" pitchFamily="34" charset="0"/>
              </a:rPr>
              <a:t> of invention.</a:t>
            </a:r>
          </a:p>
          <a:p>
            <a:pPr marL="171450" marR="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lang="zh-CN" altLang="en-US" sz="1200" baseline="0" dirty="0" smtClean="0">
                <a:solidFill>
                  <a:schemeClr val="tx1">
                    <a:lumMod val="95000"/>
                    <a:lumOff val="5000"/>
                  </a:schemeClr>
                </a:solidFill>
                <a:latin typeface="Arial" panose="020B0604020202020204" pitchFamily="34" charset="0"/>
                <a:ea typeface="+mn-ea"/>
                <a:cs typeface="Arial" panose="020B0604020202020204" pitchFamily="34" charset="0"/>
              </a:rPr>
              <a:t>技术问题：说明与解决的技术问题，克服此技术问题的挑战是什么。</a:t>
            </a:r>
            <a:r>
              <a:rPr lang="en-US" altLang="zh-CN" sz="1200" baseline="0" dirty="0" smtClean="0">
                <a:solidFill>
                  <a:schemeClr val="tx1">
                    <a:lumMod val="95000"/>
                    <a:lumOff val="5000"/>
                  </a:schemeClr>
                </a:solidFill>
                <a:latin typeface="Arial" panose="020B0604020202020204" pitchFamily="34" charset="0"/>
                <a:ea typeface="+mn-ea"/>
                <a:cs typeface="Arial" panose="020B0604020202020204" pitchFamily="34" charset="0"/>
              </a:rPr>
              <a:t>Explain the technical problem and what’s the challenge to solve the issue.</a:t>
            </a:r>
          </a:p>
          <a:p>
            <a:endParaRPr lang="zh-CN" altLang="en-US" dirty="0"/>
          </a:p>
        </p:txBody>
      </p:sp>
      <p:sp>
        <p:nvSpPr>
          <p:cNvPr id="4" name="灯片编号占位符 3"/>
          <p:cNvSpPr>
            <a:spLocks noGrp="1"/>
          </p:cNvSpPr>
          <p:nvPr>
            <p:ph type="sldNum" sz="quarter" idx="10"/>
          </p:nvPr>
        </p:nvSpPr>
        <p:spPr/>
        <p:txBody>
          <a:bodyPr/>
          <a:lstStyle/>
          <a:p>
            <a:fld id="{00845B74-3AF8-437E-A446-1297CA166FFB}" type="slidenum">
              <a:rPr lang="zh-CN" altLang="en-US" smtClean="0"/>
              <a:t>6</a:t>
            </a:fld>
            <a:endParaRPr lang="zh-CN" altLang="en-US"/>
          </a:p>
        </p:txBody>
      </p:sp>
    </p:spTree>
    <p:extLst>
      <p:ext uri="{BB962C8B-B14F-4D97-AF65-F5344CB8AC3E}">
        <p14:creationId xmlns:p14="http://schemas.microsoft.com/office/powerpoint/2010/main" val="29768824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1200" baseline="0" dirty="0" smtClean="0">
                <a:solidFill>
                  <a:schemeClr val="tx1">
                    <a:lumMod val="95000"/>
                    <a:lumOff val="5000"/>
                  </a:schemeClr>
                </a:solidFill>
                <a:latin typeface="Arial" panose="020B0604020202020204" pitchFamily="34" charset="0"/>
                <a:ea typeface="+mn-ea"/>
                <a:cs typeface="Arial" panose="020B0604020202020204" pitchFamily="34" charset="0"/>
              </a:rPr>
              <a:t>技术方案：说明解决问题采取的技术方法，与先前技术的差异点。</a:t>
            </a:r>
            <a:r>
              <a:rPr lang="en-US" altLang="zh-CN" sz="1200" baseline="0" dirty="0" smtClean="0">
                <a:solidFill>
                  <a:schemeClr val="tx1">
                    <a:lumMod val="95000"/>
                    <a:lumOff val="5000"/>
                  </a:schemeClr>
                </a:solidFill>
                <a:latin typeface="Arial" panose="020B0604020202020204" pitchFamily="34" charset="0"/>
                <a:ea typeface="+mn-ea"/>
                <a:cs typeface="Arial" panose="020B0604020202020204" pitchFamily="34" charset="0"/>
              </a:rPr>
              <a:t>Explain the technical solution and the specific technology compared with prior art.</a:t>
            </a:r>
          </a:p>
          <a:p>
            <a:endParaRPr lang="zh-CN" altLang="en-US" dirty="0"/>
          </a:p>
        </p:txBody>
      </p:sp>
      <p:sp>
        <p:nvSpPr>
          <p:cNvPr id="4" name="灯片编号占位符 3"/>
          <p:cNvSpPr>
            <a:spLocks noGrp="1"/>
          </p:cNvSpPr>
          <p:nvPr>
            <p:ph type="sldNum" sz="quarter" idx="10"/>
          </p:nvPr>
        </p:nvSpPr>
        <p:spPr/>
        <p:txBody>
          <a:bodyPr/>
          <a:lstStyle/>
          <a:p>
            <a:fld id="{00845B74-3AF8-437E-A446-1297CA166FFB}" type="slidenum">
              <a:rPr lang="zh-CN" altLang="en-US" smtClean="0"/>
              <a:t>7</a:t>
            </a:fld>
            <a:endParaRPr lang="zh-CN" altLang="en-US"/>
          </a:p>
        </p:txBody>
      </p:sp>
    </p:spTree>
    <p:extLst>
      <p:ext uri="{BB962C8B-B14F-4D97-AF65-F5344CB8AC3E}">
        <p14:creationId xmlns:p14="http://schemas.microsoft.com/office/powerpoint/2010/main" val="31110119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1200" dirty="0" smtClean="0">
                <a:solidFill>
                  <a:schemeClr val="tx1">
                    <a:lumMod val="95000"/>
                    <a:lumOff val="5000"/>
                  </a:schemeClr>
                </a:solidFill>
                <a:latin typeface="Arial" panose="020B0604020202020204" pitchFamily="34" charset="0"/>
                <a:ea typeface="+mn-ea"/>
                <a:cs typeface="Arial" panose="020B0604020202020204" pitchFamily="34" charset="0"/>
              </a:rPr>
              <a:t>有益效果：发明带来的技术有益效果。</a:t>
            </a:r>
            <a:r>
              <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rPr>
              <a:t>Please describe the advantageous</a:t>
            </a:r>
            <a:r>
              <a:rPr lang="en-US" altLang="zh-CN" sz="1200" baseline="0" dirty="0" smtClean="0">
                <a:solidFill>
                  <a:schemeClr val="tx1">
                    <a:lumMod val="95000"/>
                    <a:lumOff val="5000"/>
                  </a:schemeClr>
                </a:solidFill>
                <a:latin typeface="Arial" panose="020B0604020202020204" pitchFamily="34" charset="0"/>
                <a:ea typeface="+mn-ea"/>
                <a:cs typeface="Arial" panose="020B0604020202020204" pitchFamily="34" charset="0"/>
              </a:rPr>
              <a:t> effects of the invention.</a:t>
            </a:r>
            <a:endPar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endParaRPr>
          </a:p>
          <a:p>
            <a:endParaRPr lang="zh-CN" altLang="en-US" dirty="0"/>
          </a:p>
        </p:txBody>
      </p:sp>
      <p:sp>
        <p:nvSpPr>
          <p:cNvPr id="4" name="灯片编号占位符 3"/>
          <p:cNvSpPr>
            <a:spLocks noGrp="1"/>
          </p:cNvSpPr>
          <p:nvPr>
            <p:ph type="sldNum" sz="quarter" idx="10"/>
          </p:nvPr>
        </p:nvSpPr>
        <p:spPr/>
        <p:txBody>
          <a:bodyPr/>
          <a:lstStyle/>
          <a:p>
            <a:fld id="{00845B74-3AF8-437E-A446-1297CA166FFB}" type="slidenum">
              <a:rPr lang="zh-CN" altLang="en-US" smtClean="0"/>
              <a:t>8</a:t>
            </a:fld>
            <a:endParaRPr lang="zh-CN" altLang="en-US"/>
          </a:p>
        </p:txBody>
      </p:sp>
    </p:spTree>
    <p:extLst>
      <p:ext uri="{BB962C8B-B14F-4D97-AF65-F5344CB8AC3E}">
        <p14:creationId xmlns:p14="http://schemas.microsoft.com/office/powerpoint/2010/main" val="14802088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smtClean="0">
                <a:latin typeface="Arial" panose="020B0604020202020204" pitchFamily="34" charset="0"/>
                <a:cs typeface="Arial" panose="020B0604020202020204" pitchFamily="34" charset="0"/>
              </a:rPr>
              <a:t>具体实施方式 </a:t>
            </a:r>
            <a:r>
              <a:rPr lang="en-US" altLang="zh-CN" sz="1200" dirty="0" smtClean="0">
                <a:latin typeface="Arial" panose="020B0604020202020204" pitchFamily="34" charset="0"/>
                <a:cs typeface="Arial" panose="020B0604020202020204" pitchFamily="34" charset="0"/>
              </a:rPr>
              <a:t>(Description of the embodiments)</a:t>
            </a:r>
          </a:p>
          <a:p>
            <a:pPr marL="171450" marR="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lang="zh-CN" altLang="en-US" sz="1200" dirty="0" smtClean="0">
                <a:solidFill>
                  <a:schemeClr val="tx1">
                    <a:lumMod val="95000"/>
                    <a:lumOff val="5000"/>
                  </a:schemeClr>
                </a:solidFill>
                <a:latin typeface="Arial" panose="020B0604020202020204" pitchFamily="34" charset="0"/>
                <a:ea typeface="+mn-ea"/>
                <a:cs typeface="Arial" panose="020B0604020202020204" pitchFamily="34" charset="0"/>
              </a:rPr>
              <a:t>包括揭露一个或多个最佳实施方式。</a:t>
            </a:r>
            <a:r>
              <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rPr>
              <a:t>Including disclosure of one or more best practices.</a:t>
            </a:r>
          </a:p>
          <a:p>
            <a:pPr marL="171450" marR="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lang="zh-CN" altLang="en-US" sz="1200" dirty="0" smtClean="0">
                <a:solidFill>
                  <a:schemeClr val="tx1">
                    <a:lumMod val="95000"/>
                    <a:lumOff val="5000"/>
                  </a:schemeClr>
                </a:solidFill>
                <a:latin typeface="Arial" panose="020B0604020202020204" pitchFamily="34" charset="0"/>
                <a:ea typeface="+mn-ea"/>
                <a:cs typeface="Arial" panose="020B0604020202020204" pitchFamily="34" charset="0"/>
              </a:rPr>
              <a:t>说明具体的实施步骤，必须有相应的技术参数、数据。</a:t>
            </a:r>
            <a:r>
              <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rPr>
              <a:t>Explain the detailed embodiments which have corresponding parameters or data. </a:t>
            </a:r>
          </a:p>
          <a:p>
            <a:pPr marL="171450" marR="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lang="zh-CN" altLang="en-US" sz="1200" dirty="0" smtClean="0">
                <a:solidFill>
                  <a:schemeClr val="tx1">
                    <a:lumMod val="95000"/>
                    <a:lumOff val="5000"/>
                  </a:schemeClr>
                </a:solidFill>
                <a:latin typeface="Arial" panose="020B0604020202020204" pitchFamily="34" charset="0"/>
                <a:ea typeface="+mn-ea"/>
                <a:cs typeface="Arial" panose="020B0604020202020204" pitchFamily="34" charset="0"/>
              </a:rPr>
              <a:t>具体实施方式的说明应对应到附图。</a:t>
            </a:r>
            <a:r>
              <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rPr>
              <a:t>The embodiments is corresponding to related features</a:t>
            </a:r>
            <a:r>
              <a:rPr lang="en-US" altLang="zh-CN" sz="1200" baseline="0" dirty="0" smtClean="0">
                <a:solidFill>
                  <a:schemeClr val="tx1">
                    <a:lumMod val="95000"/>
                    <a:lumOff val="5000"/>
                  </a:schemeClr>
                </a:solidFill>
                <a:latin typeface="Arial" panose="020B0604020202020204" pitchFamily="34" charset="0"/>
                <a:ea typeface="+mn-ea"/>
                <a:cs typeface="Arial" panose="020B0604020202020204" pitchFamily="34" charset="0"/>
              </a:rPr>
              <a:t> or drawings.</a:t>
            </a:r>
            <a:endPar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lang="zh-CN" altLang="en-US" sz="1200" dirty="0" smtClean="0">
                <a:solidFill>
                  <a:schemeClr val="tx1">
                    <a:lumMod val="95000"/>
                    <a:lumOff val="5000"/>
                  </a:schemeClr>
                </a:solidFill>
                <a:latin typeface="Arial" panose="020B0604020202020204" pitchFamily="34" charset="0"/>
                <a:ea typeface="+mn-ea"/>
                <a:cs typeface="Arial" panose="020B0604020202020204" pitchFamily="34" charset="0"/>
              </a:rPr>
              <a:t>每一张附图必须清楚说明内容，能提供充分的信息以理解附图中的技术。</a:t>
            </a:r>
            <a:r>
              <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rPr>
              <a:t>To give a clear description for each figures in order to give the sufficient technical information in the related figures</a:t>
            </a:r>
            <a:r>
              <a:rPr lang="en-US" altLang="zh-CN" sz="1200" baseline="0" dirty="0" smtClean="0">
                <a:solidFill>
                  <a:schemeClr val="tx1">
                    <a:lumMod val="95000"/>
                    <a:lumOff val="5000"/>
                  </a:schemeClr>
                </a:solidFill>
                <a:latin typeface="Arial" panose="020B0604020202020204" pitchFamily="34" charset="0"/>
                <a:ea typeface="+mn-ea"/>
                <a:cs typeface="Arial" panose="020B0604020202020204" pitchFamily="34" charset="0"/>
              </a:rPr>
              <a:t> or </a:t>
            </a:r>
            <a:r>
              <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rPr>
              <a:t>drawings.</a:t>
            </a:r>
          </a:p>
          <a:p>
            <a:pPr marL="171450" marR="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lang="zh-CN" altLang="en-US" sz="1200" dirty="0" smtClean="0">
                <a:solidFill>
                  <a:schemeClr val="tx1">
                    <a:lumMod val="95000"/>
                    <a:lumOff val="5000"/>
                  </a:schemeClr>
                </a:solidFill>
                <a:latin typeface="Arial" panose="020B0604020202020204" pitchFamily="34" charset="0"/>
                <a:ea typeface="+mn-ea"/>
                <a:cs typeface="Arial" panose="020B0604020202020204" pitchFamily="34" charset="0"/>
              </a:rPr>
              <a:t>专利法予以保护的是技术方案不是功能，因此需要给出实现某种功能的具体技术方案，不能仅仅阐述功能。本部分为专利最重要的部分，需要详细、清楚和完整描述全部的必要技术特征，使发明创造的技术内容充分公开，使本技术领域人员无需进行创造性劳动就能实现为最低要求。</a:t>
            </a:r>
            <a:r>
              <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rPr>
              <a:t>What the patent law protects is the technical solution, not the function. It is necessary to give a specific technical solution to solve a certain problem, rather than just only</a:t>
            </a:r>
            <a:r>
              <a:rPr lang="en-US" altLang="zh-CN" sz="1200" baseline="0" dirty="0" smtClean="0">
                <a:solidFill>
                  <a:schemeClr val="tx1">
                    <a:lumMod val="95000"/>
                    <a:lumOff val="5000"/>
                  </a:schemeClr>
                </a:solidFill>
                <a:latin typeface="Arial" panose="020B0604020202020204" pitchFamily="34" charset="0"/>
                <a:ea typeface="+mn-ea"/>
                <a:cs typeface="Arial" panose="020B0604020202020204" pitchFamily="34" charset="0"/>
              </a:rPr>
              <a:t> give the description of the desired </a:t>
            </a:r>
            <a:r>
              <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rPr>
              <a:t>function. This is the most important part of the patent, which needs to describe all necessary technical features in detail. The engineer who</a:t>
            </a:r>
            <a:r>
              <a:rPr lang="en-US" altLang="zh-CN" sz="1200" baseline="0" dirty="0" smtClean="0">
                <a:solidFill>
                  <a:schemeClr val="tx1">
                    <a:lumMod val="95000"/>
                    <a:lumOff val="5000"/>
                  </a:schemeClr>
                </a:solidFill>
                <a:latin typeface="Arial" panose="020B0604020202020204" pitchFamily="34" charset="0"/>
                <a:ea typeface="+mn-ea"/>
                <a:cs typeface="Arial" panose="020B0604020202020204" pitchFamily="34" charset="0"/>
              </a:rPr>
              <a:t> </a:t>
            </a:r>
            <a:r>
              <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rPr>
              <a:t>can reproduce the invention from the fully disclosure of the invention is the minimum requirements without extra creative effort.</a:t>
            </a:r>
          </a:p>
        </p:txBody>
      </p:sp>
      <p:sp>
        <p:nvSpPr>
          <p:cNvPr id="4" name="灯片编号占位符 3"/>
          <p:cNvSpPr>
            <a:spLocks noGrp="1"/>
          </p:cNvSpPr>
          <p:nvPr>
            <p:ph type="sldNum" sz="quarter" idx="10"/>
          </p:nvPr>
        </p:nvSpPr>
        <p:spPr/>
        <p:txBody>
          <a:bodyPr/>
          <a:lstStyle/>
          <a:p>
            <a:fld id="{00845B74-3AF8-437E-A446-1297CA166FFB}" type="slidenum">
              <a:rPr lang="zh-CN" altLang="en-US" smtClean="0"/>
              <a:t>9</a:t>
            </a:fld>
            <a:endParaRPr lang="zh-CN" altLang="en-US"/>
          </a:p>
        </p:txBody>
      </p:sp>
    </p:spTree>
    <p:extLst>
      <p:ext uri="{BB962C8B-B14F-4D97-AF65-F5344CB8AC3E}">
        <p14:creationId xmlns:p14="http://schemas.microsoft.com/office/powerpoint/2010/main" val="30398627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smtClean="0">
                <a:latin typeface="等线" panose="02010600030101010101" pitchFamily="2" charset="-122"/>
                <a:ea typeface="+mn-ea"/>
                <a:cs typeface="Arial" panose="020B0604020202020204" pitchFamily="34" charset="0"/>
              </a:rPr>
              <a:t>附图</a:t>
            </a:r>
            <a:r>
              <a:rPr lang="zh-TW" altLang="en-US" sz="1200" dirty="0" smtClean="0">
                <a:latin typeface="等线" panose="02010600030101010101" pitchFamily="2" charset="-122"/>
                <a:ea typeface="等线" panose="02010600030101010101" pitchFamily="2" charset="-122"/>
                <a:cs typeface="Arial" panose="020B0604020202020204" pitchFamily="34" charset="0"/>
              </a:rPr>
              <a:t>与</a:t>
            </a:r>
            <a:r>
              <a:rPr lang="zh-CN" altLang="en-US" sz="1200" dirty="0" smtClean="0">
                <a:latin typeface="等线" panose="02010600030101010101" pitchFamily="2" charset="-122"/>
                <a:ea typeface="+mn-ea"/>
                <a:cs typeface="Arial" panose="020B0604020202020204" pitchFamily="34" charset="0"/>
              </a:rPr>
              <a:t>说明</a:t>
            </a:r>
            <a:r>
              <a:rPr lang="en-US" altLang="zh-TW" sz="1200" dirty="0" smtClean="0">
                <a:latin typeface="Arial" panose="020B0604020202020204" pitchFamily="34" charset="0"/>
                <a:cs typeface="Arial" panose="020B0604020202020204" pitchFamily="34" charset="0"/>
              </a:rPr>
              <a:t> (Figures and description</a:t>
            </a:r>
            <a:r>
              <a:rPr lang="en-US" altLang="zh-CN" sz="1200" dirty="0" smtClean="0">
                <a:latin typeface="Arial" panose="020B0604020202020204" pitchFamily="34" charset="0"/>
                <a:cs typeface="Arial" panose="020B0604020202020204" pitchFamily="34" charset="0"/>
              </a:rPr>
              <a:t>)</a:t>
            </a:r>
          </a:p>
          <a:p>
            <a:pPr marL="171450" indent="-171450">
              <a:buFont typeface="Wingdings" panose="05000000000000000000" pitchFamily="2" charset="2"/>
              <a:buChar char="l"/>
            </a:pPr>
            <a:r>
              <a:rPr lang="zh-CN" altLang="en-US" sz="1200" dirty="0" smtClean="0">
                <a:latin typeface="Arial" panose="020B0604020202020204" pitchFamily="34" charset="0"/>
                <a:cs typeface="Arial" panose="020B0604020202020204" pitchFamily="34" charset="0"/>
              </a:rPr>
              <a:t>请将专利交底书中每一张图表编号，并附上图表的说明。</a:t>
            </a:r>
            <a:r>
              <a:rPr lang="en-US" altLang="zh-CN" sz="1200" dirty="0" smtClean="0">
                <a:latin typeface="Arial" panose="020B0604020202020204" pitchFamily="34" charset="0"/>
                <a:cs typeface="Arial" panose="020B0604020202020204" pitchFamily="34" charset="0"/>
              </a:rPr>
              <a:t>Please number each figure</a:t>
            </a:r>
            <a:r>
              <a:rPr lang="en-US" altLang="zh-CN" sz="1200" baseline="0" dirty="0" smtClean="0">
                <a:latin typeface="Arial" panose="020B0604020202020204" pitchFamily="34" charset="0"/>
                <a:cs typeface="Arial" panose="020B0604020202020204" pitchFamily="34" charset="0"/>
              </a:rPr>
              <a:t> or table and attach the description for them.</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00845B74-3AF8-437E-A446-1297CA166FFB}" type="slidenum">
              <a:rPr lang="zh-CN" altLang="en-US" smtClean="0"/>
              <a:t>10</a:t>
            </a:fld>
            <a:endParaRPr lang="zh-CN" altLang="en-US"/>
          </a:p>
        </p:txBody>
      </p:sp>
    </p:spTree>
    <p:extLst>
      <p:ext uri="{BB962C8B-B14F-4D97-AF65-F5344CB8AC3E}">
        <p14:creationId xmlns:p14="http://schemas.microsoft.com/office/powerpoint/2010/main" val="257617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smtClean="0">
                <a:latin typeface="Arial" panose="020B0604020202020204" pitchFamily="34" charset="0"/>
                <a:cs typeface="Arial" panose="020B0604020202020204" pitchFamily="34" charset="0"/>
              </a:rPr>
              <a:t>缩略语 </a:t>
            </a:r>
            <a:r>
              <a:rPr lang="en-US" altLang="zh-CN" sz="1200" dirty="0" smtClean="0">
                <a:latin typeface="Arial" panose="020B0604020202020204" pitchFamily="34" charset="0"/>
                <a:cs typeface="Arial" panose="020B0604020202020204" pitchFamily="34" charset="0"/>
              </a:rPr>
              <a:t>(Description of the abbreviation)</a:t>
            </a:r>
          </a:p>
          <a:p>
            <a:pPr marL="171450" marR="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lang="zh-CN" altLang="en-US" sz="1200" dirty="0" smtClean="0">
                <a:solidFill>
                  <a:schemeClr val="tx1">
                    <a:lumMod val="95000"/>
                    <a:lumOff val="5000"/>
                  </a:schemeClr>
                </a:solidFill>
                <a:latin typeface="Arial" panose="020B0604020202020204" pitchFamily="34" charset="0"/>
                <a:ea typeface="+mn-ea"/>
                <a:cs typeface="Arial" panose="020B0604020202020204" pitchFamily="34" charset="0"/>
              </a:rPr>
              <a:t>英文缩写，请在这一部分写清楚对应的中文和英文全称。</a:t>
            </a:r>
            <a:r>
              <a:rPr lang="en-US" altLang="zh-CN" sz="1200" dirty="0" smtClean="0">
                <a:solidFill>
                  <a:schemeClr val="tx1">
                    <a:lumMod val="95000"/>
                    <a:lumOff val="5000"/>
                  </a:schemeClr>
                </a:solidFill>
                <a:latin typeface="Arial" panose="020B0604020202020204" pitchFamily="34" charset="0"/>
                <a:ea typeface="+mn-ea"/>
                <a:cs typeface="Arial" panose="020B0604020202020204" pitchFamily="34" charset="0"/>
              </a:rPr>
              <a:t>Please clearly write the abbreviation of corresponding Chinese and English full name in this part.</a:t>
            </a:r>
          </a:p>
        </p:txBody>
      </p:sp>
      <p:sp>
        <p:nvSpPr>
          <p:cNvPr id="4" name="灯片编号占位符 3"/>
          <p:cNvSpPr>
            <a:spLocks noGrp="1"/>
          </p:cNvSpPr>
          <p:nvPr>
            <p:ph type="sldNum" sz="quarter" idx="10"/>
          </p:nvPr>
        </p:nvSpPr>
        <p:spPr/>
        <p:txBody>
          <a:bodyPr/>
          <a:lstStyle/>
          <a:p>
            <a:fld id="{00845B74-3AF8-437E-A446-1297CA166FFB}" type="slidenum">
              <a:rPr lang="zh-CN" altLang="en-US" smtClean="0"/>
              <a:t>11</a:t>
            </a:fld>
            <a:endParaRPr lang="zh-CN" altLang="en-US"/>
          </a:p>
        </p:txBody>
      </p:sp>
    </p:spTree>
    <p:extLst>
      <p:ext uri="{BB962C8B-B14F-4D97-AF65-F5344CB8AC3E}">
        <p14:creationId xmlns:p14="http://schemas.microsoft.com/office/powerpoint/2010/main" val="34105652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38DB3825-213E-4545-9F8B-F7911DF526BC}" type="datetimeFigureOut">
              <a:rPr kumimoji="1" lang="zh-CN" altLang="en-US" smtClean="0"/>
              <a:t>2025/5/19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4085C35A-A984-384D-9063-286D40D760B5}" type="slidenum">
              <a:rPr kumimoji="1" lang="zh-CN" altLang="en-US" smtClean="0"/>
              <a:t>‹#›</a:t>
            </a:fld>
            <a:endParaRPr kumimoji="1"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38DB3825-213E-4545-9F8B-F7911DF526BC}" type="datetimeFigureOut">
              <a:rPr kumimoji="1" lang="zh-CN" altLang="en-US" smtClean="0"/>
              <a:t>2025/5/19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4085C35A-A984-384D-9063-286D40D760B5}" type="slidenum">
              <a:rPr kumimoji="1" lang="zh-CN" altLang="en-US" smtClean="0"/>
              <a:t>‹#›</a:t>
            </a:fld>
            <a:endParaRPr kumimoji="1"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38DB3825-213E-4545-9F8B-F7911DF526BC}" type="datetimeFigureOut">
              <a:rPr kumimoji="1" lang="zh-CN" altLang="en-US" smtClean="0"/>
              <a:t>2025/5/19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4085C35A-A984-384D-9063-286D40D760B5}" type="slidenum">
              <a:rPr kumimoji="1" lang="zh-CN" altLang="en-US" smtClean="0"/>
              <a:t>‹#›</a:t>
            </a:fld>
            <a:endParaRPr kumimoji="1"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fld id="{38DB3825-213E-4545-9F8B-F7911DF526BC}" type="datetimeFigureOut">
              <a:rPr kumimoji="1" lang="zh-CN" altLang="en-US" smtClean="0"/>
              <a:t>2025/5/19</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4085C35A-A984-384D-9063-286D40D760B5}" type="slidenum">
              <a:rPr kumimoji="1" lang="zh-CN" altLang="en-US" smtClean="0"/>
              <a:t>‹#›</a:t>
            </a:fld>
            <a:endParaRPr kumimoji="1"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38DB3825-213E-4545-9F8B-F7911DF526BC}" type="datetimeFigureOut">
              <a:rPr kumimoji="1" lang="zh-CN" altLang="en-US" smtClean="0"/>
              <a:t>2025/5/19</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4085C35A-A984-384D-9063-286D40D760B5}" type="slidenum">
              <a:rPr kumimoji="1" lang="zh-CN" altLang="en-US" smtClean="0"/>
              <a:t>‹#›</a:t>
            </a:fld>
            <a:endParaRPr kumimoji="1"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38DB3825-213E-4545-9F8B-F7911DF526BC}" type="datetimeFigureOut">
              <a:rPr kumimoji="1" lang="zh-CN" altLang="en-US" smtClean="0"/>
              <a:t>2025/5/19</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4085C35A-A984-384D-9063-286D40D760B5}" type="slidenum">
              <a:rPr kumimoji="1" lang="zh-CN" altLang="en-US" smtClean="0"/>
              <a:t>‹#›</a:t>
            </a:fld>
            <a:endParaRPr kumimoji="1"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8DB3825-213E-4545-9F8B-F7911DF526BC}" type="datetimeFigureOut">
              <a:rPr kumimoji="1" lang="zh-CN" altLang="en-US" smtClean="0"/>
              <a:t>2025/5/19</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4085C35A-A984-384D-9063-286D40D760B5}" type="slidenum">
              <a:rPr kumimoji="1" lang="zh-CN" altLang="en-US" smtClean="0"/>
              <a:t>‹#›</a:t>
            </a:fld>
            <a:endParaRPr kumimoji="1"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38DB3825-213E-4545-9F8B-F7911DF526BC}" type="datetimeFigureOut">
              <a:rPr kumimoji="1" lang="zh-CN" altLang="en-US" smtClean="0"/>
              <a:t>2025/5/19</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4085C35A-A984-384D-9063-286D40D760B5}" type="slidenum">
              <a:rPr kumimoji="1" lang="zh-CN" altLang="en-US" smtClean="0"/>
              <a:t>‹#›</a:t>
            </a:fld>
            <a:endParaRPr kumimoji="1"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38DB3825-213E-4545-9F8B-F7911DF526BC}" type="datetimeFigureOut">
              <a:rPr kumimoji="1" lang="zh-CN" altLang="en-US" smtClean="0"/>
              <a:t>2025/5/19</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4085C35A-A984-384D-9063-286D40D760B5}" type="slidenum">
              <a:rPr kumimoji="1" lang="zh-CN" altLang="en-US" smtClean="0"/>
              <a:t>‹#›</a:t>
            </a:fld>
            <a:endParaRPr kumimoji="1"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38DB3825-213E-4545-9F8B-F7911DF526BC}" type="datetimeFigureOut">
              <a:rPr kumimoji="1" lang="zh-CN" altLang="en-US" smtClean="0"/>
              <a:t>2025/5/19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4085C35A-A984-384D-9063-286D40D760B5}" type="slidenum">
              <a:rPr kumimoji="1" lang="zh-CN" altLang="en-US" smtClean="0"/>
              <a:t>‹#›</a:t>
            </a:fld>
            <a:endParaRPr kumimoji="1"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38DB3825-213E-4545-9F8B-F7911DF526BC}" type="datetimeFigureOut">
              <a:rPr kumimoji="1" lang="zh-CN" altLang="en-US" smtClean="0"/>
              <a:t>2025/5/19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4085C35A-A984-384D-9063-286D40D760B5}" type="slidenum">
              <a:rPr kumimoji="1" lang="zh-CN" altLang="en-US" smtClean="0"/>
              <a:t>‹#›</a:t>
            </a:fld>
            <a:endParaRPr kumimoji="1"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6214293" y="1618931"/>
            <a:ext cx="4818648" cy="1864586"/>
          </a:xfrm>
          <a:custGeom>
            <a:avLst/>
            <a:gdLst>
              <a:gd name="connsiteX0" fmla="*/ 0 w 9674941"/>
              <a:gd name="connsiteY0" fmla="*/ 0 h 3719244"/>
              <a:gd name="connsiteX1" fmla="*/ 9674941 w 9674941"/>
              <a:gd name="connsiteY1" fmla="*/ 0 h 3719244"/>
              <a:gd name="connsiteX2" fmla="*/ 9674941 w 9674941"/>
              <a:gd name="connsiteY2" fmla="*/ 3719244 h 3719244"/>
              <a:gd name="connsiteX3" fmla="*/ 0 w 9674941"/>
              <a:gd name="connsiteY3" fmla="*/ 3719244 h 3719244"/>
            </a:gdLst>
            <a:ahLst/>
            <a:cxnLst>
              <a:cxn ang="0">
                <a:pos x="connsiteX0" y="connsiteY0"/>
              </a:cxn>
              <a:cxn ang="0">
                <a:pos x="connsiteX1" y="connsiteY1"/>
              </a:cxn>
              <a:cxn ang="0">
                <a:pos x="connsiteX2" y="connsiteY2"/>
              </a:cxn>
              <a:cxn ang="0">
                <a:pos x="connsiteX3" y="connsiteY3"/>
              </a:cxn>
            </a:cxnLst>
            <a:rect l="l" t="t" r="r" b="b"/>
            <a:pathLst>
              <a:path w="9674941" h="3719244">
                <a:moveTo>
                  <a:pt x="0" y="0"/>
                </a:moveTo>
                <a:lnTo>
                  <a:pt x="9674941" y="0"/>
                </a:lnTo>
                <a:lnTo>
                  <a:pt x="9674941" y="3719244"/>
                </a:lnTo>
                <a:lnTo>
                  <a:pt x="0" y="3719244"/>
                </a:lnTo>
                <a:close/>
              </a:path>
            </a:pathLst>
          </a:custGeom>
        </p:spPr>
        <p:txBody>
          <a:bodyPr rtlCol="0">
            <a:noAutofit/>
          </a:bodyPr>
          <a:lstStyle/>
          <a:p>
            <a:pPr lvl="0"/>
            <a:endParaRPr lang="en-ID" noProof="0"/>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par>
    </p:tnLst>
  </p:timing>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DB3825-213E-4545-9F8B-F7911DF526BC}" type="datetimeFigureOut">
              <a:rPr kumimoji="1" lang="zh-CN" altLang="en-US" smtClean="0"/>
              <a:t>2025/5/19</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85C35A-A984-384D-9063-286D40D760B5}"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0885" y="564515"/>
            <a:ext cx="1157605" cy="308610"/>
          </a:xfrm>
          <a:prstGeom prst="rect">
            <a:avLst/>
          </a:prstGeom>
        </p:spPr>
      </p:pic>
      <p:sp>
        <p:nvSpPr>
          <p:cNvPr id="22" name="TextBox 17"/>
          <p:cNvSpPr txBox="1">
            <a:spLocks noChangeArrowheads="1"/>
          </p:cNvSpPr>
          <p:nvPr/>
        </p:nvSpPr>
        <p:spPr bwMode="auto">
          <a:xfrm>
            <a:off x="608965" y="2411095"/>
            <a:ext cx="10999102"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l">
              <a:defRPr/>
            </a:pPr>
            <a:r>
              <a:rPr lang="zh-CN" altLang="en-US" sz="4800" b="1" dirty="0" smtClean="0">
                <a:solidFill>
                  <a:schemeClr val="bg1"/>
                </a:solidFill>
                <a:effectLst/>
                <a:latin typeface="思源黑体 CN Bold" panose="020B0800000000000000" charset="-122"/>
                <a:ea typeface="思源黑体 CN Bold" panose="020B0800000000000000" charset="-122"/>
                <a:cs typeface="思源黑体 CN Bold" panose="020B0800000000000000" charset="-122"/>
              </a:rPr>
              <a:t>主标题</a:t>
            </a:r>
            <a:endParaRPr lang="en-US" altLang="zh-CN" sz="4800" b="1" dirty="0" smtClean="0">
              <a:solidFill>
                <a:schemeClr val="bg1"/>
              </a:solidFill>
              <a:effectLst/>
              <a:latin typeface="思源黑体 CN Bold" panose="020B0800000000000000" charset="-122"/>
              <a:ea typeface="思源黑体 CN Bold" panose="020B0800000000000000" charset="-122"/>
              <a:cs typeface="思源黑体 CN Bold" panose="020B0800000000000000" charset="-122"/>
            </a:endParaRPr>
          </a:p>
          <a:p>
            <a:pPr>
              <a:defRPr/>
            </a:pPr>
            <a:r>
              <a:rPr lang="en-US" altLang="zh-CN" sz="3200" b="1" dirty="0" smtClean="0">
                <a:solidFill>
                  <a:schemeClr val="bg1"/>
                </a:solidFill>
                <a:latin typeface="思源黑体 CN Bold" panose="020B0800000000000000" charset="-122"/>
                <a:ea typeface="思源黑体 CN Bold" panose="020B0800000000000000" charset="-122"/>
                <a:cs typeface="思源黑体 CN Bold" panose="020B0800000000000000" charset="-122"/>
              </a:rPr>
              <a:t>Title</a:t>
            </a:r>
            <a:endParaRPr lang="zh-CN" altLang="en-US" sz="3200" b="1" dirty="0">
              <a:solidFill>
                <a:schemeClr val="bg1"/>
              </a:solidFill>
              <a:latin typeface="思源黑体 CN Bold" panose="020B0800000000000000" charset="-122"/>
              <a:ea typeface="思源黑体 CN Bold" panose="020B0800000000000000" charset="-122"/>
              <a:cs typeface="思源黑体 CN Bold" panose="020B0800000000000000" charset="-122"/>
            </a:endParaRPr>
          </a:p>
        </p:txBody>
      </p:sp>
      <p:cxnSp>
        <p:nvCxnSpPr>
          <p:cNvPr id="2" name="直接连接符 1"/>
          <p:cNvCxnSpPr/>
          <p:nvPr/>
        </p:nvCxnSpPr>
        <p:spPr>
          <a:xfrm>
            <a:off x="730885" y="6019800"/>
            <a:ext cx="5215255" cy="0"/>
          </a:xfrm>
          <a:prstGeom prst="line">
            <a:avLst/>
          </a:prstGeom>
          <a:ln w="12700" cmpd="sng">
            <a:solidFill>
              <a:srgbClr val="FFFFFF"/>
            </a:solidFill>
            <a:prstDash val="solid"/>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30885" y="5609590"/>
            <a:ext cx="8028104" cy="369332"/>
          </a:xfrm>
          <a:prstGeom prst="rect">
            <a:avLst/>
          </a:prstGeom>
          <a:noFill/>
        </p:spPr>
        <p:txBody>
          <a:bodyPr wrap="square" rtlCol="0" anchor="t">
            <a:spAutoFit/>
          </a:bodyPr>
          <a:lstStyle/>
          <a:p>
            <a:pPr algn="l">
              <a:defRPr/>
            </a:pPr>
            <a:r>
              <a:rPr lang="en-US" altLang="zh-CN" dirty="0" smtClean="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ea"/>
              </a:rPr>
              <a:t>Date</a:t>
            </a:r>
            <a:r>
              <a:rPr lang="en-US" altLang="zh-CN" dirty="0" smtClean="0">
                <a:solidFill>
                  <a:schemeClr val="bg1"/>
                </a:solidFill>
                <a:effectLst/>
                <a:latin typeface="思源黑体 CN Regular" panose="020B0500000000000000" charset="-122"/>
                <a:ea typeface="思源黑体 CN Regular" panose="020B0500000000000000" charset="-122"/>
                <a:cs typeface="思源黑体 CN Regular" panose="020B0500000000000000" charset="-122"/>
                <a:sym typeface="+mn-ea"/>
              </a:rPr>
              <a:t> </a:t>
            </a:r>
            <a:r>
              <a:rPr lang="en-US" altLang="zh-CN" dirty="0" smtClean="0">
                <a:solidFill>
                  <a:schemeClr val="bg1"/>
                </a:solidFill>
                <a:effectLst/>
                <a:latin typeface="思源黑体 CN Regular" panose="020B0500000000000000" charset="-122"/>
                <a:ea typeface="思源黑体 CN Regular" panose="020B0500000000000000" charset="-122"/>
                <a:cs typeface="思源黑体 CN Regular" panose="020B0500000000000000" charset="-122"/>
                <a:sym typeface="+mn-ea"/>
              </a:rPr>
              <a:t>: </a:t>
            </a:r>
            <a:r>
              <a:rPr lang="en-US" altLang="zh-CN" dirty="0" err="1" smtClean="0">
                <a:solidFill>
                  <a:schemeClr val="bg1"/>
                </a:solidFill>
                <a:effectLst/>
                <a:latin typeface="思源黑体 CN Regular" panose="020B0500000000000000" charset="-122"/>
                <a:ea typeface="思源黑体 CN Regular" panose="020B0500000000000000" charset="-122"/>
                <a:cs typeface="思源黑体 CN Regular" panose="020B0500000000000000" charset="-122"/>
                <a:sym typeface="+mn-ea"/>
              </a:rPr>
              <a:t>yyyy</a:t>
            </a:r>
            <a:r>
              <a:rPr lang="en-US" altLang="zh-CN" dirty="0" smtClean="0">
                <a:solidFill>
                  <a:schemeClr val="bg1"/>
                </a:solidFill>
                <a:effectLst/>
                <a:latin typeface="思源黑体 CN Regular" panose="020B0500000000000000" charset="-122"/>
                <a:ea typeface="思源黑体 CN Regular" panose="020B0500000000000000" charset="-122"/>
                <a:cs typeface="思源黑体 CN Regular" panose="020B0500000000000000" charset="-122"/>
                <a:sym typeface="+mn-ea"/>
              </a:rPr>
              <a:t>/mm/</a:t>
            </a:r>
            <a:r>
              <a:rPr lang="en-US" altLang="zh-CN" dirty="0" err="1" smtClean="0">
                <a:solidFill>
                  <a:schemeClr val="bg1"/>
                </a:solidFill>
                <a:effectLst/>
                <a:latin typeface="思源黑体 CN Regular" panose="020B0500000000000000" charset="-122"/>
                <a:ea typeface="思源黑体 CN Regular" panose="020B0500000000000000" charset="-122"/>
                <a:cs typeface="思源黑体 CN Regular" panose="020B0500000000000000" charset="-122"/>
                <a:sym typeface="+mn-ea"/>
              </a:rPr>
              <a:t>dd</a:t>
            </a:r>
            <a:endParaRPr lang="en-US" altLang="zh-CN" dirty="0" smtClean="0">
              <a:solidFill>
                <a:schemeClr val="bg1"/>
              </a:solidFill>
              <a:effectLst/>
              <a:latin typeface="思源黑体 CN Regular" panose="020B0500000000000000" charset="-122"/>
              <a:ea typeface="思源黑体 CN Regular" panose="020B0500000000000000" charset="-122"/>
              <a:cs typeface="思源黑体 CN Regular" panose="020B0500000000000000" charset="-122"/>
              <a:sym typeface="+mn-e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灯片编号占位符 22"/>
          <p:cNvSpPr>
            <a:spLocks noGrp="1"/>
          </p:cNvSpPr>
          <p:nvPr>
            <p:ph type="sldNum" sz="quarter" idx="12"/>
          </p:nvPr>
        </p:nvSpPr>
        <p:spPr>
          <a:xfrm>
            <a:off x="9295765" y="6406515"/>
            <a:ext cx="2743200" cy="365125"/>
          </a:xfrm>
        </p:spPr>
        <p:txBody>
          <a:bodyPr/>
          <a:lstStyle/>
          <a:p>
            <a:fld id="{4085C35A-A984-384D-9063-286D40D760B5}" type="slidenum">
              <a:rPr kumimoji="1" lang="zh-CN" altLang="en-US" smtClean="0"/>
              <a:t>2</a:t>
            </a:fld>
            <a:endParaRPr kumimoji="1" lang="zh-CN" altLang="en-US" dirty="0"/>
          </a:p>
        </p:txBody>
      </p:sp>
      <p:pic>
        <p:nvPicPr>
          <p:cNvPr id="15" name="图片 14" descr="777"/>
          <p:cNvPicPr>
            <a:picLocks noChangeAspect="1"/>
          </p:cNvPicPr>
          <p:nvPr/>
        </p:nvPicPr>
        <p:blipFill>
          <a:blip r:embed="rId3"/>
          <a:stretch>
            <a:fillRect/>
          </a:stretch>
        </p:blipFill>
        <p:spPr>
          <a:xfrm>
            <a:off x="11775440" y="6451600"/>
            <a:ext cx="266065" cy="269875"/>
          </a:xfrm>
          <a:prstGeom prst="rect">
            <a:avLst/>
          </a:prstGeom>
        </p:spPr>
      </p:pic>
      <p:sp>
        <p:nvSpPr>
          <p:cNvPr id="13" name="文本框 12"/>
          <p:cNvSpPr txBox="1"/>
          <p:nvPr/>
        </p:nvSpPr>
        <p:spPr>
          <a:xfrm>
            <a:off x="4593820" y="520472"/>
            <a:ext cx="3010930" cy="464690"/>
          </a:xfrm>
          <a:prstGeom prst="rect">
            <a:avLst/>
          </a:prstGeom>
          <a:noFill/>
        </p:spPr>
        <p:txBody>
          <a:bodyPr wrap="square" rtlCol="0">
            <a:spAutoFit/>
          </a:bodyPr>
          <a:lstStyle/>
          <a:p>
            <a:pPr eaLnBrk="0" fontAlgn="base" hangingPunct="0">
              <a:spcBef>
                <a:spcPct val="0"/>
              </a:spcBef>
              <a:spcAft>
                <a:spcPct val="0"/>
              </a:spcAft>
            </a:pPr>
            <a:r>
              <a:rPr lang="zh-CN" altLang="en-US" sz="2400" dirty="0" smtClean="0">
                <a:solidFill>
                  <a:prstClr val="black"/>
                </a:solidFill>
                <a:latin typeface="Arial" panose="020B0604020202020204" pitchFamily="34" charset="0"/>
                <a:ea typeface="宋体" panose="02010600030101010101" pitchFamily="2" charset="-122"/>
                <a:cs typeface="Arial" panose="020B0604020202020204" pitchFamily="34" charset="0"/>
              </a:rPr>
              <a:t>声明 </a:t>
            </a:r>
            <a:r>
              <a:rPr lang="en-US" altLang="zh-CN" sz="2400" dirty="0" smtClean="0">
                <a:solidFill>
                  <a:prstClr val="black"/>
                </a:solidFill>
                <a:latin typeface="Arial" panose="020B0604020202020204" pitchFamily="34" charset="0"/>
                <a:ea typeface="宋体" panose="02010600030101010101" pitchFamily="2" charset="-122"/>
                <a:cs typeface="Arial" panose="020B0604020202020204" pitchFamily="34" charset="0"/>
              </a:rPr>
              <a:t>(</a:t>
            </a:r>
            <a:r>
              <a:rPr lang="en-US" altLang="zh-CN" sz="2400" dirty="0">
                <a:solidFill>
                  <a:prstClr val="black"/>
                </a:solidFill>
                <a:latin typeface="Arial" panose="020B0604020202020204" pitchFamily="34" charset="0"/>
                <a:ea typeface="宋体" panose="02010600030101010101" pitchFamily="2" charset="-122"/>
                <a:cs typeface="Arial" panose="020B0604020202020204" pitchFamily="34" charset="0"/>
              </a:rPr>
              <a:t>D</a:t>
            </a:r>
            <a:r>
              <a:rPr lang="en-US" altLang="zh-CN" sz="2400" dirty="0" smtClean="0">
                <a:solidFill>
                  <a:prstClr val="black"/>
                </a:solidFill>
                <a:latin typeface="Arial" panose="020B0604020202020204" pitchFamily="34" charset="0"/>
                <a:ea typeface="宋体" panose="02010600030101010101" pitchFamily="2" charset="-122"/>
                <a:cs typeface="Arial" panose="020B0604020202020204" pitchFamily="34" charset="0"/>
              </a:rPr>
              <a:t>eclaration)</a:t>
            </a:r>
            <a:endParaRPr lang="zh-CN" altLang="en-US" sz="2400" dirty="0">
              <a:solidFill>
                <a:prstClr val="black"/>
              </a:solidFill>
              <a:latin typeface="Arial" panose="020B0604020202020204" pitchFamily="34" charset="0"/>
              <a:ea typeface="宋体" panose="02010600030101010101" pitchFamily="2" charset="-122"/>
              <a:cs typeface="Arial" panose="020B0604020202020204" pitchFamily="34" charset="0"/>
            </a:endParaRPr>
          </a:p>
        </p:txBody>
      </p:sp>
      <p:sp>
        <p:nvSpPr>
          <p:cNvPr id="17" name="文本框 16"/>
          <p:cNvSpPr txBox="1"/>
          <p:nvPr/>
        </p:nvSpPr>
        <p:spPr>
          <a:xfrm>
            <a:off x="742631" y="1214015"/>
            <a:ext cx="10713307" cy="4616648"/>
          </a:xfrm>
          <a:prstGeom prst="rect">
            <a:avLst/>
          </a:prstGeom>
          <a:noFill/>
        </p:spPr>
        <p:txBody>
          <a:bodyPr wrap="square" rtlCol="0">
            <a:spAutoFit/>
          </a:bodyPr>
          <a:lstStyle/>
          <a:p>
            <a:pPr algn="just" eaLnBrk="0" fontAlgn="base" hangingPunct="0">
              <a:spcBef>
                <a:spcPct val="0"/>
              </a:spcBef>
              <a:spcAft>
                <a:spcPct val="0"/>
              </a:spcAft>
            </a:pPr>
            <a:r>
              <a:rPr lang="zh-CN" altLang="en-US" sz="1400" dirty="0">
                <a:solidFill>
                  <a:prstClr val="black"/>
                </a:solidFill>
                <a:cs typeface="Arial" panose="020B0604020202020204" pitchFamily="34" charset="0"/>
              </a:rPr>
              <a:t>在专利申请公布或公告前，本公司专利工作人员及其他有关人员对其技术交底书内容负有保密的责任</a:t>
            </a:r>
            <a:r>
              <a:rPr lang="zh-CN" altLang="en-US" sz="1400" dirty="0" smtClean="0">
                <a:solidFill>
                  <a:prstClr val="black"/>
                </a:solidFill>
                <a:cs typeface="Arial" panose="020B0604020202020204" pitchFamily="34" charset="0"/>
              </a:rPr>
              <a:t>。</a:t>
            </a:r>
            <a:endParaRPr lang="en-US" altLang="zh-CN" sz="1400" dirty="0" smtClean="0">
              <a:solidFill>
                <a:prstClr val="black"/>
              </a:solidFill>
              <a:cs typeface="Arial" panose="020B0604020202020204" pitchFamily="34" charset="0"/>
            </a:endParaRPr>
          </a:p>
          <a:p>
            <a:pPr algn="just" eaLnBrk="0" fontAlgn="base" hangingPunct="0">
              <a:spcBef>
                <a:spcPct val="0"/>
              </a:spcBef>
              <a:spcAft>
                <a:spcPct val="0"/>
              </a:spcAft>
            </a:pPr>
            <a:r>
              <a:rPr lang="en-US" altLang="zh-CN" sz="1400" dirty="0">
                <a:solidFill>
                  <a:prstClr val="black"/>
                </a:solidFill>
                <a:cs typeface="Arial" panose="020B0604020202020204" pitchFamily="34" charset="0"/>
              </a:rPr>
              <a:t>Before the patent application is published or announced, the patent staff and other relevant personnel </a:t>
            </a:r>
            <a:r>
              <a:rPr lang="en-US" altLang="zh-CN" sz="1400" dirty="0" smtClean="0">
                <a:solidFill>
                  <a:prstClr val="black"/>
                </a:solidFill>
                <a:cs typeface="Arial" panose="020B0604020202020204" pitchFamily="34" charset="0"/>
              </a:rPr>
              <a:t>in </a:t>
            </a:r>
            <a:r>
              <a:rPr lang="en-US" altLang="zh-CN" sz="1400" dirty="0">
                <a:solidFill>
                  <a:prstClr val="black"/>
                </a:solidFill>
                <a:cs typeface="Arial" panose="020B0604020202020204" pitchFamily="34" charset="0"/>
              </a:rPr>
              <a:t>the company shall have the responsibility to keep confidential the contents of the technical </a:t>
            </a:r>
            <a:r>
              <a:rPr lang="en-US" altLang="zh-CN" sz="1400" dirty="0" smtClean="0">
                <a:solidFill>
                  <a:prstClr val="black"/>
                </a:solidFill>
                <a:cs typeface="Arial" panose="020B0604020202020204" pitchFamily="34" charset="0"/>
              </a:rPr>
              <a:t>disclosure.</a:t>
            </a:r>
          </a:p>
          <a:p>
            <a:pPr algn="just" eaLnBrk="0" fontAlgn="base" hangingPunct="0">
              <a:spcBef>
                <a:spcPct val="0"/>
              </a:spcBef>
              <a:spcAft>
                <a:spcPct val="0"/>
              </a:spcAft>
            </a:pPr>
            <a:endParaRPr lang="zh-CN" altLang="en-US" sz="1400" dirty="0">
              <a:solidFill>
                <a:prstClr val="black"/>
              </a:solidFill>
              <a:cs typeface="Arial" panose="020B0604020202020204" pitchFamily="34" charset="0"/>
            </a:endParaRPr>
          </a:p>
          <a:p>
            <a:pPr algn="just" eaLnBrk="0" fontAlgn="base" hangingPunct="0">
              <a:spcBef>
                <a:spcPct val="0"/>
              </a:spcBef>
              <a:spcAft>
                <a:spcPct val="0"/>
              </a:spcAft>
            </a:pPr>
            <a:r>
              <a:rPr lang="zh-CN" altLang="en-US" sz="1400" dirty="0">
                <a:solidFill>
                  <a:prstClr val="black"/>
                </a:solidFill>
                <a:cs typeface="Arial" panose="020B0604020202020204" pitchFamily="34" charset="0"/>
              </a:rPr>
              <a:t>各业务角色在提案提交、评审、专利盘点任何环节接触到的提案、专利相关信息，均负有保密义务，不得提供给业务不相关同事，更不得泄漏到公司外部</a:t>
            </a:r>
            <a:r>
              <a:rPr lang="zh-CN" altLang="en-US" sz="1400" dirty="0" smtClean="0">
                <a:solidFill>
                  <a:prstClr val="black"/>
                </a:solidFill>
                <a:cs typeface="Arial" panose="020B0604020202020204" pitchFamily="34" charset="0"/>
              </a:rPr>
              <a:t>。</a:t>
            </a:r>
            <a:endParaRPr lang="en-US" altLang="zh-CN" sz="1400" dirty="0" smtClean="0">
              <a:solidFill>
                <a:prstClr val="black"/>
              </a:solidFill>
              <a:cs typeface="Arial" panose="020B0604020202020204" pitchFamily="34" charset="0"/>
            </a:endParaRPr>
          </a:p>
          <a:p>
            <a:pPr algn="just" eaLnBrk="0" fontAlgn="base" hangingPunct="0">
              <a:spcBef>
                <a:spcPct val="0"/>
              </a:spcBef>
              <a:spcAft>
                <a:spcPct val="0"/>
              </a:spcAft>
            </a:pPr>
            <a:r>
              <a:rPr lang="en-US" altLang="zh-CN" sz="1400" dirty="0">
                <a:solidFill>
                  <a:prstClr val="black"/>
                </a:solidFill>
                <a:cs typeface="Arial" panose="020B0604020202020204" pitchFamily="34" charset="0"/>
              </a:rPr>
              <a:t>All business roles shall have the obligation to keep confidential </a:t>
            </a:r>
            <a:r>
              <a:rPr lang="en-US" altLang="zh-CN" sz="1400" dirty="0" smtClean="0">
                <a:solidFill>
                  <a:prstClr val="black"/>
                </a:solidFill>
                <a:cs typeface="Arial" panose="020B0604020202020204" pitchFamily="34" charset="0"/>
              </a:rPr>
              <a:t>while patents submission, review and inventory. Any personnel who contacts </a:t>
            </a:r>
            <a:r>
              <a:rPr lang="en-US" altLang="zh-CN" sz="1400" dirty="0">
                <a:solidFill>
                  <a:prstClr val="black"/>
                </a:solidFill>
                <a:cs typeface="Arial" panose="020B0604020202020204" pitchFamily="34" charset="0"/>
              </a:rPr>
              <a:t>with </a:t>
            </a:r>
            <a:r>
              <a:rPr lang="en-US" altLang="zh-CN" sz="1400" dirty="0" smtClean="0">
                <a:solidFill>
                  <a:prstClr val="black"/>
                </a:solidFill>
                <a:cs typeface="Arial" panose="020B0604020202020204" pitchFamily="34" charset="0"/>
              </a:rPr>
              <a:t>related patents information shall </a:t>
            </a:r>
            <a:r>
              <a:rPr lang="en-US" altLang="zh-CN" sz="1400" dirty="0">
                <a:solidFill>
                  <a:prstClr val="black"/>
                </a:solidFill>
                <a:cs typeface="Arial" panose="020B0604020202020204" pitchFamily="34" charset="0"/>
              </a:rPr>
              <a:t>not provide it to colleagues unrelated to the </a:t>
            </a:r>
            <a:r>
              <a:rPr lang="en-US" altLang="zh-CN" sz="1400" dirty="0" smtClean="0">
                <a:solidFill>
                  <a:prstClr val="black"/>
                </a:solidFill>
                <a:cs typeface="Arial" panose="020B0604020202020204" pitchFamily="34" charset="0"/>
              </a:rPr>
              <a:t>business. Also restriction of leaking information outside of </a:t>
            </a:r>
            <a:r>
              <a:rPr lang="en-US" altLang="zh-CN" sz="1400" dirty="0">
                <a:solidFill>
                  <a:prstClr val="black"/>
                </a:solidFill>
                <a:cs typeface="Arial" panose="020B0604020202020204" pitchFamily="34" charset="0"/>
              </a:rPr>
              <a:t>the company.</a:t>
            </a:r>
            <a:endParaRPr lang="zh-CN" altLang="en-US" sz="1400" dirty="0">
              <a:solidFill>
                <a:prstClr val="black"/>
              </a:solidFill>
              <a:cs typeface="Arial" panose="020B0604020202020204" pitchFamily="34" charset="0"/>
            </a:endParaRPr>
          </a:p>
          <a:p>
            <a:pPr algn="just" eaLnBrk="0" fontAlgn="base" hangingPunct="0">
              <a:spcBef>
                <a:spcPct val="0"/>
              </a:spcBef>
              <a:spcAft>
                <a:spcPct val="0"/>
              </a:spcAft>
            </a:pPr>
            <a:endParaRPr lang="en-US" altLang="zh-CN" sz="1400" dirty="0" smtClean="0">
              <a:solidFill>
                <a:prstClr val="black"/>
              </a:solidFill>
              <a:cs typeface="Arial" panose="020B0604020202020204" pitchFamily="34" charset="0"/>
            </a:endParaRPr>
          </a:p>
          <a:p>
            <a:pPr algn="just" eaLnBrk="0" fontAlgn="base" hangingPunct="0">
              <a:spcBef>
                <a:spcPct val="0"/>
              </a:spcBef>
              <a:spcAft>
                <a:spcPct val="0"/>
              </a:spcAft>
            </a:pPr>
            <a:r>
              <a:rPr lang="zh-CN" altLang="en-US" sz="1400" dirty="0" smtClean="0">
                <a:solidFill>
                  <a:prstClr val="black"/>
                </a:solidFill>
                <a:cs typeface="Arial" panose="020B0604020202020204" pitchFamily="34" charset="0"/>
              </a:rPr>
              <a:t>在</a:t>
            </a:r>
            <a:r>
              <a:rPr lang="zh-CN" altLang="en-US" sz="1400" dirty="0">
                <a:solidFill>
                  <a:prstClr val="black"/>
                </a:solidFill>
                <a:cs typeface="Arial" panose="020B0604020202020204" pitchFamily="34" charset="0"/>
              </a:rPr>
              <a:t>技术论坛、展会、论文发表、互联网公布等可能公开技术方案的情形发生前，应将提案提交至知识产权部门，并确认该技术提案已提交至专利局之后再公开技术方案</a:t>
            </a:r>
            <a:r>
              <a:rPr lang="zh-CN" altLang="en-US" sz="1400" dirty="0" smtClean="0">
                <a:solidFill>
                  <a:prstClr val="black"/>
                </a:solidFill>
                <a:cs typeface="Arial" panose="020B0604020202020204" pitchFamily="34" charset="0"/>
              </a:rPr>
              <a:t>。</a:t>
            </a:r>
            <a:endParaRPr lang="en-US" altLang="zh-CN" sz="1400" dirty="0" smtClean="0">
              <a:solidFill>
                <a:prstClr val="black"/>
              </a:solidFill>
              <a:cs typeface="Arial" panose="020B0604020202020204" pitchFamily="34" charset="0"/>
            </a:endParaRPr>
          </a:p>
          <a:p>
            <a:pPr algn="just" eaLnBrk="0" fontAlgn="base" hangingPunct="0">
              <a:spcBef>
                <a:spcPct val="0"/>
              </a:spcBef>
              <a:spcAft>
                <a:spcPct val="0"/>
              </a:spcAft>
            </a:pPr>
            <a:r>
              <a:rPr lang="en-US" altLang="zh-CN" sz="1400" dirty="0">
                <a:solidFill>
                  <a:prstClr val="black"/>
                </a:solidFill>
                <a:cs typeface="Arial" panose="020B0604020202020204" pitchFamily="34" charset="0"/>
              </a:rPr>
              <a:t>Before </a:t>
            </a:r>
            <a:r>
              <a:rPr lang="en-US" altLang="zh-CN" sz="1400" dirty="0" smtClean="0">
                <a:solidFill>
                  <a:prstClr val="black"/>
                </a:solidFill>
                <a:cs typeface="Arial" panose="020B0604020202020204" pitchFamily="34" charset="0"/>
              </a:rPr>
              <a:t>disclosure to technical forum</a:t>
            </a:r>
            <a:r>
              <a:rPr lang="en-US" altLang="zh-CN" sz="1400" dirty="0">
                <a:solidFill>
                  <a:prstClr val="black"/>
                </a:solidFill>
                <a:cs typeface="Arial" panose="020B0604020202020204" pitchFamily="34" charset="0"/>
              </a:rPr>
              <a:t>, exhibition, </a:t>
            </a:r>
            <a:r>
              <a:rPr lang="en-US" altLang="zh-CN" sz="1400" dirty="0" smtClean="0">
                <a:solidFill>
                  <a:prstClr val="black"/>
                </a:solidFill>
                <a:cs typeface="Arial" panose="020B0604020202020204" pitchFamily="34" charset="0"/>
              </a:rPr>
              <a:t>conference or internet, </a:t>
            </a:r>
            <a:r>
              <a:rPr lang="en-US" altLang="zh-CN" sz="1400" dirty="0">
                <a:solidFill>
                  <a:prstClr val="black"/>
                </a:solidFill>
                <a:cs typeface="Arial" panose="020B0604020202020204" pitchFamily="34" charset="0"/>
              </a:rPr>
              <a:t>the proposal shall be submitted to the Intellectual Property </a:t>
            </a:r>
            <a:r>
              <a:rPr lang="en-US" altLang="zh-CN" sz="1400" dirty="0" smtClean="0">
                <a:solidFill>
                  <a:prstClr val="black"/>
                </a:solidFill>
                <a:cs typeface="Arial" panose="020B0604020202020204" pitchFamily="34" charset="0"/>
              </a:rPr>
              <a:t>department. Confirm that the patent has been </a:t>
            </a:r>
            <a:r>
              <a:rPr lang="en-US" altLang="zh-CN" sz="1400" dirty="0">
                <a:solidFill>
                  <a:prstClr val="black"/>
                </a:solidFill>
                <a:cs typeface="Arial" panose="020B0604020202020204" pitchFamily="34" charset="0"/>
              </a:rPr>
              <a:t>submitted to the Patent Office </a:t>
            </a:r>
            <a:r>
              <a:rPr lang="en-US" altLang="zh-CN" sz="1400" dirty="0" smtClean="0">
                <a:solidFill>
                  <a:prstClr val="black"/>
                </a:solidFill>
                <a:cs typeface="Arial" panose="020B0604020202020204" pitchFamily="34" charset="0"/>
              </a:rPr>
              <a:t>before publishing of the technical proposal.</a:t>
            </a:r>
          </a:p>
          <a:p>
            <a:pPr algn="just" eaLnBrk="0" fontAlgn="base" hangingPunct="0">
              <a:spcBef>
                <a:spcPct val="0"/>
              </a:spcBef>
              <a:spcAft>
                <a:spcPct val="0"/>
              </a:spcAft>
            </a:pPr>
            <a:endParaRPr lang="en-US" altLang="zh-CN" sz="1400" dirty="0">
              <a:solidFill>
                <a:prstClr val="black"/>
              </a:solidFill>
              <a:cs typeface="Arial" panose="020B0604020202020204" pitchFamily="34" charset="0"/>
            </a:endParaRPr>
          </a:p>
          <a:p>
            <a:pPr algn="just" eaLnBrk="0" fontAlgn="base" hangingPunct="0">
              <a:spcBef>
                <a:spcPct val="0"/>
              </a:spcBef>
              <a:spcAft>
                <a:spcPct val="0"/>
              </a:spcAft>
            </a:pPr>
            <a:r>
              <a:rPr lang="zh-CN" altLang="en-US" sz="1400" dirty="0">
                <a:solidFill>
                  <a:prstClr val="black"/>
                </a:solidFill>
                <a:cs typeface="Arial" panose="020B0604020202020204" pitchFamily="34" charset="0"/>
              </a:rPr>
              <a:t>本人声明其所提供的技术资料不涉及任何第三方的商业秘密，上述技术资料均为合法所得，来源均符合相关法律法规以及公司内部制度的规定，对于违反上述声明以及承担的责任已全部知晓并充分理解，如若违反，本人愿意承担一切后果。</a:t>
            </a:r>
          </a:p>
          <a:p>
            <a:pPr algn="just" eaLnBrk="0" fontAlgn="base" hangingPunct="0">
              <a:spcBef>
                <a:spcPct val="0"/>
              </a:spcBef>
              <a:spcAft>
                <a:spcPct val="0"/>
              </a:spcAft>
            </a:pPr>
            <a:r>
              <a:rPr lang="en-US" altLang="zh-CN" sz="1400" dirty="0">
                <a:solidFill>
                  <a:prstClr val="black"/>
                </a:solidFill>
                <a:cs typeface="Arial" panose="020B0604020202020204" pitchFamily="34" charset="0"/>
              </a:rPr>
              <a:t>I declare that the technical data provided by me does not involve trade secrets of any third party. The technical data mentioned above was obtained legally. The sources of the technical data comply with relevant laws, regulations and the rules of company's internal systems. I acknowledge and understand the responsibilities resulted from violating this declaration. If I violate the declaration, all the consequences will be borne by me.</a:t>
            </a:r>
          </a:p>
        </p:txBody>
      </p:sp>
      <p:sp>
        <p:nvSpPr>
          <p:cNvPr id="19" name="文本框 18"/>
          <p:cNvSpPr txBox="1"/>
          <p:nvPr/>
        </p:nvSpPr>
        <p:spPr>
          <a:xfrm>
            <a:off x="4602240" y="5873795"/>
            <a:ext cx="2994089" cy="646331"/>
          </a:xfrm>
          <a:prstGeom prst="rect">
            <a:avLst/>
          </a:prstGeom>
          <a:noFill/>
          <a:ln>
            <a:solidFill>
              <a:srgbClr val="FF0000"/>
            </a:solidFill>
          </a:ln>
        </p:spPr>
        <p:txBody>
          <a:bodyPr wrap="none" rtlCol="0">
            <a:spAutoFit/>
          </a:bodyPr>
          <a:lstStyle/>
          <a:p>
            <a:pPr algn="ctr" eaLnBrk="0" fontAlgn="base" hangingPunct="0">
              <a:spcBef>
                <a:spcPct val="0"/>
              </a:spcBef>
              <a:spcAft>
                <a:spcPct val="0"/>
              </a:spcAft>
            </a:pPr>
            <a:r>
              <a:rPr lang="zh-CN" altLang="en-US" dirty="0" smtClean="0">
                <a:solidFill>
                  <a:srgbClr val="FF0000"/>
                </a:solidFill>
                <a:latin typeface="Calibri" panose="020F0502020204030204" pitchFamily="34" charset="0"/>
                <a:ea typeface="宋体" panose="02010600030101010101" pitchFamily="2" charset="-122"/>
              </a:rPr>
              <a:t>此页不可删除</a:t>
            </a:r>
            <a:endParaRPr lang="en-US" altLang="zh-CN" dirty="0" smtClean="0">
              <a:solidFill>
                <a:srgbClr val="FF0000"/>
              </a:solidFill>
              <a:latin typeface="Calibri" panose="020F0502020204030204" pitchFamily="34" charset="0"/>
              <a:ea typeface="宋体" panose="02010600030101010101" pitchFamily="2" charset="-122"/>
            </a:endParaRPr>
          </a:p>
          <a:p>
            <a:pPr algn="ctr" eaLnBrk="0" fontAlgn="base" hangingPunct="0">
              <a:spcBef>
                <a:spcPct val="0"/>
              </a:spcBef>
              <a:spcAft>
                <a:spcPct val="0"/>
              </a:spcAft>
            </a:pPr>
            <a:r>
              <a:rPr lang="en-US" altLang="zh-CN" dirty="0">
                <a:solidFill>
                  <a:srgbClr val="FF0000"/>
                </a:solidFill>
                <a:latin typeface="Calibri" panose="020F0502020204030204" pitchFamily="34" charset="0"/>
                <a:ea typeface="宋体" panose="02010600030101010101" pitchFamily="2" charset="-122"/>
              </a:rPr>
              <a:t>This page </a:t>
            </a:r>
            <a:r>
              <a:rPr lang="en-US" altLang="zh-CN" dirty="0" smtClean="0">
                <a:solidFill>
                  <a:srgbClr val="FF0000"/>
                </a:solidFill>
                <a:latin typeface="Calibri" panose="020F0502020204030204" pitchFamily="34" charset="0"/>
                <a:ea typeface="宋体" panose="02010600030101010101" pitchFamily="2" charset="-122"/>
              </a:rPr>
              <a:t>CANNOT </a:t>
            </a:r>
            <a:r>
              <a:rPr lang="en-US" altLang="zh-CN" dirty="0">
                <a:solidFill>
                  <a:srgbClr val="FF0000"/>
                </a:solidFill>
                <a:latin typeface="Calibri" panose="020F0502020204030204" pitchFamily="34" charset="0"/>
                <a:ea typeface="宋体" panose="02010600030101010101" pitchFamily="2" charset="-122"/>
              </a:rPr>
              <a:t>be deleted</a:t>
            </a:r>
            <a:endParaRPr lang="zh-CN" altLang="en-US" dirty="0">
              <a:solidFill>
                <a:srgbClr val="FF0000"/>
              </a:solidFill>
              <a:latin typeface="Calibri" panose="020F0502020204030204" pitchFamily="34" charset="0"/>
              <a:ea typeface="宋体" panose="02010600030101010101" pitchFamily="2" charset="-122"/>
            </a:endParaRPr>
          </a:p>
        </p:txBody>
      </p:sp>
      <p:pic>
        <p:nvPicPr>
          <p:cNvPr id="20" name="图片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7474" y="294129"/>
            <a:ext cx="644388" cy="171837"/>
          </a:xfrm>
          <a:prstGeom prst="rect">
            <a:avLst/>
          </a:prstGeom>
        </p:spPr>
      </p:pic>
      <p:pic>
        <p:nvPicPr>
          <p:cNvPr id="21" name="图片 20" descr="未标题-15464646"/>
          <p:cNvPicPr>
            <a:picLocks noChangeAspect="1"/>
          </p:cNvPicPr>
          <p:nvPr/>
        </p:nvPicPr>
        <p:blipFill>
          <a:blip r:embed="rId5"/>
          <a:srcRect r="44315" b="-12355"/>
          <a:stretch>
            <a:fillRect/>
          </a:stretch>
        </p:blipFill>
        <p:spPr>
          <a:xfrm>
            <a:off x="11765915" y="305435"/>
            <a:ext cx="426085" cy="184785"/>
          </a:xfrm>
          <a:prstGeom prst="rect">
            <a:avLst/>
          </a:prstGeom>
        </p:spPr>
      </p:pic>
      <p:pic>
        <p:nvPicPr>
          <p:cNvPr id="22" name="图片 21" descr="未标题-15464646"/>
          <p:cNvPicPr>
            <a:picLocks noChangeAspect="1"/>
          </p:cNvPicPr>
          <p:nvPr/>
        </p:nvPicPr>
        <p:blipFill>
          <a:blip r:embed="rId5"/>
          <a:srcRect r="44315" b="-12355"/>
          <a:stretch>
            <a:fillRect/>
          </a:stretch>
        </p:blipFill>
        <p:spPr>
          <a:xfrm flipH="1">
            <a:off x="0" y="305435"/>
            <a:ext cx="426085" cy="184785"/>
          </a:xfrm>
          <a:prstGeom prst="rect">
            <a:avLst/>
          </a:prstGeom>
        </p:spPr>
      </p:pic>
      <p:sp>
        <p:nvSpPr>
          <p:cNvPr id="24" name="TextBox 48"/>
          <p:cNvSpPr txBox="1"/>
          <p:nvPr/>
        </p:nvSpPr>
        <p:spPr>
          <a:xfrm>
            <a:off x="9461594" y="328577"/>
            <a:ext cx="2226277" cy="138499"/>
          </a:xfrm>
          <a:prstGeom prst="rect">
            <a:avLst/>
          </a:prstGeom>
          <a:noFill/>
        </p:spPr>
        <p:txBody>
          <a:bodyPr wrap="square" lIns="0" tIns="0" rIns="0" bIns="0" rtlCol="0">
            <a:spAutoFit/>
          </a:bodyPr>
          <a:lstStyle/>
          <a:p>
            <a:pPr algn="dist">
              <a:lnSpc>
                <a:spcPct val="100000"/>
              </a:lnSpc>
              <a:buClrTx/>
              <a:buSzTx/>
              <a:buFontTx/>
              <a:defRPr/>
            </a:pPr>
            <a:r>
              <a:rPr lang="en-US" altLang="zh-CN" sz="900" dirty="0" err="1">
                <a:solidFill>
                  <a:srgbClr val="005CB9"/>
                </a:solidFill>
                <a:latin typeface="思源黑体 CN Regular" panose="020B0500000000000000" charset="-122"/>
                <a:ea typeface="思源黑体 CN Regular" panose="020B0500000000000000" charset="-122"/>
                <a:cs typeface="Arial" panose="020B0604020202020204" pitchFamily="34" charset="0"/>
                <a:sym typeface="+mn-ea"/>
              </a:rPr>
              <a:t>ChangXin</a:t>
            </a:r>
            <a:r>
              <a:rPr lang="en-US" altLang="zh-CN" sz="900" dirty="0">
                <a:solidFill>
                  <a:srgbClr val="005CB9"/>
                </a:solidFill>
                <a:latin typeface="思源黑体 CN Regular" panose="020B0500000000000000" charset="-122"/>
                <a:ea typeface="思源黑体 CN Regular" panose="020B0500000000000000" charset="-122"/>
                <a:cs typeface="Arial" panose="020B0604020202020204" pitchFamily="34" charset="0"/>
                <a:sym typeface="+mn-ea"/>
              </a:rPr>
              <a:t> Memory Technologies, Inc.</a:t>
            </a:r>
            <a:endParaRPr lang="zh-CN" altLang="en-US" sz="900" dirty="0">
              <a:solidFill>
                <a:srgbClr val="005CB9"/>
              </a:solidFill>
              <a:latin typeface="思源黑体 CN Regular" panose="020B0500000000000000" charset="-122"/>
              <a:ea typeface="思源黑体 CN Regular" panose="020B0500000000000000" charset="-122"/>
              <a:cs typeface="Arial" panose="020B0604020202020204" pitchFamily="34" charset="0"/>
              <a:sym typeface="+mn-ea"/>
            </a:endParaRPr>
          </a:p>
        </p:txBody>
      </p:sp>
      <p:sp>
        <p:nvSpPr>
          <p:cNvPr id="25" name="TextBox 48"/>
          <p:cNvSpPr txBox="1"/>
          <p:nvPr/>
        </p:nvSpPr>
        <p:spPr>
          <a:xfrm>
            <a:off x="10667365" y="6514842"/>
            <a:ext cx="931194" cy="184666"/>
          </a:xfrm>
          <a:prstGeom prst="rect">
            <a:avLst/>
          </a:prstGeom>
          <a:noFill/>
        </p:spPr>
        <p:txBody>
          <a:bodyPr wrap="square" lIns="0" tIns="0" rIns="0" bIns="0" rtlCol="0">
            <a:spAutoFit/>
          </a:bodyPr>
          <a:lstStyle/>
          <a:p>
            <a:pPr>
              <a:lnSpc>
                <a:spcPct val="100000"/>
              </a:lnSpc>
              <a:buClrTx/>
              <a:buSzTx/>
              <a:buFontTx/>
              <a:defRPr/>
            </a:pPr>
            <a:r>
              <a:rPr lang="en-US" altLang="zh-CN" sz="12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a:t>
            </a:r>
            <a:r>
              <a:rPr lang="en-US" altLang="zh-CN" sz="1200" b="1" dirty="0" smtClean="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onfidential</a:t>
            </a:r>
            <a:endParaRPr lang="zh-CN" altLang="en-US" sz="1200" b="1" dirty="0" smtClean="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spTree>
    <p:extLst>
      <p:ext uri="{BB962C8B-B14F-4D97-AF65-F5344CB8AC3E}">
        <p14:creationId xmlns:p14="http://schemas.microsoft.com/office/powerpoint/2010/main" val="22101115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pic>
        <p:nvPicPr>
          <p:cNvPr id="27" name="图片 26"/>
          <p:cNvPicPr>
            <a:picLocks noChangeAspect="1"/>
          </p:cNvPicPr>
          <p:nvPr/>
        </p:nvPicPr>
        <p:blipFill>
          <a:blip r:embed="rId4"/>
          <a:stretch>
            <a:fillRect/>
          </a:stretch>
        </p:blipFill>
        <p:spPr>
          <a:xfrm>
            <a:off x="1492250" y="3236595"/>
            <a:ext cx="2475230" cy="2136775"/>
          </a:xfrm>
          <a:prstGeom prst="rect">
            <a:avLst/>
          </a:prstGeom>
        </p:spPr>
      </p:pic>
      <p:pic>
        <p:nvPicPr>
          <p:cNvPr id="126" name="图片 12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7474" y="294129"/>
            <a:ext cx="644388" cy="171837"/>
          </a:xfrm>
          <a:prstGeom prst="rect">
            <a:avLst/>
          </a:prstGeom>
        </p:spPr>
      </p:pic>
      <p:sp>
        <p:nvSpPr>
          <p:cNvPr id="11" name="Rectangle 8"/>
          <p:cNvSpPr>
            <a:spLocks noChangeArrowheads="1"/>
          </p:cNvSpPr>
          <p:nvPr/>
        </p:nvSpPr>
        <p:spPr bwMode="auto">
          <a:xfrm>
            <a:off x="7054215" y="2051685"/>
            <a:ext cx="4987290" cy="3440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1822450">
              <a:lnSpc>
                <a:spcPct val="90000"/>
              </a:lnSpc>
              <a:spcBef>
                <a:spcPts val="2000"/>
              </a:spcBef>
              <a:buFont typeface="Arial" panose="020B0604020202020204" pitchFamily="34" charset="0"/>
              <a:buChar char="•"/>
              <a:defRPr sz="5500">
                <a:solidFill>
                  <a:schemeClr val="tx1"/>
                </a:solidFill>
                <a:latin typeface="Calibri" panose="020F0502020204030204" pitchFamily="34" charset="0"/>
              </a:defRPr>
            </a:lvl1pPr>
            <a:lvl2pPr marL="742950" indent="-285750" defTabSz="1822450">
              <a:lnSpc>
                <a:spcPct val="90000"/>
              </a:lnSpc>
              <a:spcBef>
                <a:spcPts val="1000"/>
              </a:spcBef>
              <a:buFont typeface="Arial" panose="020B0604020202020204" pitchFamily="34" charset="0"/>
              <a:buChar char="•"/>
              <a:defRPr sz="4700">
                <a:solidFill>
                  <a:schemeClr val="tx1"/>
                </a:solidFill>
                <a:latin typeface="Calibri" panose="020F0502020204030204" pitchFamily="34" charset="0"/>
              </a:defRPr>
            </a:lvl2pPr>
            <a:lvl3pPr marL="1143000" indent="-228600" defTabSz="1822450">
              <a:lnSpc>
                <a:spcPct val="90000"/>
              </a:lnSpc>
              <a:spcBef>
                <a:spcPts val="1000"/>
              </a:spcBef>
              <a:buFont typeface="Arial" panose="020B0604020202020204" pitchFamily="34" charset="0"/>
              <a:buChar char="•"/>
              <a:defRPr sz="3900">
                <a:solidFill>
                  <a:schemeClr val="tx1"/>
                </a:solidFill>
                <a:latin typeface="Calibri" panose="020F0502020204030204" pitchFamily="34" charset="0"/>
              </a:defRPr>
            </a:lvl3pPr>
            <a:lvl4pPr marL="1600200" indent="-228600" defTabSz="1822450">
              <a:lnSpc>
                <a:spcPct val="90000"/>
              </a:lnSpc>
              <a:spcBef>
                <a:spcPts val="1000"/>
              </a:spcBef>
              <a:buFont typeface="Arial" panose="020B0604020202020204" pitchFamily="34" charset="0"/>
              <a:buChar char="•"/>
              <a:defRPr sz="3500">
                <a:solidFill>
                  <a:schemeClr val="tx1"/>
                </a:solidFill>
                <a:latin typeface="Calibri" panose="020F0502020204030204" pitchFamily="34" charset="0"/>
              </a:defRPr>
            </a:lvl4pPr>
            <a:lvl5pPr marL="2057400" indent="-228600" defTabSz="1822450">
              <a:lnSpc>
                <a:spcPct val="90000"/>
              </a:lnSpc>
              <a:spcBef>
                <a:spcPts val="1000"/>
              </a:spcBef>
              <a:buFont typeface="Arial" panose="020B0604020202020204" pitchFamily="34" charset="0"/>
              <a:buChar char="•"/>
              <a:defRPr sz="3500">
                <a:solidFill>
                  <a:schemeClr val="tx1"/>
                </a:solidFill>
                <a:latin typeface="Calibri" panose="020F0502020204030204" pitchFamily="34" charset="0"/>
              </a:defRPr>
            </a:lvl5pPr>
            <a:lvl6pPr marL="2514600" indent="-228600" defTabSz="1822450" eaLnBrk="0" fontAlgn="base" hangingPunct="0">
              <a:lnSpc>
                <a:spcPct val="90000"/>
              </a:lnSpc>
              <a:spcBef>
                <a:spcPts val="1000"/>
              </a:spcBef>
              <a:spcAft>
                <a:spcPct val="0"/>
              </a:spcAft>
              <a:buFont typeface="Arial" panose="020B0604020202020204" pitchFamily="34" charset="0"/>
              <a:buChar char="•"/>
              <a:defRPr sz="3500">
                <a:solidFill>
                  <a:schemeClr val="tx1"/>
                </a:solidFill>
                <a:latin typeface="Calibri" panose="020F0502020204030204" pitchFamily="34" charset="0"/>
              </a:defRPr>
            </a:lvl6pPr>
            <a:lvl7pPr marL="2971800" indent="-228600" defTabSz="1822450" eaLnBrk="0" fontAlgn="base" hangingPunct="0">
              <a:lnSpc>
                <a:spcPct val="90000"/>
              </a:lnSpc>
              <a:spcBef>
                <a:spcPts val="1000"/>
              </a:spcBef>
              <a:spcAft>
                <a:spcPct val="0"/>
              </a:spcAft>
              <a:buFont typeface="Arial" panose="020B0604020202020204" pitchFamily="34" charset="0"/>
              <a:buChar char="•"/>
              <a:defRPr sz="3500">
                <a:solidFill>
                  <a:schemeClr val="tx1"/>
                </a:solidFill>
                <a:latin typeface="Calibri" panose="020F0502020204030204" pitchFamily="34" charset="0"/>
              </a:defRPr>
            </a:lvl7pPr>
            <a:lvl8pPr marL="3429000" indent="-228600" defTabSz="1822450" eaLnBrk="0" fontAlgn="base" hangingPunct="0">
              <a:lnSpc>
                <a:spcPct val="90000"/>
              </a:lnSpc>
              <a:spcBef>
                <a:spcPts val="1000"/>
              </a:spcBef>
              <a:spcAft>
                <a:spcPct val="0"/>
              </a:spcAft>
              <a:buFont typeface="Arial" panose="020B0604020202020204" pitchFamily="34" charset="0"/>
              <a:buChar char="•"/>
              <a:defRPr sz="3500">
                <a:solidFill>
                  <a:schemeClr val="tx1"/>
                </a:solidFill>
                <a:latin typeface="Calibri" panose="020F0502020204030204" pitchFamily="34" charset="0"/>
              </a:defRPr>
            </a:lvl8pPr>
            <a:lvl9pPr marL="3886200" indent="-228600" defTabSz="1822450" eaLnBrk="0" fontAlgn="base" hangingPunct="0">
              <a:lnSpc>
                <a:spcPct val="90000"/>
              </a:lnSpc>
              <a:spcBef>
                <a:spcPts val="1000"/>
              </a:spcBef>
              <a:spcAft>
                <a:spcPct val="0"/>
              </a:spcAft>
              <a:buFont typeface="Arial" panose="020B0604020202020204" pitchFamily="34" charset="0"/>
              <a:buChar char="•"/>
              <a:defRPr sz="3500">
                <a:solidFill>
                  <a:schemeClr val="tx1"/>
                </a:solidFill>
                <a:latin typeface="Calibri" panose="020F0502020204030204" pitchFamily="34" charset="0"/>
              </a:defRPr>
            </a:lvl9pPr>
          </a:lstStyle>
          <a:p>
            <a:pPr>
              <a:lnSpc>
                <a:spcPct val="170000"/>
              </a:lnSpc>
              <a:spcBef>
                <a:spcPct val="0"/>
              </a:spcBef>
              <a:buNone/>
            </a:pPr>
            <a:r>
              <a:rPr lang="en-US" altLang="zh-CN" sz="1600" dirty="0" smtClean="0">
                <a:latin typeface="思源黑体 CN Regular" panose="020B0500000000000000" charset="-122"/>
                <a:ea typeface="思源黑体 CN Regular" panose="020B0500000000000000" charset="-122"/>
                <a:cs typeface="思源黑体 CN Regular" panose="020B0500000000000000" charset="-122"/>
              </a:rPr>
              <a:t>01.  </a:t>
            </a:r>
            <a:r>
              <a:rPr lang="zh-CN" altLang="en-US" sz="1600" dirty="0" smtClean="0">
                <a:latin typeface="思源黑体 CN Regular" panose="020B0500000000000000" charset="-122"/>
                <a:ea typeface="思源黑体 CN Regular" panose="020B0500000000000000" charset="-122"/>
                <a:cs typeface="思源黑体 CN Regular" panose="020B0500000000000000" charset="-122"/>
              </a:rPr>
              <a:t>技术</a:t>
            </a:r>
            <a:r>
              <a:rPr lang="zh-CN" altLang="en-US" sz="1600" dirty="0">
                <a:latin typeface="思源黑体 CN Regular" panose="020B0500000000000000" charset="-122"/>
                <a:ea typeface="思源黑体 CN Regular" panose="020B0500000000000000" charset="-122"/>
                <a:cs typeface="思源黑体 CN Regular" panose="020B0500000000000000" charset="-122"/>
              </a:rPr>
              <a:t>领域 </a:t>
            </a:r>
            <a:r>
              <a:rPr lang="en-US" altLang="zh-CN" sz="1600" dirty="0">
                <a:latin typeface="思源黑体 CN Regular" panose="020B0500000000000000" charset="-122"/>
                <a:ea typeface="思源黑体 CN Regular" panose="020B0500000000000000" charset="-122"/>
                <a:cs typeface="思源黑体 CN Regular" panose="020B0500000000000000" charset="-122"/>
              </a:rPr>
              <a:t>(Field) </a:t>
            </a:r>
            <a:r>
              <a:rPr lang="en-US" altLang="zh-CN" sz="1600" dirty="0" smtClean="0">
                <a:solidFill>
                  <a:srgbClr val="FF0000"/>
                </a:solidFill>
                <a:latin typeface="思源黑体 CN Regular" panose="020B0500000000000000" charset="-122"/>
                <a:ea typeface="思源黑体 CN Regular" panose="020B0500000000000000" charset="-122"/>
                <a:cs typeface="思源黑体 CN Regular" panose="020B0500000000000000" charset="-122"/>
              </a:rPr>
              <a:t>*</a:t>
            </a:r>
          </a:p>
          <a:p>
            <a:pPr>
              <a:lnSpc>
                <a:spcPct val="170000"/>
              </a:lnSpc>
              <a:spcBef>
                <a:spcPct val="0"/>
              </a:spcBef>
              <a:buNone/>
            </a:pPr>
            <a:r>
              <a:rPr lang="en-US" altLang="zh-CN" sz="1600" dirty="0" smtClean="0">
                <a:latin typeface="思源黑体 CN Regular" panose="020B0500000000000000" charset="-122"/>
                <a:ea typeface="思源黑体 CN Regular" panose="020B0500000000000000" charset="-122"/>
                <a:cs typeface="思源黑体 CN Regular" panose="020B0500000000000000" charset="-122"/>
              </a:rPr>
              <a:t>02.  </a:t>
            </a:r>
            <a:r>
              <a:rPr lang="zh-CN" altLang="en-US" sz="1600" dirty="0" smtClean="0">
                <a:latin typeface="思源黑体 CN Regular" panose="020B0500000000000000" charset="-122"/>
                <a:ea typeface="思源黑体 CN Regular" panose="020B0500000000000000" charset="-122"/>
                <a:cs typeface="思源黑体 CN Regular" panose="020B0500000000000000" charset="-122"/>
              </a:rPr>
              <a:t>先前</a:t>
            </a:r>
            <a:r>
              <a:rPr lang="zh-CN" altLang="en-US" sz="1600" dirty="0">
                <a:latin typeface="思源黑体 CN Regular" panose="020B0500000000000000" charset="-122"/>
                <a:ea typeface="思源黑体 CN Regular" panose="020B0500000000000000" charset="-122"/>
                <a:cs typeface="思源黑体 CN Regular" panose="020B0500000000000000" charset="-122"/>
              </a:rPr>
              <a:t>技术 </a:t>
            </a:r>
            <a:r>
              <a:rPr lang="en-US" altLang="zh-CN" sz="1600" dirty="0">
                <a:latin typeface="思源黑体 CN Regular" panose="020B0500000000000000" charset="-122"/>
                <a:ea typeface="思源黑体 CN Regular" panose="020B0500000000000000" charset="-122"/>
                <a:cs typeface="思源黑体 CN Regular" panose="020B0500000000000000" charset="-122"/>
              </a:rPr>
              <a:t>(Related prior art) </a:t>
            </a:r>
            <a:r>
              <a:rPr lang="en-US" altLang="zh-CN" sz="1600" dirty="0">
                <a:solidFill>
                  <a:srgbClr val="FF0000"/>
                </a:solidFill>
                <a:latin typeface="思源黑体 CN Regular" panose="020B0500000000000000" charset="-122"/>
                <a:ea typeface="思源黑体 CN Regular" panose="020B0500000000000000" charset="-122"/>
                <a:cs typeface="思源黑体 CN Regular" panose="020B0500000000000000" charset="-122"/>
              </a:rPr>
              <a:t>*</a:t>
            </a:r>
          </a:p>
          <a:p>
            <a:pPr>
              <a:lnSpc>
                <a:spcPct val="170000"/>
              </a:lnSpc>
              <a:spcBef>
                <a:spcPct val="0"/>
              </a:spcBef>
              <a:buNone/>
            </a:pPr>
            <a:r>
              <a:rPr lang="en-US" altLang="zh-CN" sz="1600" dirty="0" smtClean="0">
                <a:latin typeface="思源黑体 CN Regular" panose="020B0500000000000000" charset="-122"/>
                <a:ea typeface="思源黑体 CN Regular" panose="020B0500000000000000" charset="-122"/>
                <a:cs typeface="思源黑体 CN Regular" panose="020B0500000000000000" charset="-122"/>
              </a:rPr>
              <a:t>03.  </a:t>
            </a:r>
            <a:r>
              <a:rPr lang="zh-CN" altLang="en-US" sz="1600" dirty="0" smtClean="0">
                <a:latin typeface="思源黑体 CN Regular" panose="020B0500000000000000" charset="-122"/>
                <a:ea typeface="思源黑体 CN Regular" panose="020B0500000000000000" charset="-122"/>
                <a:cs typeface="思源黑体 CN Regular" panose="020B0500000000000000" charset="-122"/>
              </a:rPr>
              <a:t>发明</a:t>
            </a:r>
            <a:r>
              <a:rPr lang="zh-CN" altLang="en-US" sz="1600" dirty="0">
                <a:latin typeface="思源黑体 CN Regular" panose="020B0500000000000000" charset="-122"/>
                <a:ea typeface="思源黑体 CN Regular" panose="020B0500000000000000" charset="-122"/>
                <a:cs typeface="思源黑体 CN Regular" panose="020B0500000000000000" charset="-122"/>
              </a:rPr>
              <a:t>目的与技术问题 </a:t>
            </a:r>
            <a:r>
              <a:rPr lang="en-US" altLang="zh-CN" sz="1600" dirty="0">
                <a:latin typeface="思源黑体 CN Regular" panose="020B0500000000000000" charset="-122"/>
                <a:ea typeface="思源黑体 CN Regular" panose="020B0500000000000000" charset="-122"/>
                <a:cs typeface="思源黑体 CN Regular" panose="020B0500000000000000" charset="-122"/>
              </a:rPr>
              <a:t>(Motivation &amp; challenge) </a:t>
            </a:r>
            <a:r>
              <a:rPr lang="en-US" altLang="zh-CN" sz="1600" dirty="0">
                <a:solidFill>
                  <a:srgbClr val="FF0000"/>
                </a:solidFill>
                <a:latin typeface="思源黑体 CN Regular" panose="020B0500000000000000" charset="-122"/>
                <a:ea typeface="思源黑体 CN Regular" panose="020B0500000000000000" charset="-122"/>
                <a:cs typeface="思源黑体 CN Regular" panose="020B0500000000000000" charset="-122"/>
              </a:rPr>
              <a:t>*</a:t>
            </a:r>
          </a:p>
          <a:p>
            <a:pPr>
              <a:lnSpc>
                <a:spcPct val="170000"/>
              </a:lnSpc>
              <a:spcBef>
                <a:spcPct val="0"/>
              </a:spcBef>
              <a:buNone/>
            </a:pPr>
            <a:r>
              <a:rPr lang="en-US" altLang="zh-CN" sz="1600" dirty="0" smtClean="0">
                <a:latin typeface="思源黑体 CN Regular" panose="020B0500000000000000" charset="-122"/>
                <a:ea typeface="思源黑体 CN Regular" panose="020B0500000000000000" charset="-122"/>
                <a:cs typeface="思源黑体 CN Regular" panose="020B0500000000000000" charset="-122"/>
              </a:rPr>
              <a:t>04.  </a:t>
            </a:r>
            <a:r>
              <a:rPr lang="zh-CN" altLang="en-US" sz="1600" dirty="0" smtClean="0">
                <a:latin typeface="思源黑体 CN Regular" panose="020B0500000000000000" charset="-122"/>
                <a:ea typeface="思源黑体 CN Regular" panose="020B0500000000000000" charset="-122"/>
                <a:cs typeface="思源黑体 CN Regular" panose="020B0500000000000000" charset="-122"/>
              </a:rPr>
              <a:t>技术</a:t>
            </a:r>
            <a:r>
              <a:rPr lang="zh-CN" altLang="en-US" sz="1600" dirty="0">
                <a:latin typeface="思源黑体 CN Regular" panose="020B0500000000000000" charset="-122"/>
                <a:ea typeface="思源黑体 CN Regular" panose="020B0500000000000000" charset="-122"/>
                <a:cs typeface="思源黑体 CN Regular" panose="020B0500000000000000" charset="-122"/>
              </a:rPr>
              <a:t>方案 </a:t>
            </a:r>
            <a:r>
              <a:rPr lang="en-US" altLang="zh-CN" sz="1600" dirty="0">
                <a:latin typeface="思源黑体 CN Regular" panose="020B0500000000000000" charset="-122"/>
                <a:ea typeface="思源黑体 CN Regular" panose="020B0500000000000000" charset="-122"/>
                <a:cs typeface="思源黑体 CN Regular" panose="020B0500000000000000" charset="-122"/>
              </a:rPr>
              <a:t>(Technical solution) </a:t>
            </a:r>
            <a:r>
              <a:rPr lang="en-US" altLang="zh-CN" sz="1600" dirty="0" smtClean="0">
                <a:solidFill>
                  <a:srgbClr val="FF0000"/>
                </a:solidFill>
                <a:latin typeface="思源黑体 CN Regular" panose="020B0500000000000000" charset="-122"/>
                <a:ea typeface="思源黑体 CN Regular" panose="020B0500000000000000" charset="-122"/>
                <a:cs typeface="思源黑体 CN Regular" panose="020B0500000000000000" charset="-122"/>
              </a:rPr>
              <a:t>*</a:t>
            </a:r>
          </a:p>
          <a:p>
            <a:pPr>
              <a:lnSpc>
                <a:spcPct val="170000"/>
              </a:lnSpc>
              <a:spcBef>
                <a:spcPct val="0"/>
              </a:spcBef>
              <a:buNone/>
            </a:pPr>
            <a:r>
              <a:rPr lang="en-US" altLang="zh-CN" sz="1600" dirty="0" smtClean="0">
                <a:latin typeface="思源黑体 CN Regular" panose="020B0500000000000000" charset="-122"/>
                <a:ea typeface="思源黑体 CN Regular" panose="020B0500000000000000" charset="-122"/>
                <a:cs typeface="思源黑体 CN Regular" panose="020B0500000000000000" charset="-122"/>
              </a:rPr>
              <a:t>05.  </a:t>
            </a:r>
            <a:r>
              <a:rPr lang="zh-CN" altLang="en-US" sz="1600" dirty="0" smtClean="0">
                <a:latin typeface="思源黑体 CN Regular" panose="020B0500000000000000" charset="-122"/>
                <a:ea typeface="思源黑体 CN Regular" panose="020B0500000000000000" charset="-122"/>
                <a:cs typeface="思源黑体 CN Regular" panose="020B0500000000000000" charset="-122"/>
              </a:rPr>
              <a:t>有益</a:t>
            </a:r>
            <a:r>
              <a:rPr lang="zh-CN" altLang="en-US" sz="1600" dirty="0">
                <a:latin typeface="思源黑体 CN Regular" panose="020B0500000000000000" charset="-122"/>
                <a:ea typeface="思源黑体 CN Regular" panose="020B0500000000000000" charset="-122"/>
                <a:cs typeface="思源黑体 CN Regular" panose="020B0500000000000000" charset="-122"/>
              </a:rPr>
              <a:t>效果 </a:t>
            </a:r>
            <a:r>
              <a:rPr lang="en-US" altLang="zh-CN" sz="1600" dirty="0">
                <a:latin typeface="思源黑体 CN Regular" panose="020B0500000000000000" charset="-122"/>
                <a:ea typeface="思源黑体 CN Regular" panose="020B0500000000000000" charset="-122"/>
                <a:cs typeface="思源黑体 CN Regular" panose="020B0500000000000000" charset="-122"/>
              </a:rPr>
              <a:t>(Advantageous effects) </a:t>
            </a:r>
            <a:r>
              <a:rPr lang="en-US" altLang="zh-CN" sz="1600" dirty="0" smtClean="0">
                <a:solidFill>
                  <a:srgbClr val="FF0000"/>
                </a:solidFill>
                <a:latin typeface="思源黑体 CN Regular" panose="020B0500000000000000" charset="-122"/>
                <a:ea typeface="思源黑体 CN Regular" panose="020B0500000000000000" charset="-122"/>
                <a:cs typeface="思源黑体 CN Regular" panose="020B0500000000000000" charset="-122"/>
              </a:rPr>
              <a:t>*</a:t>
            </a:r>
            <a:endParaRPr lang="en-US" altLang="zh-CN" sz="1600" dirty="0" smtClean="0">
              <a:solidFill>
                <a:srgbClr val="FF0000"/>
              </a:solidFill>
              <a:latin typeface="思源黑体 CN Regular" panose="020B0500000000000000" charset="-122"/>
              <a:ea typeface="思源黑体 CN Regular" panose="020B0500000000000000" charset="-122"/>
              <a:cs typeface="思源黑体 CN Regular" panose="020B0500000000000000" charset="-122"/>
              <a:sym typeface="+mn-ea"/>
            </a:endParaRPr>
          </a:p>
          <a:p>
            <a:pPr>
              <a:lnSpc>
                <a:spcPct val="170000"/>
              </a:lnSpc>
              <a:spcBef>
                <a:spcPct val="0"/>
              </a:spcBef>
              <a:buNone/>
            </a:pPr>
            <a:r>
              <a:rPr lang="en-US" altLang="zh-CN" sz="1600" dirty="0" smtClean="0">
                <a:latin typeface="思源黑体 CN Regular" panose="020B0500000000000000" charset="-122"/>
                <a:ea typeface="思源黑体 CN Regular" panose="020B0500000000000000" charset="-122"/>
                <a:cs typeface="思源黑体 CN Regular" panose="020B0500000000000000" charset="-122"/>
              </a:rPr>
              <a:t>06.  </a:t>
            </a:r>
            <a:r>
              <a:rPr lang="zh-CN" altLang="en-US" sz="1600" dirty="0" smtClean="0">
                <a:latin typeface="思源黑体 CN Regular" panose="020B0500000000000000" charset="-122"/>
                <a:ea typeface="思源黑体 CN Regular" panose="020B0500000000000000" charset="-122"/>
                <a:cs typeface="思源黑体 CN Regular" panose="020B0500000000000000" charset="-122"/>
              </a:rPr>
              <a:t>具体</a:t>
            </a:r>
            <a:r>
              <a:rPr lang="zh-CN" altLang="en-US" sz="1600" dirty="0">
                <a:latin typeface="思源黑体 CN Regular" panose="020B0500000000000000" charset="-122"/>
                <a:ea typeface="思源黑体 CN Regular" panose="020B0500000000000000" charset="-122"/>
                <a:cs typeface="思源黑体 CN Regular" panose="020B0500000000000000" charset="-122"/>
              </a:rPr>
              <a:t>实施方式 </a:t>
            </a:r>
            <a:r>
              <a:rPr lang="en-US" altLang="zh-CN" sz="1600" dirty="0">
                <a:latin typeface="思源黑体 CN Regular" panose="020B0500000000000000" charset="-122"/>
                <a:ea typeface="思源黑体 CN Regular" panose="020B0500000000000000" charset="-122"/>
                <a:cs typeface="思源黑体 CN Regular" panose="020B0500000000000000" charset="-122"/>
              </a:rPr>
              <a:t>(Detailed embodiments) </a:t>
            </a:r>
            <a:r>
              <a:rPr lang="en-US" altLang="zh-CN" sz="1600" dirty="0" smtClean="0">
                <a:solidFill>
                  <a:srgbClr val="FF0000"/>
                </a:solidFill>
                <a:latin typeface="思源黑体 CN Regular" panose="020B0500000000000000" charset="-122"/>
                <a:ea typeface="思源黑体 CN Regular" panose="020B0500000000000000" charset="-122"/>
                <a:cs typeface="思源黑体 CN Regular" panose="020B0500000000000000" charset="-122"/>
              </a:rPr>
              <a:t>*</a:t>
            </a:r>
          </a:p>
          <a:p>
            <a:pPr>
              <a:lnSpc>
                <a:spcPct val="170000"/>
              </a:lnSpc>
              <a:spcBef>
                <a:spcPct val="0"/>
              </a:spcBef>
              <a:buNone/>
            </a:pPr>
            <a:r>
              <a:rPr lang="en-US" altLang="zh-CN" sz="1600" dirty="0" smtClean="0">
                <a:latin typeface="思源黑体 CN Regular" panose="020B0500000000000000" charset="-122"/>
                <a:ea typeface="思源黑体 CN Regular" panose="020B0500000000000000" charset="-122"/>
                <a:cs typeface="思源黑体 CN Regular" panose="020B0500000000000000" charset="-122"/>
              </a:rPr>
              <a:t>07.  </a:t>
            </a:r>
            <a:r>
              <a:rPr lang="zh-CN" altLang="en-US" sz="1600" dirty="0" smtClean="0">
                <a:latin typeface="思源黑体 CN Regular" panose="020B0500000000000000" charset="-122"/>
                <a:ea typeface="思源黑体 CN Regular" panose="020B0500000000000000" charset="-122"/>
                <a:cs typeface="思源黑体 CN Regular" panose="020B0500000000000000" charset="-122"/>
              </a:rPr>
              <a:t>附图</a:t>
            </a:r>
            <a:r>
              <a:rPr lang="zh-CN" altLang="en-US" sz="1600" dirty="0">
                <a:latin typeface="思源黑体 CN Regular" panose="020B0500000000000000" charset="-122"/>
                <a:ea typeface="思源黑体 CN Regular" panose="020B0500000000000000" charset="-122"/>
                <a:cs typeface="思源黑体 CN Regular" panose="020B0500000000000000" charset="-122"/>
              </a:rPr>
              <a:t>与说明 </a:t>
            </a:r>
            <a:r>
              <a:rPr lang="en-US" altLang="zh-CN" sz="1600" dirty="0">
                <a:latin typeface="思源黑体 CN Regular" panose="020B0500000000000000" charset="-122"/>
                <a:ea typeface="思源黑体 CN Regular" panose="020B0500000000000000" charset="-122"/>
                <a:cs typeface="思源黑体 CN Regular" panose="020B0500000000000000" charset="-122"/>
              </a:rPr>
              <a:t>(Figures and description) </a:t>
            </a:r>
            <a:r>
              <a:rPr lang="en-US" altLang="zh-CN" sz="1600" dirty="0" smtClean="0">
                <a:solidFill>
                  <a:srgbClr val="FF0000"/>
                </a:solidFill>
                <a:latin typeface="思源黑体 CN Regular" panose="020B0500000000000000" charset="-122"/>
                <a:ea typeface="思源黑体 CN Regular" panose="020B0500000000000000" charset="-122"/>
                <a:cs typeface="思源黑体 CN Regular" panose="020B0500000000000000" charset="-122"/>
              </a:rPr>
              <a:t>*</a:t>
            </a:r>
          </a:p>
          <a:p>
            <a:pPr>
              <a:lnSpc>
                <a:spcPct val="170000"/>
              </a:lnSpc>
              <a:spcBef>
                <a:spcPct val="0"/>
              </a:spcBef>
              <a:buNone/>
            </a:pPr>
            <a:r>
              <a:rPr lang="en-US" altLang="zh-CN" sz="1600" dirty="0" smtClean="0">
                <a:latin typeface="思源黑体 CN Regular" panose="020B0500000000000000" charset="-122"/>
                <a:ea typeface="思源黑体 CN Regular" panose="020B0500000000000000" charset="-122"/>
                <a:cs typeface="思源黑体 CN Regular" panose="020B0500000000000000" charset="-122"/>
              </a:rPr>
              <a:t>08.  </a:t>
            </a:r>
            <a:r>
              <a:rPr lang="zh-CN" altLang="en-US" sz="1600" dirty="0" smtClean="0">
                <a:latin typeface="思源黑体 CN Regular" panose="020B0500000000000000" charset="-122"/>
                <a:ea typeface="思源黑体 CN Regular" panose="020B0500000000000000" charset="-122"/>
                <a:cs typeface="思源黑体 CN Regular" panose="020B0500000000000000" charset="-122"/>
              </a:rPr>
              <a:t>缩略语 </a:t>
            </a:r>
            <a:r>
              <a:rPr lang="en-US" altLang="zh-CN" sz="1600" dirty="0">
                <a:latin typeface="思源黑体 CN Regular" panose="020B0500000000000000" charset="-122"/>
                <a:ea typeface="思源黑体 CN Regular" panose="020B0500000000000000" charset="-122"/>
                <a:cs typeface="思源黑体 CN Regular" panose="020B0500000000000000" charset="-122"/>
              </a:rPr>
              <a:t>(Description of the abbreviation) </a:t>
            </a:r>
          </a:p>
        </p:txBody>
      </p:sp>
      <p:sp>
        <p:nvSpPr>
          <p:cNvPr id="12" name="Freeform: Shape 3"/>
          <p:cNvSpPr/>
          <p:nvPr/>
        </p:nvSpPr>
        <p:spPr>
          <a:xfrm rot="5400000">
            <a:off x="0" y="1603844"/>
            <a:ext cx="5253946" cy="5253946"/>
          </a:xfrm>
          <a:custGeom>
            <a:avLst/>
            <a:gdLst>
              <a:gd name="connsiteX0" fmla="*/ 1220602 w 3879273"/>
              <a:gd name="connsiteY0" fmla="*/ 2641297 h 3879274"/>
              <a:gd name="connsiteX1" fmla="*/ 2768430 w 3879273"/>
              <a:gd name="connsiteY1" fmla="*/ 2641297 h 3879274"/>
              <a:gd name="connsiteX2" fmla="*/ 2768430 w 3879273"/>
              <a:gd name="connsiteY2" fmla="*/ 1093468 h 3879274"/>
              <a:gd name="connsiteX3" fmla="*/ 1220602 w 3879273"/>
              <a:gd name="connsiteY3" fmla="*/ 1093468 h 3879274"/>
              <a:gd name="connsiteX4" fmla="*/ 0 w 3879273"/>
              <a:gd name="connsiteY4" fmla="*/ 3879274 h 3879274"/>
              <a:gd name="connsiteX5" fmla="*/ 0 w 3879273"/>
              <a:gd name="connsiteY5" fmla="*/ 0 h 3879274"/>
              <a:gd name="connsiteX6" fmla="*/ 3879273 w 3879273"/>
              <a:gd name="connsiteY6" fmla="*/ 0 h 3879274"/>
              <a:gd name="connsiteX7" fmla="*/ 3879273 w 3879273"/>
              <a:gd name="connsiteY7" fmla="*/ 3879274 h 3879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79273" h="3879274">
                <a:moveTo>
                  <a:pt x="1220602" y="2641297"/>
                </a:moveTo>
                <a:lnTo>
                  <a:pt x="2768430" y="2641297"/>
                </a:lnTo>
                <a:lnTo>
                  <a:pt x="2768430" y="1093468"/>
                </a:lnTo>
                <a:lnTo>
                  <a:pt x="1220602" y="1093468"/>
                </a:lnTo>
                <a:close/>
                <a:moveTo>
                  <a:pt x="0" y="3879274"/>
                </a:moveTo>
                <a:lnTo>
                  <a:pt x="0" y="0"/>
                </a:lnTo>
                <a:lnTo>
                  <a:pt x="3879273" y="0"/>
                </a:lnTo>
                <a:lnTo>
                  <a:pt x="3879273" y="3879274"/>
                </a:lnTo>
                <a:close/>
              </a:path>
            </a:pathLst>
          </a:custGeom>
          <a:solidFill>
            <a:srgbClr val="005C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D" sz="895"/>
          </a:p>
        </p:txBody>
      </p:sp>
      <p:sp>
        <p:nvSpPr>
          <p:cNvPr id="14" name="Rectangle 13"/>
          <p:cNvSpPr>
            <a:spLocks noChangeArrowheads="1"/>
          </p:cNvSpPr>
          <p:nvPr/>
        </p:nvSpPr>
        <p:spPr bwMode="auto">
          <a:xfrm>
            <a:off x="7391751" y="5952352"/>
            <a:ext cx="1735502" cy="229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dist" eaLnBrk="1" hangingPunct="1"/>
            <a:r>
              <a:rPr lang="zh-CN" altLang="en-US" sz="900" b="1">
                <a:solidFill>
                  <a:srgbClr val="005CB9"/>
                </a:solidFill>
                <a:latin typeface="思源黑体 CN Light" panose="020B0300000000000000" charset="-122"/>
                <a:ea typeface="思源黑体 CN Light" panose="020B0300000000000000" charset="-122"/>
                <a:cs typeface="Arial" panose="020B0604020202020204" pitchFamily="34" charset="0"/>
              </a:rPr>
              <a:t>NEW JOURNEY</a:t>
            </a:r>
          </a:p>
        </p:txBody>
      </p:sp>
      <p:cxnSp>
        <p:nvCxnSpPr>
          <p:cNvPr id="15" name="Straight Connector 14"/>
          <p:cNvCxnSpPr/>
          <p:nvPr/>
        </p:nvCxnSpPr>
        <p:spPr>
          <a:xfrm>
            <a:off x="9127396" y="6073367"/>
            <a:ext cx="3064604"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sp>
        <p:nvSpPr>
          <p:cNvPr id="16" name="Rectangle 17"/>
          <p:cNvSpPr>
            <a:spLocks noChangeArrowheads="1"/>
          </p:cNvSpPr>
          <p:nvPr/>
        </p:nvSpPr>
        <p:spPr bwMode="auto">
          <a:xfrm>
            <a:off x="213360" y="2224405"/>
            <a:ext cx="4015105"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en-US" sz="3200" dirty="0" smtClean="0">
                <a:solidFill>
                  <a:schemeClr val="bg1"/>
                </a:solidFill>
                <a:latin typeface="Arial" panose="020B0604020202020204" pitchFamily="34" charset="0"/>
                <a:ea typeface="宋体" panose="02010600030101010101" pitchFamily="2" charset="-122"/>
                <a:cs typeface="Arial" panose="020B0604020202020204" pitchFamily="34" charset="0"/>
              </a:rPr>
              <a:t>交底书目录</a:t>
            </a:r>
            <a:endParaRPr lang="en-US" altLang="zh-CN" sz="3200" dirty="0" smtClean="0">
              <a:solidFill>
                <a:schemeClr val="bg1"/>
              </a:solidFill>
              <a:latin typeface="Arial" panose="020B0604020202020204" pitchFamily="34" charset="0"/>
              <a:ea typeface="宋体" panose="02010600030101010101" pitchFamily="2" charset="-122"/>
              <a:cs typeface="Arial" panose="020B0604020202020204" pitchFamily="34" charset="0"/>
            </a:endParaRPr>
          </a:p>
          <a:p>
            <a:pPr eaLnBrk="1" hangingPunct="1"/>
            <a:r>
              <a:rPr lang="en-US" altLang="zh-CN" sz="3200" dirty="0" smtClean="0">
                <a:solidFill>
                  <a:schemeClr val="bg1"/>
                </a:solidFill>
                <a:latin typeface="Arial" panose="020B0604020202020204" pitchFamily="34" charset="0"/>
                <a:ea typeface="宋体" panose="02010600030101010101" pitchFamily="2" charset="-122"/>
                <a:cs typeface="Arial" panose="020B0604020202020204" pitchFamily="34" charset="0"/>
              </a:rPr>
              <a:t>Patent Content</a:t>
            </a:r>
            <a:endParaRPr lang="zh-CN" altLang="en-US" dirty="0">
              <a:solidFill>
                <a:schemeClr val="bg1"/>
              </a:solidFill>
              <a:latin typeface="思源黑体 CN ExtraLight" panose="020B0200000000000000" charset="-122"/>
              <a:ea typeface="思源黑体 CN ExtraLight" panose="020B0200000000000000" charset="-122"/>
              <a:cs typeface="Arial" panose="020B0604020202020204" pitchFamily="34" charset="0"/>
            </a:endParaRPr>
          </a:p>
        </p:txBody>
      </p:sp>
      <p:pic>
        <p:nvPicPr>
          <p:cNvPr id="19" name="图片 18" descr="未标题-15464646"/>
          <p:cNvPicPr>
            <a:picLocks noChangeAspect="1"/>
          </p:cNvPicPr>
          <p:nvPr/>
        </p:nvPicPr>
        <p:blipFill>
          <a:blip r:embed="rId6"/>
          <a:srcRect r="44315" b="-12355"/>
          <a:stretch>
            <a:fillRect/>
          </a:stretch>
        </p:blipFill>
        <p:spPr>
          <a:xfrm>
            <a:off x="11765915" y="305435"/>
            <a:ext cx="426085" cy="184785"/>
          </a:xfrm>
          <a:prstGeom prst="rect">
            <a:avLst/>
          </a:prstGeom>
        </p:spPr>
      </p:pic>
      <p:pic>
        <p:nvPicPr>
          <p:cNvPr id="20" name="图片 19" descr="未标题-15464646"/>
          <p:cNvPicPr>
            <a:picLocks noChangeAspect="1"/>
          </p:cNvPicPr>
          <p:nvPr/>
        </p:nvPicPr>
        <p:blipFill>
          <a:blip r:embed="rId6"/>
          <a:srcRect r="44315" b="-12355"/>
          <a:stretch>
            <a:fillRect/>
          </a:stretch>
        </p:blipFill>
        <p:spPr>
          <a:xfrm flipH="1">
            <a:off x="0" y="305435"/>
            <a:ext cx="426085" cy="184785"/>
          </a:xfrm>
          <a:prstGeom prst="rect">
            <a:avLst/>
          </a:prstGeom>
        </p:spPr>
      </p:pic>
      <p:sp>
        <p:nvSpPr>
          <p:cNvPr id="23" name="灯片编号占位符 22"/>
          <p:cNvSpPr>
            <a:spLocks noGrp="1"/>
          </p:cNvSpPr>
          <p:nvPr>
            <p:ph type="sldNum" sz="quarter" idx="12"/>
          </p:nvPr>
        </p:nvSpPr>
        <p:spPr>
          <a:xfrm>
            <a:off x="9295765" y="6406515"/>
            <a:ext cx="2743200" cy="365125"/>
          </a:xfrm>
        </p:spPr>
        <p:txBody>
          <a:bodyPr/>
          <a:lstStyle/>
          <a:p>
            <a:fld id="{4085C35A-A984-384D-9063-286D40D760B5}" type="slidenum">
              <a:rPr kumimoji="1" lang="zh-CN" altLang="en-US" smtClean="0"/>
              <a:t>3</a:t>
            </a:fld>
            <a:endParaRPr kumimoji="1" lang="zh-CN" altLang="en-US"/>
          </a:p>
        </p:txBody>
      </p:sp>
      <p:sp>
        <p:nvSpPr>
          <p:cNvPr id="28" name="矩形 27"/>
          <p:cNvSpPr/>
          <p:nvPr/>
        </p:nvSpPr>
        <p:spPr>
          <a:xfrm>
            <a:off x="1676400" y="3256280"/>
            <a:ext cx="2099310" cy="2097405"/>
          </a:xfrm>
          <a:prstGeom prst="rect">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777"/>
          <p:cNvPicPr>
            <a:picLocks noChangeAspect="1"/>
          </p:cNvPicPr>
          <p:nvPr/>
        </p:nvPicPr>
        <p:blipFill>
          <a:blip r:embed="rId7"/>
          <a:stretch>
            <a:fillRect/>
          </a:stretch>
        </p:blipFill>
        <p:spPr>
          <a:xfrm>
            <a:off x="11775440" y="6451600"/>
            <a:ext cx="266065" cy="269875"/>
          </a:xfrm>
          <a:prstGeom prst="rect">
            <a:avLst/>
          </a:prstGeom>
        </p:spPr>
      </p:pic>
      <p:sp>
        <p:nvSpPr>
          <p:cNvPr id="3" name="TextBox 48"/>
          <p:cNvSpPr txBox="1"/>
          <p:nvPr/>
        </p:nvSpPr>
        <p:spPr>
          <a:xfrm>
            <a:off x="9461594" y="328577"/>
            <a:ext cx="2226277" cy="138499"/>
          </a:xfrm>
          <a:prstGeom prst="rect">
            <a:avLst/>
          </a:prstGeom>
          <a:noFill/>
        </p:spPr>
        <p:txBody>
          <a:bodyPr wrap="square" lIns="0" tIns="0" rIns="0" bIns="0" rtlCol="0">
            <a:spAutoFit/>
          </a:bodyPr>
          <a:lstStyle/>
          <a:p>
            <a:pPr algn="dist">
              <a:lnSpc>
                <a:spcPct val="100000"/>
              </a:lnSpc>
              <a:buClrTx/>
              <a:buSzTx/>
              <a:buFontTx/>
              <a:defRPr/>
            </a:pPr>
            <a:r>
              <a:rPr lang="en-US" altLang="zh-CN" sz="900" dirty="0" err="1">
                <a:solidFill>
                  <a:srgbClr val="005CB9"/>
                </a:solidFill>
                <a:latin typeface="思源黑体 CN Regular" panose="020B0500000000000000" charset="-122"/>
                <a:ea typeface="思源黑体 CN Regular" panose="020B0500000000000000" charset="-122"/>
                <a:cs typeface="Arial" panose="020B0604020202020204" pitchFamily="34" charset="0"/>
                <a:sym typeface="+mn-ea"/>
              </a:rPr>
              <a:t>ChangXin</a:t>
            </a:r>
            <a:r>
              <a:rPr lang="en-US" altLang="zh-CN" sz="900" dirty="0">
                <a:solidFill>
                  <a:srgbClr val="005CB9"/>
                </a:solidFill>
                <a:latin typeface="思源黑体 CN Regular" panose="020B0500000000000000" charset="-122"/>
                <a:ea typeface="思源黑体 CN Regular" panose="020B0500000000000000" charset="-122"/>
                <a:cs typeface="Arial" panose="020B0604020202020204" pitchFamily="34" charset="0"/>
                <a:sym typeface="+mn-ea"/>
              </a:rPr>
              <a:t> Memory Technologies, Inc.</a:t>
            </a:r>
            <a:endParaRPr lang="zh-CN" altLang="en-US" sz="900" dirty="0">
              <a:solidFill>
                <a:srgbClr val="005CB9"/>
              </a:solidFill>
              <a:latin typeface="思源黑体 CN Regular" panose="020B0500000000000000" charset="-122"/>
              <a:ea typeface="思源黑体 CN Regular" panose="020B0500000000000000" charset="-122"/>
              <a:cs typeface="Arial" panose="020B0604020202020204" pitchFamily="34" charset="0"/>
              <a:sym typeface="+mn-ea"/>
            </a:endParaRPr>
          </a:p>
        </p:txBody>
      </p:sp>
      <p:sp>
        <p:nvSpPr>
          <p:cNvPr id="17" name="TextBox 48"/>
          <p:cNvSpPr txBox="1"/>
          <p:nvPr/>
        </p:nvSpPr>
        <p:spPr>
          <a:xfrm>
            <a:off x="10667365" y="6514842"/>
            <a:ext cx="931194" cy="184666"/>
          </a:xfrm>
          <a:prstGeom prst="rect">
            <a:avLst/>
          </a:prstGeom>
          <a:noFill/>
        </p:spPr>
        <p:txBody>
          <a:bodyPr wrap="square" lIns="0" tIns="0" rIns="0" bIns="0" rtlCol="0">
            <a:spAutoFit/>
          </a:bodyPr>
          <a:lstStyle/>
          <a:p>
            <a:pPr>
              <a:lnSpc>
                <a:spcPct val="100000"/>
              </a:lnSpc>
              <a:buClrTx/>
              <a:buSzTx/>
              <a:buFontTx/>
              <a:defRPr/>
            </a:pPr>
            <a:r>
              <a:rPr lang="en-US" altLang="zh-CN" sz="12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a:t>
            </a:r>
            <a:r>
              <a:rPr lang="en-US" altLang="zh-CN" sz="1200" b="1" dirty="0" smtClean="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onfidential</a:t>
            </a:r>
            <a:endParaRPr lang="zh-CN" altLang="en-US" sz="1200" b="1" dirty="0" smtClean="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0" name="Straight Connector 10"/>
          <p:cNvCxnSpPr/>
          <p:nvPr/>
        </p:nvCxnSpPr>
        <p:spPr>
          <a:xfrm>
            <a:off x="0" y="789305"/>
            <a:ext cx="12200255" cy="0"/>
          </a:xfrm>
          <a:prstGeom prst="line">
            <a:avLst/>
          </a:prstGeom>
          <a:ln w="12700">
            <a:solidFill>
              <a:srgbClr val="005CB9"/>
            </a:solidFill>
          </a:ln>
        </p:spPr>
        <p:style>
          <a:lnRef idx="1">
            <a:schemeClr val="accent1"/>
          </a:lnRef>
          <a:fillRef idx="0">
            <a:schemeClr val="accent1"/>
          </a:fillRef>
          <a:effectRef idx="0">
            <a:schemeClr val="accent1"/>
          </a:effectRef>
          <a:fontRef idx="minor">
            <a:schemeClr val="tx1"/>
          </a:fontRef>
        </p:style>
      </p:cxnSp>
      <p:pic>
        <p:nvPicPr>
          <p:cNvPr id="126" name="图片 1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41489" y="322069"/>
            <a:ext cx="644388" cy="171837"/>
          </a:xfrm>
          <a:prstGeom prst="rect">
            <a:avLst/>
          </a:prstGeom>
        </p:spPr>
      </p:pic>
      <p:sp>
        <p:nvSpPr>
          <p:cNvPr id="5" name="矩形 4"/>
          <p:cNvSpPr/>
          <p:nvPr/>
        </p:nvSpPr>
        <p:spPr>
          <a:xfrm>
            <a:off x="389890" y="261620"/>
            <a:ext cx="480060" cy="292735"/>
          </a:xfrm>
          <a:prstGeom prst="rect">
            <a:avLst/>
          </a:prstGeom>
          <a:solidFill>
            <a:srgbClr val="005CB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dist">
              <a:lnSpc>
                <a:spcPct val="120000"/>
              </a:lnSpc>
            </a:pPr>
            <a:r>
              <a:rPr lang="en-US" altLang="zh-CN" sz="1200" dirty="0" smtClean="0">
                <a:latin typeface="思源黑体 CN Medium" panose="020B0600000000000000" charset="-122"/>
                <a:ea typeface="思源黑体 CN Medium" panose="020B0600000000000000" charset="-122"/>
                <a:cs typeface="Aparajita" panose="020B0604020202020204" pitchFamily="34" charset="0"/>
              </a:rPr>
              <a:t>1</a:t>
            </a:r>
          </a:p>
        </p:txBody>
      </p:sp>
      <p:pic>
        <p:nvPicPr>
          <p:cNvPr id="9" name="图片 8" descr="未标题-15464646"/>
          <p:cNvPicPr>
            <a:picLocks noChangeAspect="1"/>
          </p:cNvPicPr>
          <p:nvPr/>
        </p:nvPicPr>
        <p:blipFill>
          <a:blip r:embed="rId4"/>
          <a:srcRect r="44315" b="-12355"/>
          <a:stretch>
            <a:fillRect/>
          </a:stretch>
        </p:blipFill>
        <p:spPr>
          <a:xfrm>
            <a:off x="11765915" y="320675"/>
            <a:ext cx="426085" cy="184785"/>
          </a:xfrm>
          <a:prstGeom prst="rect">
            <a:avLst/>
          </a:prstGeom>
        </p:spPr>
      </p:pic>
      <p:sp>
        <p:nvSpPr>
          <p:cNvPr id="23" name="灯片编号占位符 22"/>
          <p:cNvSpPr>
            <a:spLocks noGrp="1"/>
          </p:cNvSpPr>
          <p:nvPr>
            <p:ph type="sldNum" sz="quarter" idx="12"/>
          </p:nvPr>
        </p:nvSpPr>
        <p:spPr>
          <a:xfrm>
            <a:off x="9295765" y="6406515"/>
            <a:ext cx="2743200" cy="365125"/>
          </a:xfrm>
        </p:spPr>
        <p:txBody>
          <a:bodyPr/>
          <a:lstStyle/>
          <a:p>
            <a:fld id="{4085C35A-A984-384D-9063-286D40D760B5}" type="slidenum">
              <a:rPr kumimoji="1" lang="zh-CN" altLang="en-US" smtClean="0"/>
              <a:t>4</a:t>
            </a:fld>
            <a:endParaRPr kumimoji="1" lang="zh-CN" altLang="en-US"/>
          </a:p>
        </p:txBody>
      </p:sp>
      <p:pic>
        <p:nvPicPr>
          <p:cNvPr id="15" name="图片 14" descr="777"/>
          <p:cNvPicPr>
            <a:picLocks noChangeAspect="1"/>
          </p:cNvPicPr>
          <p:nvPr/>
        </p:nvPicPr>
        <p:blipFill>
          <a:blip r:embed="rId5"/>
          <a:stretch>
            <a:fillRect/>
          </a:stretch>
        </p:blipFill>
        <p:spPr>
          <a:xfrm>
            <a:off x="11775440" y="6451600"/>
            <a:ext cx="266065" cy="269875"/>
          </a:xfrm>
          <a:prstGeom prst="rect">
            <a:avLst/>
          </a:prstGeom>
        </p:spPr>
      </p:pic>
      <p:sp>
        <p:nvSpPr>
          <p:cNvPr id="14" name="TextBox 48"/>
          <p:cNvSpPr txBox="1"/>
          <p:nvPr/>
        </p:nvSpPr>
        <p:spPr>
          <a:xfrm>
            <a:off x="389890" y="6535420"/>
            <a:ext cx="1775794" cy="107722"/>
          </a:xfrm>
          <a:prstGeom prst="rect">
            <a:avLst/>
          </a:prstGeom>
          <a:noFill/>
        </p:spPr>
        <p:txBody>
          <a:bodyPr wrap="square" lIns="0" tIns="0" rIns="0" bIns="0" rtlCol="0">
            <a:spAutoFit/>
          </a:bodyPr>
          <a:lstStyle/>
          <a:p>
            <a:pPr algn="dist">
              <a:lnSpc>
                <a:spcPct val="100000"/>
              </a:lnSpc>
              <a:buClrTx/>
              <a:buSzTx/>
              <a:buFontTx/>
              <a:defRPr/>
            </a:pPr>
            <a:r>
              <a:rPr lang="en-US" altLang="zh-CN" sz="700" b="1" dirty="0" err="1">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ChangXin</a:t>
            </a:r>
            <a:r>
              <a:rPr lang="en-US" altLang="zh-CN" sz="7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 Memory Technologies, Inc.</a:t>
            </a:r>
            <a:endParaRPr lang="zh-CN" altLang="en-US" sz="700" b="1" dirty="0" smtClean="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cxnSp>
        <p:nvCxnSpPr>
          <p:cNvPr id="16" name="Straight Connector 14"/>
          <p:cNvCxnSpPr/>
          <p:nvPr/>
        </p:nvCxnSpPr>
        <p:spPr>
          <a:xfrm>
            <a:off x="-94" y="6586447"/>
            <a:ext cx="30099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cxnSp>
        <p:nvCxnSpPr>
          <p:cNvPr id="18" name="Straight Connector 14"/>
          <p:cNvCxnSpPr/>
          <p:nvPr/>
        </p:nvCxnSpPr>
        <p:spPr>
          <a:xfrm>
            <a:off x="2233101" y="6589622"/>
            <a:ext cx="642366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sp>
        <p:nvSpPr>
          <p:cNvPr id="13" name="TextBox 48"/>
          <p:cNvSpPr txBox="1"/>
          <p:nvPr/>
        </p:nvSpPr>
        <p:spPr>
          <a:xfrm>
            <a:off x="10667365" y="6514842"/>
            <a:ext cx="931194" cy="184666"/>
          </a:xfrm>
          <a:prstGeom prst="rect">
            <a:avLst/>
          </a:prstGeom>
          <a:noFill/>
        </p:spPr>
        <p:txBody>
          <a:bodyPr wrap="square" lIns="0" tIns="0" rIns="0" bIns="0" rtlCol="0">
            <a:spAutoFit/>
          </a:bodyPr>
          <a:lstStyle/>
          <a:p>
            <a:pPr>
              <a:lnSpc>
                <a:spcPct val="100000"/>
              </a:lnSpc>
              <a:buClrTx/>
              <a:buSzTx/>
              <a:buFontTx/>
              <a:defRPr/>
            </a:pPr>
            <a:r>
              <a:rPr lang="en-US" altLang="zh-CN" sz="12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a:t>
            </a:r>
            <a:r>
              <a:rPr lang="en-US" altLang="zh-CN" sz="1200" b="1" dirty="0" smtClean="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onfidential</a:t>
            </a:r>
            <a:endParaRPr lang="zh-CN" altLang="en-US" sz="1200" b="1" dirty="0" smtClean="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sp>
        <p:nvSpPr>
          <p:cNvPr id="17" name="内容占位符 2"/>
          <p:cNvSpPr txBox="1">
            <a:spLocks/>
          </p:cNvSpPr>
          <p:nvPr/>
        </p:nvSpPr>
        <p:spPr>
          <a:xfrm>
            <a:off x="228600" y="1050925"/>
            <a:ext cx="11706726" cy="516664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nSpc>
                <a:spcPct val="150000"/>
              </a:lnSpc>
              <a:defRPr/>
            </a:pPr>
            <a:r>
              <a:rPr lang="zh-CN" altLang="en-US" sz="2000" dirty="0">
                <a:solidFill>
                  <a:sysClr val="windowText" lastClr="000000"/>
                </a:solidFill>
                <a:latin typeface="等线" panose="02010600030101010101" pitchFamily="2" charset="-122"/>
                <a:ea typeface="等线" panose="02010600030101010101" pitchFamily="2" charset="-122"/>
              </a:rPr>
              <a:t>本发明涉及</a:t>
            </a:r>
            <a:r>
              <a:rPr lang="en-US" altLang="zh-CN" sz="2000" dirty="0">
                <a:solidFill>
                  <a:sysClr val="windowText" lastClr="000000"/>
                </a:solidFill>
                <a:latin typeface="等线" panose="02010600030101010101" pitchFamily="2" charset="-122"/>
                <a:ea typeface="等线" panose="02010600030101010101" pitchFamily="2" charset="-122"/>
              </a:rPr>
              <a:t>(…</a:t>
            </a:r>
            <a:r>
              <a:rPr lang="zh-CN" altLang="en-US" sz="2000" dirty="0">
                <a:solidFill>
                  <a:sysClr val="windowText" lastClr="000000"/>
                </a:solidFill>
                <a:latin typeface="等线" panose="02010600030101010101" pitchFamily="2" charset="-122"/>
                <a:ea typeface="等线" panose="02010600030101010101" pitchFamily="2" charset="-122"/>
              </a:rPr>
              <a:t>一般领域</a:t>
            </a:r>
            <a:r>
              <a:rPr lang="en-US" altLang="zh-CN" sz="2000" dirty="0">
                <a:solidFill>
                  <a:sysClr val="windowText" lastClr="000000"/>
                </a:solidFill>
                <a:latin typeface="等线" panose="02010600030101010101" pitchFamily="2" charset="-122"/>
                <a:ea typeface="等线" panose="02010600030101010101" pitchFamily="2" charset="-122"/>
              </a:rPr>
              <a:t>)</a:t>
            </a:r>
            <a:r>
              <a:rPr lang="zh-CN" altLang="en-US" sz="2000" dirty="0">
                <a:solidFill>
                  <a:sysClr val="windowText" lastClr="000000"/>
                </a:solidFill>
                <a:latin typeface="等线" panose="02010600030101010101" pitchFamily="2" charset="-122"/>
                <a:ea typeface="等线" panose="02010600030101010101" pitchFamily="2" charset="-122"/>
              </a:rPr>
              <a:t>，特别涉及</a:t>
            </a:r>
            <a:r>
              <a:rPr lang="en-US" altLang="zh-CN" sz="2000" dirty="0">
                <a:solidFill>
                  <a:sysClr val="windowText" lastClr="000000"/>
                </a:solidFill>
                <a:latin typeface="等线" panose="02010600030101010101" pitchFamily="2" charset="-122"/>
                <a:ea typeface="等线" panose="02010600030101010101" pitchFamily="2" charset="-122"/>
              </a:rPr>
              <a:t>(…</a:t>
            </a:r>
            <a:r>
              <a:rPr lang="zh-CN" altLang="en-US" sz="2000" dirty="0">
                <a:solidFill>
                  <a:sysClr val="windowText" lastClr="000000"/>
                </a:solidFill>
                <a:latin typeface="等线" panose="02010600030101010101" pitchFamily="2" charset="-122"/>
                <a:ea typeface="等线" panose="02010600030101010101" pitchFamily="2" charset="-122"/>
              </a:rPr>
              <a:t>具体领域</a:t>
            </a:r>
            <a:r>
              <a:rPr lang="en-US" altLang="zh-CN" sz="2000" dirty="0">
                <a:solidFill>
                  <a:sysClr val="windowText" lastClr="000000"/>
                </a:solidFill>
                <a:latin typeface="等线" panose="02010600030101010101" pitchFamily="2" charset="-122"/>
                <a:ea typeface="等线" panose="02010600030101010101" pitchFamily="2" charset="-122"/>
              </a:rPr>
              <a:t>)</a:t>
            </a:r>
            <a:r>
              <a:rPr lang="zh-CN" altLang="en-US" sz="2000" dirty="0">
                <a:solidFill>
                  <a:sysClr val="windowText" lastClr="000000"/>
                </a:solidFill>
                <a:latin typeface="等线" panose="02010600030101010101" pitchFamily="2" charset="-122"/>
                <a:ea typeface="等线" panose="02010600030101010101" pitchFamily="2" charset="-122"/>
              </a:rPr>
              <a:t>，利用</a:t>
            </a:r>
            <a:r>
              <a:rPr lang="en-US" altLang="zh-CN" sz="2000" dirty="0">
                <a:solidFill>
                  <a:sysClr val="windowText" lastClr="000000"/>
                </a:solidFill>
                <a:latin typeface="等线" panose="02010600030101010101" pitchFamily="2" charset="-122"/>
                <a:ea typeface="等线" panose="02010600030101010101" pitchFamily="2" charset="-122"/>
              </a:rPr>
              <a:t>(…</a:t>
            </a:r>
            <a:r>
              <a:rPr lang="zh-CN" altLang="en-US" sz="2000" dirty="0">
                <a:solidFill>
                  <a:sysClr val="windowText" lastClr="000000"/>
                </a:solidFill>
                <a:latin typeface="等线" panose="02010600030101010101" pitchFamily="2" charset="-122"/>
                <a:ea typeface="等线" panose="02010600030101010101" pitchFamily="2" charset="-122"/>
              </a:rPr>
              <a:t>主要的技术手段</a:t>
            </a:r>
            <a:r>
              <a:rPr lang="en-US" altLang="zh-CN" sz="2000" dirty="0">
                <a:solidFill>
                  <a:sysClr val="windowText" lastClr="000000"/>
                </a:solidFill>
                <a:latin typeface="等线" panose="02010600030101010101" pitchFamily="2" charset="-122"/>
                <a:ea typeface="等线" panose="02010600030101010101" pitchFamily="2" charset="-122"/>
              </a:rPr>
              <a:t>)</a:t>
            </a:r>
            <a:r>
              <a:rPr lang="zh-CN" altLang="en-US" sz="2000" dirty="0">
                <a:solidFill>
                  <a:sysClr val="windowText" lastClr="000000"/>
                </a:solidFill>
                <a:latin typeface="等线" panose="02010600030101010101" pitchFamily="2" charset="-122"/>
                <a:ea typeface="等线" panose="02010600030101010101" pitchFamily="2" charset="-122"/>
              </a:rPr>
              <a:t>，应用于</a:t>
            </a:r>
            <a:r>
              <a:rPr lang="en-US" altLang="zh-CN" sz="2000" dirty="0">
                <a:solidFill>
                  <a:sysClr val="windowText" lastClr="000000"/>
                </a:solidFill>
                <a:latin typeface="等线" panose="02010600030101010101" pitchFamily="2" charset="-122"/>
                <a:ea typeface="等线" panose="02010600030101010101" pitchFamily="2" charset="-122"/>
              </a:rPr>
              <a:t>(…</a:t>
            </a:r>
            <a:r>
              <a:rPr lang="zh-CN" altLang="en-US" sz="2000" dirty="0">
                <a:solidFill>
                  <a:sysClr val="windowText" lastClr="000000"/>
                </a:solidFill>
                <a:latin typeface="等线" panose="02010600030101010101" pitchFamily="2" charset="-122"/>
                <a:ea typeface="等线" panose="02010600030101010101" pitchFamily="2" charset="-122"/>
              </a:rPr>
              <a:t>主要技术手段的作用效果</a:t>
            </a:r>
            <a:r>
              <a:rPr lang="en-US" altLang="zh-CN" sz="2000" dirty="0" smtClean="0">
                <a:solidFill>
                  <a:sysClr val="windowText" lastClr="000000"/>
                </a:solidFill>
                <a:latin typeface="等线" panose="02010600030101010101" pitchFamily="2" charset="-122"/>
                <a:ea typeface="等线" panose="02010600030101010101" pitchFamily="2" charset="-122"/>
              </a:rPr>
              <a:t>)</a:t>
            </a:r>
          </a:p>
          <a:p>
            <a:pPr lvl="0">
              <a:lnSpc>
                <a:spcPct val="150000"/>
              </a:lnSpc>
              <a:defRPr/>
            </a:pPr>
            <a:r>
              <a:rPr lang="en-US" altLang="zh-CN" sz="2000" dirty="0">
                <a:solidFill>
                  <a:sysClr val="windowText" lastClr="000000">
                    <a:lumMod val="95000"/>
                    <a:lumOff val="5000"/>
                  </a:sysClr>
                </a:solidFill>
                <a:latin typeface="Arial" panose="020B0604020202020204" pitchFamily="34" charset="0"/>
                <a:ea typeface="等线" panose="02010600030101010101" pitchFamily="2" charset="-122"/>
                <a:cs typeface="Arial" panose="020B0604020202020204" pitchFamily="34" charset="0"/>
              </a:rPr>
              <a:t>The invention is related to (…general field), especially to (…special field). By utilizing (…technical method), the invention can be applied in (…the invention effects through technical method</a:t>
            </a:r>
            <a:r>
              <a:rPr lang="en-US" altLang="zh-CN" sz="2000" dirty="0" smtClean="0">
                <a:solidFill>
                  <a:sysClr val="windowText" lastClr="000000">
                    <a:lumMod val="95000"/>
                    <a:lumOff val="5000"/>
                  </a:sysClr>
                </a:solidFill>
                <a:latin typeface="Arial" panose="020B0604020202020204" pitchFamily="34" charset="0"/>
                <a:ea typeface="等线" panose="02010600030101010101" pitchFamily="2" charset="-122"/>
                <a:cs typeface="Arial" panose="020B0604020202020204" pitchFamily="34" charset="0"/>
              </a:rPr>
              <a:t>).</a:t>
            </a:r>
            <a:endParaRPr lang="en-US" altLang="zh-CN" sz="2000" dirty="0">
              <a:solidFill>
                <a:sysClr val="windowText" lastClr="000000">
                  <a:lumMod val="95000"/>
                  <a:lumOff val="5000"/>
                </a:sysClr>
              </a:solidFill>
              <a:latin typeface="Arial" panose="020B0604020202020204" pitchFamily="34" charset="0"/>
              <a:ea typeface="等线" panose="02010600030101010101" pitchFamily="2" charset="-122"/>
              <a:cs typeface="Arial" panose="020B0604020202020204" pitchFamily="34" charset="0"/>
            </a:endParaRPr>
          </a:p>
        </p:txBody>
      </p:sp>
      <p:sp>
        <p:nvSpPr>
          <p:cNvPr id="19" name="TextBox 48"/>
          <p:cNvSpPr txBox="1"/>
          <p:nvPr/>
        </p:nvSpPr>
        <p:spPr>
          <a:xfrm>
            <a:off x="980440" y="223520"/>
            <a:ext cx="5006474" cy="369332"/>
          </a:xfrm>
          <a:prstGeom prst="rect">
            <a:avLst/>
          </a:prstGeom>
          <a:noFill/>
        </p:spPr>
        <p:txBody>
          <a:bodyPr wrap="square" lIns="0" tIns="0" rIns="0" bIns="0" rtlCol="0">
            <a:spAutoFit/>
          </a:bodyPr>
          <a:lstStyle/>
          <a:p>
            <a:pPr>
              <a:defRPr/>
            </a:pPr>
            <a:r>
              <a:rPr lang="zh-CN" altLang="en-US" sz="2400" dirty="0">
                <a:latin typeface="思源黑体 CN Regular" panose="020B0500000000000000" charset="-122"/>
                <a:ea typeface="思源黑体 CN Regular" panose="020B0500000000000000" charset="-122"/>
                <a:cs typeface="思源黑体 CN Bold" panose="020B0800000000000000" charset="-122"/>
                <a:sym typeface="+mn-ea"/>
              </a:rPr>
              <a:t>技术领域 </a:t>
            </a:r>
            <a:r>
              <a:rPr lang="en-US" altLang="zh-CN" sz="2400" dirty="0">
                <a:latin typeface="思源黑体 CN Regular" panose="020B0500000000000000" charset="-122"/>
                <a:ea typeface="思源黑体 CN Regular" panose="020B0500000000000000" charset="-122"/>
                <a:cs typeface="思源黑体 CN Bold" panose="020B0800000000000000" charset="-122"/>
                <a:sym typeface="+mn-ea"/>
              </a:rPr>
              <a:t>(Field) </a:t>
            </a:r>
            <a:r>
              <a:rPr lang="en-US" altLang="zh-CN" sz="2400" dirty="0" smtClean="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rPr>
              <a:t>*</a:t>
            </a:r>
            <a:endParaRPr lang="en-US" altLang="zh-CN" sz="2400" dirty="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endParaRPr>
          </a:p>
        </p:txBody>
      </p:sp>
    </p:spTree>
    <p:extLst>
      <p:ext uri="{BB962C8B-B14F-4D97-AF65-F5344CB8AC3E}">
        <p14:creationId xmlns:p14="http://schemas.microsoft.com/office/powerpoint/2010/main" val="15275737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0" name="Straight Connector 10"/>
          <p:cNvCxnSpPr/>
          <p:nvPr/>
        </p:nvCxnSpPr>
        <p:spPr>
          <a:xfrm>
            <a:off x="0" y="789305"/>
            <a:ext cx="12200255" cy="0"/>
          </a:xfrm>
          <a:prstGeom prst="line">
            <a:avLst/>
          </a:prstGeom>
          <a:ln w="12700">
            <a:solidFill>
              <a:srgbClr val="005CB9"/>
            </a:solidFill>
          </a:ln>
        </p:spPr>
        <p:style>
          <a:lnRef idx="1">
            <a:schemeClr val="accent1"/>
          </a:lnRef>
          <a:fillRef idx="0">
            <a:schemeClr val="accent1"/>
          </a:fillRef>
          <a:effectRef idx="0">
            <a:schemeClr val="accent1"/>
          </a:effectRef>
          <a:fontRef idx="minor">
            <a:schemeClr val="tx1"/>
          </a:fontRef>
        </p:style>
      </p:cxnSp>
      <p:pic>
        <p:nvPicPr>
          <p:cNvPr id="126" name="图片 1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41489" y="322069"/>
            <a:ext cx="644388" cy="171837"/>
          </a:xfrm>
          <a:prstGeom prst="rect">
            <a:avLst/>
          </a:prstGeom>
        </p:spPr>
      </p:pic>
      <p:sp>
        <p:nvSpPr>
          <p:cNvPr id="5" name="矩形 4"/>
          <p:cNvSpPr/>
          <p:nvPr/>
        </p:nvSpPr>
        <p:spPr>
          <a:xfrm>
            <a:off x="389890" y="261620"/>
            <a:ext cx="480060" cy="292735"/>
          </a:xfrm>
          <a:prstGeom prst="rect">
            <a:avLst/>
          </a:prstGeom>
          <a:solidFill>
            <a:srgbClr val="005CB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dist">
              <a:lnSpc>
                <a:spcPct val="120000"/>
              </a:lnSpc>
            </a:pPr>
            <a:r>
              <a:rPr lang="en-US" altLang="zh-CN" sz="1200" dirty="0">
                <a:latin typeface="思源黑体 CN Medium" panose="020B0600000000000000" charset="-122"/>
                <a:ea typeface="思源黑体 CN Medium" panose="020B0600000000000000" charset="-122"/>
                <a:cs typeface="Aparajita" panose="020B0604020202020204" pitchFamily="34" charset="0"/>
              </a:rPr>
              <a:t>2</a:t>
            </a:r>
            <a:endParaRPr lang="en-US" altLang="zh-CN" sz="1200" dirty="0" smtClean="0">
              <a:latin typeface="思源黑体 CN Medium" panose="020B0600000000000000" charset="-122"/>
              <a:ea typeface="思源黑体 CN Medium" panose="020B0600000000000000" charset="-122"/>
              <a:cs typeface="Aparajita" panose="020B0604020202020204" pitchFamily="34" charset="0"/>
            </a:endParaRPr>
          </a:p>
        </p:txBody>
      </p:sp>
      <p:sp>
        <p:nvSpPr>
          <p:cNvPr id="7" name="TextBox 48"/>
          <p:cNvSpPr txBox="1"/>
          <p:nvPr/>
        </p:nvSpPr>
        <p:spPr>
          <a:xfrm>
            <a:off x="980440" y="223520"/>
            <a:ext cx="4186555" cy="369332"/>
          </a:xfrm>
          <a:prstGeom prst="rect">
            <a:avLst/>
          </a:prstGeom>
          <a:noFill/>
        </p:spPr>
        <p:txBody>
          <a:bodyPr wrap="square" lIns="0" tIns="0" rIns="0" bIns="0" rtlCol="0">
            <a:spAutoFit/>
          </a:bodyPr>
          <a:lstStyle/>
          <a:p>
            <a:pPr>
              <a:defRPr/>
            </a:pPr>
            <a:r>
              <a:rPr lang="zh-CN" altLang="en-US" sz="2400" dirty="0">
                <a:latin typeface="思源黑体 CN Regular" panose="020B0500000000000000" charset="-122"/>
                <a:ea typeface="思源黑体 CN Regular" panose="020B0500000000000000" charset="-122"/>
                <a:cs typeface="思源黑体 CN Bold" panose="020B0800000000000000" charset="-122"/>
                <a:sym typeface="+mn-ea"/>
              </a:rPr>
              <a:t>先前技术 </a:t>
            </a:r>
            <a:r>
              <a:rPr lang="en-US" altLang="zh-CN" sz="2400" dirty="0">
                <a:latin typeface="思源黑体 CN Regular" panose="020B0500000000000000" charset="-122"/>
                <a:ea typeface="思源黑体 CN Regular" panose="020B0500000000000000" charset="-122"/>
                <a:cs typeface="思源黑体 CN Bold" panose="020B0800000000000000" charset="-122"/>
                <a:sym typeface="+mn-ea"/>
              </a:rPr>
              <a:t>(Related prior art) </a:t>
            </a:r>
            <a:r>
              <a:rPr lang="en-US" altLang="zh-CN" sz="2400" dirty="0" smtClean="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rPr>
              <a:t>*</a:t>
            </a:r>
            <a:endParaRPr lang="en-US" altLang="zh-CN" sz="2400" dirty="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endParaRPr>
          </a:p>
        </p:txBody>
      </p:sp>
      <p:pic>
        <p:nvPicPr>
          <p:cNvPr id="9" name="图片 8" descr="未标题-15464646"/>
          <p:cNvPicPr>
            <a:picLocks noChangeAspect="1"/>
          </p:cNvPicPr>
          <p:nvPr/>
        </p:nvPicPr>
        <p:blipFill>
          <a:blip r:embed="rId4"/>
          <a:srcRect r="44315" b="-12355"/>
          <a:stretch>
            <a:fillRect/>
          </a:stretch>
        </p:blipFill>
        <p:spPr>
          <a:xfrm>
            <a:off x="11765915" y="320675"/>
            <a:ext cx="426085" cy="184785"/>
          </a:xfrm>
          <a:prstGeom prst="rect">
            <a:avLst/>
          </a:prstGeom>
        </p:spPr>
      </p:pic>
      <p:sp>
        <p:nvSpPr>
          <p:cNvPr id="23" name="灯片编号占位符 22"/>
          <p:cNvSpPr>
            <a:spLocks noGrp="1"/>
          </p:cNvSpPr>
          <p:nvPr>
            <p:ph type="sldNum" sz="quarter" idx="12"/>
          </p:nvPr>
        </p:nvSpPr>
        <p:spPr>
          <a:xfrm>
            <a:off x="9295765" y="6406515"/>
            <a:ext cx="2743200" cy="365125"/>
          </a:xfrm>
        </p:spPr>
        <p:txBody>
          <a:bodyPr/>
          <a:lstStyle/>
          <a:p>
            <a:fld id="{4085C35A-A984-384D-9063-286D40D760B5}" type="slidenum">
              <a:rPr kumimoji="1" lang="zh-CN" altLang="en-US" smtClean="0"/>
              <a:t>5</a:t>
            </a:fld>
            <a:endParaRPr kumimoji="1" lang="zh-CN" altLang="en-US"/>
          </a:p>
        </p:txBody>
      </p:sp>
      <p:pic>
        <p:nvPicPr>
          <p:cNvPr id="15" name="图片 14" descr="777"/>
          <p:cNvPicPr>
            <a:picLocks noChangeAspect="1"/>
          </p:cNvPicPr>
          <p:nvPr/>
        </p:nvPicPr>
        <p:blipFill>
          <a:blip r:embed="rId5"/>
          <a:stretch>
            <a:fillRect/>
          </a:stretch>
        </p:blipFill>
        <p:spPr>
          <a:xfrm>
            <a:off x="11775440" y="6451600"/>
            <a:ext cx="266065" cy="269875"/>
          </a:xfrm>
          <a:prstGeom prst="rect">
            <a:avLst/>
          </a:prstGeom>
        </p:spPr>
      </p:pic>
      <p:sp>
        <p:nvSpPr>
          <p:cNvPr id="14" name="TextBox 48"/>
          <p:cNvSpPr txBox="1"/>
          <p:nvPr/>
        </p:nvSpPr>
        <p:spPr>
          <a:xfrm>
            <a:off x="389890" y="6535420"/>
            <a:ext cx="1775794" cy="107722"/>
          </a:xfrm>
          <a:prstGeom prst="rect">
            <a:avLst/>
          </a:prstGeom>
          <a:noFill/>
        </p:spPr>
        <p:txBody>
          <a:bodyPr wrap="square" lIns="0" tIns="0" rIns="0" bIns="0" rtlCol="0">
            <a:spAutoFit/>
          </a:bodyPr>
          <a:lstStyle/>
          <a:p>
            <a:pPr algn="dist">
              <a:lnSpc>
                <a:spcPct val="100000"/>
              </a:lnSpc>
              <a:buClrTx/>
              <a:buSzTx/>
              <a:buFontTx/>
              <a:defRPr/>
            </a:pPr>
            <a:r>
              <a:rPr lang="en-US" altLang="zh-CN" sz="700" b="1" dirty="0" err="1">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ChangXin</a:t>
            </a:r>
            <a:r>
              <a:rPr lang="en-US" altLang="zh-CN" sz="7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 Memory Technologies, Inc.</a:t>
            </a:r>
            <a:endParaRPr lang="zh-CN" altLang="en-US" sz="700" b="1" dirty="0" smtClean="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cxnSp>
        <p:nvCxnSpPr>
          <p:cNvPr id="16" name="Straight Connector 14"/>
          <p:cNvCxnSpPr/>
          <p:nvPr/>
        </p:nvCxnSpPr>
        <p:spPr>
          <a:xfrm>
            <a:off x="-94" y="6586447"/>
            <a:ext cx="30099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cxnSp>
        <p:nvCxnSpPr>
          <p:cNvPr id="18" name="Straight Connector 14"/>
          <p:cNvCxnSpPr/>
          <p:nvPr/>
        </p:nvCxnSpPr>
        <p:spPr>
          <a:xfrm>
            <a:off x="2233101" y="6589622"/>
            <a:ext cx="642366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sp>
        <p:nvSpPr>
          <p:cNvPr id="12" name="内容占位符 2"/>
          <p:cNvSpPr txBox="1">
            <a:spLocks/>
          </p:cNvSpPr>
          <p:nvPr/>
        </p:nvSpPr>
        <p:spPr>
          <a:xfrm>
            <a:off x="228600" y="1050926"/>
            <a:ext cx="11716352" cy="5235382"/>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nSpc>
                <a:spcPct val="150000"/>
              </a:lnSpc>
              <a:defRPr/>
            </a:pPr>
            <a:r>
              <a:rPr lang="zh-CN" altLang="en-US" sz="2000" dirty="0" smtClean="0">
                <a:solidFill>
                  <a:sysClr val="windowText" lastClr="000000">
                    <a:lumMod val="95000"/>
                    <a:lumOff val="5000"/>
                  </a:sysClr>
                </a:solidFill>
                <a:latin typeface="arial" panose="020B0604020202020204" pitchFamily="34" charset="0"/>
                <a:ea typeface="等线" panose="02010600030101010101" pitchFamily="2" charset="-122"/>
                <a:cs typeface="arial" panose="020B0604020202020204" pitchFamily="34" charset="0"/>
              </a:rPr>
              <a:t>清楚</a:t>
            </a:r>
            <a:r>
              <a:rPr lang="zh-CN" altLang="en-US" sz="2000" dirty="0">
                <a:solidFill>
                  <a:sysClr val="windowText" lastClr="000000">
                    <a:lumMod val="95000"/>
                    <a:lumOff val="5000"/>
                  </a:sysClr>
                </a:solidFill>
                <a:latin typeface="arial" panose="020B0604020202020204" pitchFamily="34" charset="0"/>
                <a:ea typeface="等线" panose="02010600030101010101" pitchFamily="2" charset="-122"/>
                <a:cs typeface="arial" panose="020B0604020202020204" pitchFamily="34" charset="0"/>
              </a:rPr>
              <a:t>介绍本发明背景技术以及主要的先前技术。</a:t>
            </a:r>
            <a:r>
              <a:rPr lang="en-US" altLang="zh-CN" sz="2000" dirty="0">
                <a:solidFill>
                  <a:sysClr val="windowText" lastClr="000000">
                    <a:lumMod val="95000"/>
                    <a:lumOff val="5000"/>
                  </a:sysClr>
                </a:solidFill>
                <a:latin typeface="arial" panose="020B0604020202020204" pitchFamily="34" charset="0"/>
                <a:ea typeface="等线" panose="02010600030101010101" pitchFamily="2" charset="-122"/>
                <a:cs typeface="arial" panose="020B0604020202020204" pitchFamily="34" charset="0"/>
              </a:rPr>
              <a:t>Please describe the background of technology and the major prior art. </a:t>
            </a:r>
          </a:p>
          <a:p>
            <a:pPr marL="228600" marR="0" lvl="0" indent="-228600" algn="l" defTabSz="914400" rtl="0" eaLnBrk="0" fontAlgn="base" latinLnBrk="0" hangingPunct="0">
              <a:lnSpc>
                <a:spcPct val="150000"/>
              </a:lnSpc>
              <a:spcBef>
                <a:spcPts val="1000"/>
              </a:spcBef>
              <a:spcAft>
                <a:spcPct val="0"/>
              </a:spcAft>
              <a:buClrTx/>
              <a:buSzTx/>
              <a:buFont typeface="Arial" panose="020B0604020202020204" pitchFamily="34" charset="0"/>
              <a:buChar char="•"/>
              <a:tabLst/>
              <a:defRPr/>
            </a:pPr>
            <a:endParaRPr kumimoji="0" lang="en-US" altLang="zh-CN" sz="2000" b="0" i="0" u="none" strike="noStrike" kern="1200" cap="none" spc="0" normalizeH="0" baseline="0" noProof="0" dirty="0">
              <a:ln>
                <a:noFill/>
              </a:ln>
              <a:solidFill>
                <a:sysClr val="windowText" lastClr="000000">
                  <a:lumMod val="95000"/>
                  <a:lumOff val="5000"/>
                </a:sysClr>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3" name="TextBox 48"/>
          <p:cNvSpPr txBox="1"/>
          <p:nvPr/>
        </p:nvSpPr>
        <p:spPr>
          <a:xfrm>
            <a:off x="10667365" y="6514842"/>
            <a:ext cx="931194" cy="184666"/>
          </a:xfrm>
          <a:prstGeom prst="rect">
            <a:avLst/>
          </a:prstGeom>
          <a:noFill/>
        </p:spPr>
        <p:txBody>
          <a:bodyPr wrap="square" lIns="0" tIns="0" rIns="0" bIns="0" rtlCol="0">
            <a:spAutoFit/>
          </a:bodyPr>
          <a:lstStyle/>
          <a:p>
            <a:pPr>
              <a:lnSpc>
                <a:spcPct val="100000"/>
              </a:lnSpc>
              <a:buClrTx/>
              <a:buSzTx/>
              <a:buFontTx/>
              <a:defRPr/>
            </a:pPr>
            <a:r>
              <a:rPr lang="en-US" altLang="zh-CN" sz="12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a:t>
            </a:r>
            <a:r>
              <a:rPr lang="en-US" altLang="zh-CN" sz="1200" b="1" dirty="0" smtClean="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onfidential</a:t>
            </a:r>
            <a:endParaRPr lang="zh-CN" altLang="en-US" sz="1200" b="1" dirty="0" smtClean="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spTree>
    <p:extLst>
      <p:ext uri="{BB962C8B-B14F-4D97-AF65-F5344CB8AC3E}">
        <p14:creationId xmlns:p14="http://schemas.microsoft.com/office/powerpoint/2010/main" val="4342826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0" name="Straight Connector 10"/>
          <p:cNvCxnSpPr/>
          <p:nvPr/>
        </p:nvCxnSpPr>
        <p:spPr>
          <a:xfrm>
            <a:off x="0" y="789305"/>
            <a:ext cx="12200255" cy="0"/>
          </a:xfrm>
          <a:prstGeom prst="line">
            <a:avLst/>
          </a:prstGeom>
          <a:ln w="12700">
            <a:solidFill>
              <a:srgbClr val="005CB9"/>
            </a:solidFill>
          </a:ln>
        </p:spPr>
        <p:style>
          <a:lnRef idx="1">
            <a:schemeClr val="accent1"/>
          </a:lnRef>
          <a:fillRef idx="0">
            <a:schemeClr val="accent1"/>
          </a:fillRef>
          <a:effectRef idx="0">
            <a:schemeClr val="accent1"/>
          </a:effectRef>
          <a:fontRef idx="minor">
            <a:schemeClr val="tx1"/>
          </a:fontRef>
        </p:style>
      </p:cxnSp>
      <p:pic>
        <p:nvPicPr>
          <p:cNvPr id="126" name="图片 1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41489" y="322069"/>
            <a:ext cx="644388" cy="171837"/>
          </a:xfrm>
          <a:prstGeom prst="rect">
            <a:avLst/>
          </a:prstGeom>
        </p:spPr>
      </p:pic>
      <p:sp>
        <p:nvSpPr>
          <p:cNvPr id="5" name="矩形 4"/>
          <p:cNvSpPr/>
          <p:nvPr/>
        </p:nvSpPr>
        <p:spPr>
          <a:xfrm>
            <a:off x="389890" y="261620"/>
            <a:ext cx="480060" cy="292735"/>
          </a:xfrm>
          <a:prstGeom prst="rect">
            <a:avLst/>
          </a:prstGeom>
          <a:solidFill>
            <a:srgbClr val="005CB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dist">
              <a:lnSpc>
                <a:spcPct val="120000"/>
              </a:lnSpc>
            </a:pPr>
            <a:r>
              <a:rPr lang="en-US" altLang="zh-CN" sz="1200" dirty="0" smtClean="0">
                <a:latin typeface="思源黑体 CN Medium" panose="020B0600000000000000" charset="-122"/>
                <a:ea typeface="思源黑体 CN Medium" panose="020B0600000000000000" charset="-122"/>
                <a:cs typeface="Aparajita" panose="020B0604020202020204" pitchFamily="34" charset="0"/>
              </a:rPr>
              <a:t>3</a:t>
            </a:r>
          </a:p>
        </p:txBody>
      </p:sp>
      <p:sp>
        <p:nvSpPr>
          <p:cNvPr id="7" name="TextBox 48"/>
          <p:cNvSpPr txBox="1"/>
          <p:nvPr/>
        </p:nvSpPr>
        <p:spPr>
          <a:xfrm>
            <a:off x="980440" y="223520"/>
            <a:ext cx="6575392" cy="369332"/>
          </a:xfrm>
          <a:prstGeom prst="rect">
            <a:avLst/>
          </a:prstGeom>
          <a:noFill/>
        </p:spPr>
        <p:txBody>
          <a:bodyPr wrap="square" lIns="0" tIns="0" rIns="0" bIns="0" rtlCol="0">
            <a:spAutoFit/>
          </a:bodyPr>
          <a:lstStyle/>
          <a:p>
            <a:pPr>
              <a:defRPr/>
            </a:pPr>
            <a:r>
              <a:rPr lang="zh-CN" altLang="en-US" sz="2400" dirty="0">
                <a:latin typeface="思源黑体 CN Regular" panose="020B0500000000000000" charset="-122"/>
                <a:ea typeface="思源黑体 CN Regular" panose="020B0500000000000000" charset="-122"/>
                <a:cs typeface="思源黑体 CN Bold" panose="020B0800000000000000" charset="-122"/>
                <a:sym typeface="+mn-ea"/>
              </a:rPr>
              <a:t>发明目的与技术问题 </a:t>
            </a:r>
            <a:r>
              <a:rPr lang="en-US" altLang="zh-CN" sz="2400" dirty="0">
                <a:latin typeface="思源黑体 CN Regular" panose="020B0500000000000000" charset="-122"/>
                <a:ea typeface="思源黑体 CN Regular" panose="020B0500000000000000" charset="-122"/>
                <a:cs typeface="思源黑体 CN Bold" panose="020B0800000000000000" charset="-122"/>
                <a:sym typeface="+mn-ea"/>
              </a:rPr>
              <a:t>(Motivation &amp; challenge) </a:t>
            </a:r>
            <a:r>
              <a:rPr lang="en-US" altLang="zh-CN" sz="2400" dirty="0" smtClean="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rPr>
              <a:t>*</a:t>
            </a:r>
            <a:endParaRPr lang="en-US" altLang="zh-CN" sz="2400" dirty="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endParaRPr>
          </a:p>
        </p:txBody>
      </p:sp>
      <p:pic>
        <p:nvPicPr>
          <p:cNvPr id="9" name="图片 8" descr="未标题-15464646"/>
          <p:cNvPicPr>
            <a:picLocks noChangeAspect="1"/>
          </p:cNvPicPr>
          <p:nvPr/>
        </p:nvPicPr>
        <p:blipFill>
          <a:blip r:embed="rId4"/>
          <a:srcRect r="44315" b="-12355"/>
          <a:stretch>
            <a:fillRect/>
          </a:stretch>
        </p:blipFill>
        <p:spPr>
          <a:xfrm>
            <a:off x="11765915" y="320675"/>
            <a:ext cx="426085" cy="184785"/>
          </a:xfrm>
          <a:prstGeom prst="rect">
            <a:avLst/>
          </a:prstGeom>
        </p:spPr>
      </p:pic>
      <p:sp>
        <p:nvSpPr>
          <p:cNvPr id="23" name="灯片编号占位符 22"/>
          <p:cNvSpPr>
            <a:spLocks noGrp="1"/>
          </p:cNvSpPr>
          <p:nvPr>
            <p:ph type="sldNum" sz="quarter" idx="12"/>
          </p:nvPr>
        </p:nvSpPr>
        <p:spPr>
          <a:xfrm>
            <a:off x="9295765" y="6406515"/>
            <a:ext cx="2743200" cy="365125"/>
          </a:xfrm>
        </p:spPr>
        <p:txBody>
          <a:bodyPr/>
          <a:lstStyle/>
          <a:p>
            <a:fld id="{4085C35A-A984-384D-9063-286D40D760B5}" type="slidenum">
              <a:rPr kumimoji="1" lang="zh-CN" altLang="en-US" smtClean="0"/>
              <a:t>6</a:t>
            </a:fld>
            <a:endParaRPr kumimoji="1" lang="zh-CN" altLang="en-US"/>
          </a:p>
        </p:txBody>
      </p:sp>
      <p:pic>
        <p:nvPicPr>
          <p:cNvPr id="15" name="图片 14" descr="777"/>
          <p:cNvPicPr>
            <a:picLocks noChangeAspect="1"/>
          </p:cNvPicPr>
          <p:nvPr/>
        </p:nvPicPr>
        <p:blipFill>
          <a:blip r:embed="rId5"/>
          <a:stretch>
            <a:fillRect/>
          </a:stretch>
        </p:blipFill>
        <p:spPr>
          <a:xfrm>
            <a:off x="11775440" y="6451600"/>
            <a:ext cx="266065" cy="269875"/>
          </a:xfrm>
          <a:prstGeom prst="rect">
            <a:avLst/>
          </a:prstGeom>
        </p:spPr>
      </p:pic>
      <p:sp>
        <p:nvSpPr>
          <p:cNvPr id="14" name="TextBox 48"/>
          <p:cNvSpPr txBox="1"/>
          <p:nvPr/>
        </p:nvSpPr>
        <p:spPr>
          <a:xfrm>
            <a:off x="389890" y="6535420"/>
            <a:ext cx="1775794" cy="107722"/>
          </a:xfrm>
          <a:prstGeom prst="rect">
            <a:avLst/>
          </a:prstGeom>
          <a:noFill/>
        </p:spPr>
        <p:txBody>
          <a:bodyPr wrap="square" lIns="0" tIns="0" rIns="0" bIns="0" rtlCol="0">
            <a:spAutoFit/>
          </a:bodyPr>
          <a:lstStyle/>
          <a:p>
            <a:pPr algn="dist">
              <a:lnSpc>
                <a:spcPct val="100000"/>
              </a:lnSpc>
              <a:buClrTx/>
              <a:buSzTx/>
              <a:buFontTx/>
              <a:defRPr/>
            </a:pPr>
            <a:r>
              <a:rPr lang="en-US" altLang="zh-CN" sz="700" b="1" dirty="0" err="1">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ChangXin</a:t>
            </a:r>
            <a:r>
              <a:rPr lang="en-US" altLang="zh-CN" sz="7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 Memory Technologies, Inc.</a:t>
            </a:r>
            <a:endParaRPr lang="zh-CN" altLang="en-US" sz="700" b="1" dirty="0" smtClean="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cxnSp>
        <p:nvCxnSpPr>
          <p:cNvPr id="16" name="Straight Connector 14"/>
          <p:cNvCxnSpPr/>
          <p:nvPr/>
        </p:nvCxnSpPr>
        <p:spPr>
          <a:xfrm>
            <a:off x="-94" y="6586447"/>
            <a:ext cx="30099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cxnSp>
        <p:nvCxnSpPr>
          <p:cNvPr id="18" name="Straight Connector 14"/>
          <p:cNvCxnSpPr/>
          <p:nvPr/>
        </p:nvCxnSpPr>
        <p:spPr>
          <a:xfrm>
            <a:off x="2233101" y="6589622"/>
            <a:ext cx="642366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sp>
        <p:nvSpPr>
          <p:cNvPr id="12" name="内容占位符 2"/>
          <p:cNvSpPr txBox="1">
            <a:spLocks/>
          </p:cNvSpPr>
          <p:nvPr/>
        </p:nvSpPr>
        <p:spPr>
          <a:xfrm>
            <a:off x="228599" y="1050926"/>
            <a:ext cx="11810365" cy="5235382"/>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nSpc>
                <a:spcPct val="150000"/>
              </a:lnSpc>
              <a:defRPr/>
            </a:pPr>
            <a:r>
              <a:rPr lang="zh-CN" altLang="en-US" sz="2000" dirty="0" smtClean="0">
                <a:solidFill>
                  <a:sysClr val="windowText" lastClr="000000"/>
                </a:solidFill>
                <a:latin typeface="arial" panose="020B0604020202020204" pitchFamily="34" charset="0"/>
                <a:ea typeface="等线" panose="02010600030101010101" pitchFamily="2" charset="-122"/>
                <a:cs typeface="arial" panose="020B0604020202020204" pitchFamily="34" charset="0"/>
              </a:rPr>
              <a:t>说明</a:t>
            </a:r>
            <a:r>
              <a:rPr lang="zh-CN" altLang="en-US" sz="20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发明的</a:t>
            </a:r>
            <a:r>
              <a:rPr lang="zh-CN" altLang="en-US" sz="2000" dirty="0" smtClean="0">
                <a:solidFill>
                  <a:sysClr val="windowText" lastClr="000000"/>
                </a:solidFill>
                <a:latin typeface="arial" panose="020B0604020202020204" pitchFamily="34" charset="0"/>
                <a:ea typeface="等线" panose="02010600030101010101" pitchFamily="2" charset="-122"/>
                <a:cs typeface="arial" panose="020B0604020202020204" pitchFamily="34" charset="0"/>
              </a:rPr>
              <a:t>动机 </a:t>
            </a:r>
            <a:r>
              <a:rPr kumimoji="0" lang="en-US" altLang="zh-CN" sz="2000" b="0" i="0" u="none" strike="noStrike" kern="1200" cap="none" spc="0" normalizeH="0" baseline="0" noProof="0" dirty="0" smtClean="0">
                <a:ln>
                  <a:noFill/>
                </a:ln>
                <a:solidFill>
                  <a:sysClr val="windowText" lastClr="000000"/>
                </a:solidFill>
                <a:effectLst/>
                <a:uLnTx/>
                <a:uFillTx/>
                <a:latin typeface="arial" panose="020B0604020202020204" pitchFamily="34" charset="0"/>
                <a:ea typeface="等线" panose="02010600030101010101" pitchFamily="2" charset="-122"/>
                <a:cs typeface="arial" panose="020B0604020202020204" pitchFamily="34" charset="0"/>
              </a:rPr>
              <a:t>Description of the motivation of invention</a:t>
            </a:r>
          </a:p>
          <a:p>
            <a:pPr marL="228600" marR="0" lvl="0" indent="-228600" algn="l" defTabSz="914400" rtl="0" eaLnBrk="0" fontAlgn="base" latinLnBrk="0" hangingPunct="0">
              <a:lnSpc>
                <a:spcPct val="150000"/>
              </a:lnSpc>
              <a:spcBef>
                <a:spcPts val="1000"/>
              </a:spcBef>
              <a:spcAft>
                <a:spcPct val="0"/>
              </a:spcAft>
              <a:buClrTx/>
              <a:buSzTx/>
              <a:buFont typeface="Arial" panose="020B0604020202020204" pitchFamily="34" charset="0"/>
              <a:buChar char="•"/>
              <a:tabLst/>
              <a:defRPr/>
            </a:pPr>
            <a:r>
              <a:rPr kumimoji="0" lang="zh-CN" altLang="en-US" sz="2000" b="0" i="0" u="none" strike="noStrike" kern="1200" cap="none" spc="0" normalizeH="0" baseline="0" noProof="0" dirty="0" smtClean="0">
                <a:ln>
                  <a:noFill/>
                </a:ln>
                <a:solidFill>
                  <a:sysClr val="windowText" lastClr="000000">
                    <a:lumMod val="95000"/>
                    <a:lumOff val="5000"/>
                  </a:sysClr>
                </a:solidFill>
                <a:effectLst/>
                <a:uLnTx/>
                <a:uFillTx/>
                <a:latin typeface="等线" panose="02010600030101010101" pitchFamily="2" charset="-122"/>
                <a:ea typeface="等线" panose="02010600030101010101" pitchFamily="2" charset="-122"/>
                <a:cs typeface="Arial" panose="020B0604020202020204" pitchFamily="34" charset="0"/>
              </a:rPr>
              <a:t>本发明要解决什么样的技术问题，克服此技术问题的挑战是</a:t>
            </a:r>
            <a:r>
              <a:rPr kumimoji="0" lang="zh-CN" altLang="en-US" sz="2000" b="0" i="0" u="none" strike="noStrike" kern="1200" cap="none" spc="0" normalizeH="0" baseline="0" noProof="0" dirty="0" smtClean="0">
                <a:ln>
                  <a:noFill/>
                </a:ln>
                <a:solidFill>
                  <a:sysClr val="windowText" lastClr="000000">
                    <a:lumMod val="95000"/>
                    <a:lumOff val="5000"/>
                  </a:sysClr>
                </a:solidFill>
                <a:effectLst/>
                <a:uLnTx/>
                <a:uFillTx/>
                <a:latin typeface="arial" panose="020B0604020202020204" pitchFamily="34" charset="0"/>
                <a:ea typeface="等线" panose="02010600030101010101" pitchFamily="2" charset="-122"/>
                <a:cs typeface="arial" panose="020B0604020202020204" pitchFamily="34" charset="0"/>
              </a:rPr>
              <a:t>什么 </a:t>
            </a:r>
            <a:r>
              <a:rPr kumimoji="0" lang="en-US" altLang="zh-CN" sz="2000" b="0" i="0" u="none" strike="noStrike" kern="1200" cap="none" spc="0" normalizeH="0" baseline="0" noProof="0" dirty="0" smtClean="0">
                <a:ln>
                  <a:noFill/>
                </a:ln>
                <a:solidFill>
                  <a:sysClr val="windowText" lastClr="000000">
                    <a:lumMod val="95000"/>
                    <a:lumOff val="5000"/>
                  </a:sysClr>
                </a:solidFill>
                <a:effectLst/>
                <a:uLnTx/>
                <a:uFillTx/>
                <a:latin typeface="arial" panose="020B0604020202020204" pitchFamily="34" charset="0"/>
                <a:ea typeface="等线" panose="02010600030101010101" pitchFamily="2" charset="-122"/>
                <a:cs typeface="arial" panose="020B0604020202020204" pitchFamily="34" charset="0"/>
              </a:rPr>
              <a:t>Explain the technical problem and what’s the challenge to solve the issue</a:t>
            </a:r>
          </a:p>
          <a:p>
            <a:pPr marL="228600" marR="0" lvl="0" indent="-228600" algn="l" defTabSz="914400" rtl="0" eaLnBrk="0" fontAlgn="base" latinLnBrk="0" hangingPunct="0">
              <a:lnSpc>
                <a:spcPct val="150000"/>
              </a:lnSpc>
              <a:spcBef>
                <a:spcPts val="1000"/>
              </a:spcBef>
              <a:spcAft>
                <a:spcPct val="0"/>
              </a:spcAft>
              <a:buClrTx/>
              <a:buSzTx/>
              <a:buFont typeface="Arial" panose="020B0604020202020204" pitchFamily="34" charset="0"/>
              <a:buChar char="•"/>
              <a:tabLst/>
              <a:defRPr/>
            </a:pPr>
            <a:endParaRPr kumimoji="0" lang="en-US" altLang="zh-CN" sz="2000" b="0" i="0" u="none" strike="noStrike" kern="1200" cap="none" spc="0" normalizeH="0" baseline="0" noProof="0" dirty="0">
              <a:ln>
                <a:noFill/>
              </a:ln>
              <a:solidFill>
                <a:sysClr val="windowText" lastClr="000000">
                  <a:lumMod val="95000"/>
                  <a:lumOff val="5000"/>
                </a:sysClr>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3" name="TextBox 48"/>
          <p:cNvSpPr txBox="1"/>
          <p:nvPr/>
        </p:nvSpPr>
        <p:spPr>
          <a:xfrm>
            <a:off x="10667365" y="6514842"/>
            <a:ext cx="931194" cy="184666"/>
          </a:xfrm>
          <a:prstGeom prst="rect">
            <a:avLst/>
          </a:prstGeom>
          <a:noFill/>
        </p:spPr>
        <p:txBody>
          <a:bodyPr wrap="square" lIns="0" tIns="0" rIns="0" bIns="0" rtlCol="0">
            <a:spAutoFit/>
          </a:bodyPr>
          <a:lstStyle/>
          <a:p>
            <a:pPr>
              <a:lnSpc>
                <a:spcPct val="100000"/>
              </a:lnSpc>
              <a:buClrTx/>
              <a:buSzTx/>
              <a:buFontTx/>
              <a:defRPr/>
            </a:pPr>
            <a:r>
              <a:rPr lang="en-US" altLang="zh-CN" sz="12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a:t>
            </a:r>
            <a:r>
              <a:rPr lang="en-US" altLang="zh-CN" sz="1200" b="1" dirty="0" smtClean="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onfidential</a:t>
            </a:r>
            <a:endParaRPr lang="zh-CN" altLang="en-US" sz="1200" b="1" dirty="0" smtClean="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spTree>
    <p:extLst>
      <p:ext uri="{BB962C8B-B14F-4D97-AF65-F5344CB8AC3E}">
        <p14:creationId xmlns:p14="http://schemas.microsoft.com/office/powerpoint/2010/main" val="25277863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0" name="Straight Connector 10"/>
          <p:cNvCxnSpPr/>
          <p:nvPr/>
        </p:nvCxnSpPr>
        <p:spPr>
          <a:xfrm>
            <a:off x="0" y="789305"/>
            <a:ext cx="12200255" cy="0"/>
          </a:xfrm>
          <a:prstGeom prst="line">
            <a:avLst/>
          </a:prstGeom>
          <a:ln w="12700">
            <a:solidFill>
              <a:srgbClr val="005CB9"/>
            </a:solidFill>
          </a:ln>
        </p:spPr>
        <p:style>
          <a:lnRef idx="1">
            <a:schemeClr val="accent1"/>
          </a:lnRef>
          <a:fillRef idx="0">
            <a:schemeClr val="accent1"/>
          </a:fillRef>
          <a:effectRef idx="0">
            <a:schemeClr val="accent1"/>
          </a:effectRef>
          <a:fontRef idx="minor">
            <a:schemeClr val="tx1"/>
          </a:fontRef>
        </p:style>
      </p:cxnSp>
      <p:pic>
        <p:nvPicPr>
          <p:cNvPr id="126" name="图片 1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41489" y="322069"/>
            <a:ext cx="644388" cy="171837"/>
          </a:xfrm>
          <a:prstGeom prst="rect">
            <a:avLst/>
          </a:prstGeom>
        </p:spPr>
      </p:pic>
      <p:sp>
        <p:nvSpPr>
          <p:cNvPr id="5" name="矩形 4"/>
          <p:cNvSpPr/>
          <p:nvPr/>
        </p:nvSpPr>
        <p:spPr>
          <a:xfrm>
            <a:off x="389890" y="261620"/>
            <a:ext cx="480060" cy="292735"/>
          </a:xfrm>
          <a:prstGeom prst="rect">
            <a:avLst/>
          </a:prstGeom>
          <a:solidFill>
            <a:srgbClr val="005CB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dist">
              <a:lnSpc>
                <a:spcPct val="120000"/>
              </a:lnSpc>
            </a:pPr>
            <a:r>
              <a:rPr lang="en-US" altLang="zh-CN" sz="1200" dirty="0" smtClean="0">
                <a:latin typeface="思源黑体 CN Medium" panose="020B0600000000000000" charset="-122"/>
                <a:ea typeface="思源黑体 CN Medium" panose="020B0600000000000000" charset="-122"/>
                <a:cs typeface="Aparajita" panose="020B0604020202020204" pitchFamily="34" charset="0"/>
              </a:rPr>
              <a:t>4</a:t>
            </a:r>
          </a:p>
        </p:txBody>
      </p:sp>
      <p:sp>
        <p:nvSpPr>
          <p:cNvPr id="7" name="TextBox 48"/>
          <p:cNvSpPr txBox="1"/>
          <p:nvPr/>
        </p:nvSpPr>
        <p:spPr>
          <a:xfrm>
            <a:off x="980440" y="223520"/>
            <a:ext cx="4621463" cy="369332"/>
          </a:xfrm>
          <a:prstGeom prst="rect">
            <a:avLst/>
          </a:prstGeom>
          <a:noFill/>
        </p:spPr>
        <p:txBody>
          <a:bodyPr wrap="square" lIns="0" tIns="0" rIns="0" bIns="0" rtlCol="0">
            <a:spAutoFit/>
          </a:bodyPr>
          <a:lstStyle/>
          <a:p>
            <a:pPr>
              <a:defRPr/>
            </a:pPr>
            <a:r>
              <a:rPr lang="zh-CN" altLang="en-US" sz="2400" dirty="0">
                <a:latin typeface="思源黑体 CN Regular" panose="020B0500000000000000" charset="-122"/>
                <a:ea typeface="思源黑体 CN Regular" panose="020B0500000000000000" charset="-122"/>
                <a:cs typeface="思源黑体 CN Bold" panose="020B0800000000000000" charset="-122"/>
                <a:sym typeface="+mn-ea"/>
              </a:rPr>
              <a:t>技术方案 </a:t>
            </a:r>
            <a:r>
              <a:rPr lang="en-US" altLang="zh-CN" sz="2400" dirty="0">
                <a:latin typeface="思源黑体 CN Regular" panose="020B0500000000000000" charset="-122"/>
                <a:ea typeface="思源黑体 CN Regular" panose="020B0500000000000000" charset="-122"/>
                <a:cs typeface="思源黑体 CN Bold" panose="020B0800000000000000" charset="-122"/>
                <a:sym typeface="+mn-ea"/>
              </a:rPr>
              <a:t>(Technical solution) </a:t>
            </a:r>
            <a:r>
              <a:rPr lang="en-US" altLang="zh-CN" sz="2400" dirty="0" smtClean="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rPr>
              <a:t>*</a:t>
            </a:r>
            <a:endParaRPr lang="en-US" altLang="zh-CN" sz="2400" dirty="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endParaRPr>
          </a:p>
        </p:txBody>
      </p:sp>
      <p:pic>
        <p:nvPicPr>
          <p:cNvPr id="9" name="图片 8" descr="未标题-15464646"/>
          <p:cNvPicPr>
            <a:picLocks noChangeAspect="1"/>
          </p:cNvPicPr>
          <p:nvPr/>
        </p:nvPicPr>
        <p:blipFill>
          <a:blip r:embed="rId4"/>
          <a:srcRect r="44315" b="-12355"/>
          <a:stretch>
            <a:fillRect/>
          </a:stretch>
        </p:blipFill>
        <p:spPr>
          <a:xfrm>
            <a:off x="11765915" y="320675"/>
            <a:ext cx="426085" cy="184785"/>
          </a:xfrm>
          <a:prstGeom prst="rect">
            <a:avLst/>
          </a:prstGeom>
        </p:spPr>
      </p:pic>
      <p:sp>
        <p:nvSpPr>
          <p:cNvPr id="23" name="灯片编号占位符 22"/>
          <p:cNvSpPr>
            <a:spLocks noGrp="1"/>
          </p:cNvSpPr>
          <p:nvPr>
            <p:ph type="sldNum" sz="quarter" idx="12"/>
          </p:nvPr>
        </p:nvSpPr>
        <p:spPr>
          <a:xfrm>
            <a:off x="9295765" y="6406515"/>
            <a:ext cx="2743200" cy="365125"/>
          </a:xfrm>
        </p:spPr>
        <p:txBody>
          <a:bodyPr/>
          <a:lstStyle/>
          <a:p>
            <a:fld id="{4085C35A-A984-384D-9063-286D40D760B5}" type="slidenum">
              <a:rPr kumimoji="1" lang="zh-CN" altLang="en-US" smtClean="0"/>
              <a:t>7</a:t>
            </a:fld>
            <a:endParaRPr kumimoji="1" lang="zh-CN" altLang="en-US"/>
          </a:p>
        </p:txBody>
      </p:sp>
      <p:pic>
        <p:nvPicPr>
          <p:cNvPr id="15" name="图片 14" descr="777"/>
          <p:cNvPicPr>
            <a:picLocks noChangeAspect="1"/>
          </p:cNvPicPr>
          <p:nvPr/>
        </p:nvPicPr>
        <p:blipFill>
          <a:blip r:embed="rId5"/>
          <a:stretch>
            <a:fillRect/>
          </a:stretch>
        </p:blipFill>
        <p:spPr>
          <a:xfrm>
            <a:off x="11775440" y="6451600"/>
            <a:ext cx="266065" cy="269875"/>
          </a:xfrm>
          <a:prstGeom prst="rect">
            <a:avLst/>
          </a:prstGeom>
        </p:spPr>
      </p:pic>
      <p:sp>
        <p:nvSpPr>
          <p:cNvPr id="14" name="TextBox 48"/>
          <p:cNvSpPr txBox="1"/>
          <p:nvPr/>
        </p:nvSpPr>
        <p:spPr>
          <a:xfrm>
            <a:off x="389890" y="6535420"/>
            <a:ext cx="1775794" cy="107722"/>
          </a:xfrm>
          <a:prstGeom prst="rect">
            <a:avLst/>
          </a:prstGeom>
          <a:noFill/>
        </p:spPr>
        <p:txBody>
          <a:bodyPr wrap="square" lIns="0" tIns="0" rIns="0" bIns="0" rtlCol="0">
            <a:spAutoFit/>
          </a:bodyPr>
          <a:lstStyle/>
          <a:p>
            <a:pPr algn="dist">
              <a:lnSpc>
                <a:spcPct val="100000"/>
              </a:lnSpc>
              <a:buClrTx/>
              <a:buSzTx/>
              <a:buFontTx/>
              <a:defRPr/>
            </a:pPr>
            <a:r>
              <a:rPr lang="en-US" altLang="zh-CN" sz="700" b="1" dirty="0" err="1">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ChangXin</a:t>
            </a:r>
            <a:r>
              <a:rPr lang="en-US" altLang="zh-CN" sz="7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 Memory Technologies, Inc.</a:t>
            </a:r>
            <a:endParaRPr lang="zh-CN" altLang="en-US" sz="700" b="1" dirty="0" smtClean="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cxnSp>
        <p:nvCxnSpPr>
          <p:cNvPr id="16" name="Straight Connector 14"/>
          <p:cNvCxnSpPr/>
          <p:nvPr/>
        </p:nvCxnSpPr>
        <p:spPr>
          <a:xfrm>
            <a:off x="-94" y="6586447"/>
            <a:ext cx="30099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cxnSp>
        <p:nvCxnSpPr>
          <p:cNvPr id="18" name="Straight Connector 14"/>
          <p:cNvCxnSpPr/>
          <p:nvPr/>
        </p:nvCxnSpPr>
        <p:spPr>
          <a:xfrm>
            <a:off x="2233101" y="6589622"/>
            <a:ext cx="642366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sp>
        <p:nvSpPr>
          <p:cNvPr id="12" name="内容占位符 2"/>
          <p:cNvSpPr txBox="1">
            <a:spLocks/>
          </p:cNvSpPr>
          <p:nvPr/>
        </p:nvSpPr>
        <p:spPr>
          <a:xfrm>
            <a:off x="228600" y="1050926"/>
            <a:ext cx="11735602" cy="5235382"/>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nSpc>
                <a:spcPct val="150000"/>
              </a:lnSpc>
              <a:defRPr/>
            </a:pPr>
            <a:r>
              <a:rPr lang="zh-CN" altLang="en-US" sz="2000" dirty="0" smtClean="0">
                <a:solidFill>
                  <a:sysClr val="windowText" lastClr="000000"/>
                </a:solidFill>
                <a:latin typeface="arial" panose="020B0604020202020204" pitchFamily="34" charset="0"/>
                <a:ea typeface="等线" panose="02010600030101010101" pitchFamily="2" charset="-122"/>
                <a:cs typeface="arial" panose="020B0604020202020204" pitchFamily="34" charset="0"/>
              </a:rPr>
              <a:t>说明</a:t>
            </a:r>
            <a:r>
              <a:rPr lang="zh-CN" altLang="en-US" sz="20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解决问题采取的技术方法，与先前技术的差异</a:t>
            </a:r>
            <a:r>
              <a:rPr lang="zh-CN" altLang="en-US" sz="2000" dirty="0" smtClean="0">
                <a:solidFill>
                  <a:sysClr val="windowText" lastClr="000000"/>
                </a:solidFill>
                <a:latin typeface="arial" panose="020B0604020202020204" pitchFamily="34" charset="0"/>
                <a:ea typeface="等线" panose="02010600030101010101" pitchFamily="2" charset="-122"/>
                <a:cs typeface="arial" panose="020B0604020202020204" pitchFamily="34" charset="0"/>
              </a:rPr>
              <a:t>点 </a:t>
            </a:r>
            <a:r>
              <a:rPr kumimoji="0" lang="en-US" altLang="zh-CN" sz="2000" b="0" i="0" u="none" strike="noStrike" kern="1200" cap="none" spc="0" normalizeH="0" baseline="0" noProof="0" dirty="0" smtClean="0">
                <a:ln>
                  <a:noFill/>
                </a:ln>
                <a:solidFill>
                  <a:sysClr val="windowText" lastClr="000000">
                    <a:lumMod val="95000"/>
                    <a:lumOff val="5000"/>
                  </a:sysClr>
                </a:solidFill>
                <a:effectLst/>
                <a:uLnTx/>
                <a:uFillTx/>
                <a:latin typeface="arial" panose="020B0604020202020204" pitchFamily="34" charset="0"/>
                <a:ea typeface="等线" panose="02010600030101010101" pitchFamily="2" charset="-122"/>
                <a:cs typeface="arial" panose="020B0604020202020204" pitchFamily="34" charset="0"/>
              </a:rPr>
              <a:t>Explain the technical solution and the specific technology compared with prior art</a:t>
            </a:r>
            <a:endParaRPr kumimoji="0" lang="en-US" altLang="zh-CN" sz="2000" b="0" i="0" u="none" strike="noStrike" kern="1200" cap="none" spc="0" normalizeH="0" baseline="0" noProof="0" dirty="0" smtClean="0">
              <a:ln>
                <a:noFill/>
              </a:ln>
              <a:solidFill>
                <a:sysClr val="windowText" lastClr="000000"/>
              </a:solidFill>
              <a:effectLst/>
              <a:uLnTx/>
              <a:uFillTx/>
              <a:latin typeface="arial" panose="020B0604020202020204" pitchFamily="34" charset="0"/>
              <a:ea typeface="等线" panose="02010600030101010101" pitchFamily="2" charset="-122"/>
              <a:cs typeface="arial" panose="020B0604020202020204" pitchFamily="34" charset="0"/>
            </a:endParaRPr>
          </a:p>
          <a:p>
            <a:pPr lvl="0">
              <a:lnSpc>
                <a:spcPct val="150000"/>
              </a:lnSpc>
              <a:defRPr/>
            </a:pPr>
            <a:r>
              <a:rPr kumimoji="0" lang="zh-CN" altLang="en-US" sz="2000" b="0" i="0" u="none" strike="noStrike" kern="1200" cap="none" spc="0" normalizeH="0" baseline="0" noProof="0" dirty="0" smtClean="0">
                <a:ln>
                  <a:noFill/>
                </a:ln>
                <a:solidFill>
                  <a:sysClr val="windowText" lastClr="000000"/>
                </a:solidFill>
                <a:effectLst/>
                <a:uLnTx/>
                <a:uFillTx/>
                <a:latin typeface="等线" panose="02010600030101010101" pitchFamily="2" charset="-122"/>
                <a:ea typeface="等线" panose="02010600030101010101" pitchFamily="2" charset="-122"/>
                <a:cs typeface="+mn-cs"/>
              </a:rPr>
              <a:t>技术方案中应包含技术的基本</a:t>
            </a:r>
            <a:r>
              <a:rPr lang="zh-CN" altLang="en-US" sz="2000" dirty="0">
                <a:solidFill>
                  <a:sysClr val="windowText" lastClr="000000"/>
                </a:solidFill>
                <a:latin typeface="等线" panose="02010600030101010101" pitchFamily="2" charset="-122"/>
                <a:ea typeface="等线" panose="02010600030101010101" pitchFamily="2" charset="-122"/>
              </a:rPr>
              <a:t>运作</a:t>
            </a:r>
            <a:r>
              <a:rPr kumimoji="0" lang="zh-CN" altLang="en-US" sz="2000" b="0" i="0" u="none" strike="noStrike" kern="1200" cap="none" spc="0" normalizeH="0" baseline="0" noProof="0" dirty="0" smtClean="0">
                <a:ln>
                  <a:noFill/>
                </a:ln>
                <a:solidFill>
                  <a:sysClr val="windowText" lastClr="000000"/>
                </a:solidFill>
                <a:effectLst/>
                <a:uLnTx/>
                <a:uFillTx/>
                <a:latin typeface="等线" panose="02010600030101010101" pitchFamily="2" charset="-122"/>
                <a:ea typeface="等线" panose="02010600030101010101" pitchFamily="2" charset="-122"/>
                <a:cs typeface="+mn-cs"/>
              </a:rPr>
              <a:t>原理 </a:t>
            </a:r>
            <a:r>
              <a:rPr lang="en-US" altLang="zh-CN" sz="2000" dirty="0" smtClean="0">
                <a:solidFill>
                  <a:sysClr val="windowText" lastClr="000000"/>
                </a:solidFill>
                <a:latin typeface="arial" panose="020B0604020202020204" pitchFamily="34" charset="0"/>
                <a:ea typeface="等线" panose="02010600030101010101" pitchFamily="2" charset="-122"/>
                <a:cs typeface="arial" panose="020B0604020202020204" pitchFamily="34" charset="0"/>
              </a:rPr>
              <a:t>The solution should be included the basic operational principle of technology</a:t>
            </a:r>
            <a:endParaRPr lang="en-US" altLang="zh-CN" sz="2000" dirty="0" smtClean="0">
              <a:solidFill>
                <a:sysClr val="windowText" lastClr="000000">
                  <a:lumMod val="95000"/>
                  <a:lumOff val="5000"/>
                </a:sysClr>
              </a:solidFill>
              <a:latin typeface="arial" panose="020B0604020202020204" pitchFamily="34" charset="0"/>
              <a:ea typeface="等线" panose="02010600030101010101" pitchFamily="2" charset="-122"/>
              <a:cs typeface="arial" panose="020B0604020202020204" pitchFamily="34" charset="0"/>
            </a:endParaRPr>
          </a:p>
          <a:p>
            <a:pPr lvl="0">
              <a:lnSpc>
                <a:spcPct val="150000"/>
              </a:lnSpc>
              <a:defRPr/>
            </a:pPr>
            <a:r>
              <a:rPr lang="zh-CN" altLang="en-US" sz="2000" dirty="0" smtClean="0">
                <a:solidFill>
                  <a:sysClr val="windowText" lastClr="000000">
                    <a:lumMod val="95000"/>
                    <a:lumOff val="5000"/>
                  </a:sysClr>
                </a:solidFill>
                <a:latin typeface="arial" panose="020B0604020202020204" pitchFamily="34" charset="0"/>
                <a:ea typeface="等线" panose="02010600030101010101" pitchFamily="2" charset="-122"/>
                <a:cs typeface="arial" panose="020B0604020202020204" pitchFamily="34" charset="0"/>
              </a:rPr>
              <a:t>说明本发明的</a:t>
            </a:r>
            <a:r>
              <a:rPr lang="zh-CN" altLang="en-US" sz="2000" dirty="0">
                <a:solidFill>
                  <a:sysClr val="windowText" lastClr="000000">
                    <a:lumMod val="95000"/>
                    <a:lumOff val="5000"/>
                  </a:sysClr>
                </a:solidFill>
                <a:latin typeface="arial" panose="020B0604020202020204" pitchFamily="34" charset="0"/>
                <a:ea typeface="等线" panose="02010600030101010101" pitchFamily="2" charset="-122"/>
                <a:cs typeface="arial" panose="020B0604020202020204" pitchFamily="34" charset="0"/>
              </a:rPr>
              <a:t>最重要</a:t>
            </a:r>
            <a:r>
              <a:rPr lang="zh-CN" altLang="en-US" sz="2000" dirty="0" smtClean="0">
                <a:solidFill>
                  <a:sysClr val="windowText" lastClr="000000">
                    <a:lumMod val="95000"/>
                    <a:lumOff val="5000"/>
                  </a:sysClr>
                </a:solidFill>
                <a:latin typeface="arial" panose="020B0604020202020204" pitchFamily="34" charset="0"/>
                <a:ea typeface="等线" panose="02010600030101010101" pitchFamily="2" charset="-122"/>
                <a:cs typeface="arial" panose="020B0604020202020204" pitchFamily="34" charset="0"/>
              </a:rPr>
              <a:t>技术特征 </a:t>
            </a:r>
            <a:r>
              <a:rPr lang="en-US" altLang="zh-CN" sz="2000" dirty="0" smtClean="0">
                <a:solidFill>
                  <a:sysClr val="windowText" lastClr="000000">
                    <a:lumMod val="95000"/>
                    <a:lumOff val="5000"/>
                  </a:sysClr>
                </a:solidFill>
                <a:latin typeface="arial" panose="020B0604020202020204" pitchFamily="34" charset="0"/>
                <a:ea typeface="等线" panose="02010600030101010101" pitchFamily="2" charset="-122"/>
                <a:cs typeface="arial" panose="020B0604020202020204" pitchFamily="34" charset="0"/>
              </a:rPr>
              <a:t>Describe the most technical feature of this invention</a:t>
            </a:r>
            <a:endParaRPr kumimoji="0" lang="en-US" altLang="zh-CN" sz="2000" b="0" i="0" u="none" strike="noStrike" kern="1200" cap="none" spc="0" normalizeH="0" baseline="0" noProof="0" dirty="0" smtClean="0">
              <a:ln>
                <a:noFill/>
              </a:ln>
              <a:solidFill>
                <a:sysClr val="windowText" lastClr="000000"/>
              </a:solidFill>
              <a:effectLst/>
              <a:uLnTx/>
              <a:uFillTx/>
              <a:latin typeface="等线" panose="02010600030101010101" pitchFamily="2" charset="-122"/>
              <a:ea typeface="等线" panose="02010600030101010101" pitchFamily="2" charset="-122"/>
              <a:cs typeface="+mn-cs"/>
            </a:endParaRPr>
          </a:p>
        </p:txBody>
      </p:sp>
      <p:sp>
        <p:nvSpPr>
          <p:cNvPr id="13" name="TextBox 48"/>
          <p:cNvSpPr txBox="1"/>
          <p:nvPr/>
        </p:nvSpPr>
        <p:spPr>
          <a:xfrm>
            <a:off x="10667365" y="6514842"/>
            <a:ext cx="931194" cy="184666"/>
          </a:xfrm>
          <a:prstGeom prst="rect">
            <a:avLst/>
          </a:prstGeom>
          <a:noFill/>
        </p:spPr>
        <p:txBody>
          <a:bodyPr wrap="square" lIns="0" tIns="0" rIns="0" bIns="0" rtlCol="0">
            <a:spAutoFit/>
          </a:bodyPr>
          <a:lstStyle/>
          <a:p>
            <a:pPr>
              <a:lnSpc>
                <a:spcPct val="100000"/>
              </a:lnSpc>
              <a:buClrTx/>
              <a:buSzTx/>
              <a:buFontTx/>
              <a:defRPr/>
            </a:pPr>
            <a:r>
              <a:rPr lang="en-US" altLang="zh-CN" sz="12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a:t>
            </a:r>
            <a:r>
              <a:rPr lang="en-US" altLang="zh-CN" sz="1200" b="1" dirty="0" smtClean="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onfidential</a:t>
            </a:r>
            <a:endParaRPr lang="zh-CN" altLang="en-US" sz="1200" b="1" dirty="0" smtClean="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spTree>
    <p:extLst>
      <p:ext uri="{BB962C8B-B14F-4D97-AF65-F5344CB8AC3E}">
        <p14:creationId xmlns:p14="http://schemas.microsoft.com/office/powerpoint/2010/main" val="42416434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0" name="Straight Connector 10"/>
          <p:cNvCxnSpPr/>
          <p:nvPr/>
        </p:nvCxnSpPr>
        <p:spPr>
          <a:xfrm>
            <a:off x="0" y="789305"/>
            <a:ext cx="12200255" cy="0"/>
          </a:xfrm>
          <a:prstGeom prst="line">
            <a:avLst/>
          </a:prstGeom>
          <a:ln w="12700">
            <a:solidFill>
              <a:srgbClr val="005CB9"/>
            </a:solidFill>
          </a:ln>
        </p:spPr>
        <p:style>
          <a:lnRef idx="1">
            <a:schemeClr val="accent1"/>
          </a:lnRef>
          <a:fillRef idx="0">
            <a:schemeClr val="accent1"/>
          </a:fillRef>
          <a:effectRef idx="0">
            <a:schemeClr val="accent1"/>
          </a:effectRef>
          <a:fontRef idx="minor">
            <a:schemeClr val="tx1"/>
          </a:fontRef>
        </p:style>
      </p:cxnSp>
      <p:pic>
        <p:nvPicPr>
          <p:cNvPr id="126" name="图片 1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41489" y="322069"/>
            <a:ext cx="644388" cy="171837"/>
          </a:xfrm>
          <a:prstGeom prst="rect">
            <a:avLst/>
          </a:prstGeom>
        </p:spPr>
      </p:pic>
      <p:sp>
        <p:nvSpPr>
          <p:cNvPr id="5" name="矩形 4"/>
          <p:cNvSpPr/>
          <p:nvPr/>
        </p:nvSpPr>
        <p:spPr>
          <a:xfrm>
            <a:off x="389890" y="261620"/>
            <a:ext cx="480060" cy="292735"/>
          </a:xfrm>
          <a:prstGeom prst="rect">
            <a:avLst/>
          </a:prstGeom>
          <a:solidFill>
            <a:srgbClr val="005CB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dist">
              <a:lnSpc>
                <a:spcPct val="120000"/>
              </a:lnSpc>
            </a:pPr>
            <a:r>
              <a:rPr lang="en-US" altLang="zh-CN" sz="1200" dirty="0" smtClean="0">
                <a:latin typeface="思源黑体 CN Medium" panose="020B0600000000000000" charset="-122"/>
                <a:ea typeface="思源黑体 CN Medium" panose="020B0600000000000000" charset="-122"/>
                <a:cs typeface="Aparajita" panose="020B0604020202020204" pitchFamily="34" charset="0"/>
              </a:rPr>
              <a:t>5</a:t>
            </a:r>
          </a:p>
        </p:txBody>
      </p:sp>
      <p:sp>
        <p:nvSpPr>
          <p:cNvPr id="7" name="TextBox 48"/>
          <p:cNvSpPr txBox="1"/>
          <p:nvPr/>
        </p:nvSpPr>
        <p:spPr>
          <a:xfrm>
            <a:off x="980440" y="223520"/>
            <a:ext cx="5458861" cy="369332"/>
          </a:xfrm>
          <a:prstGeom prst="rect">
            <a:avLst/>
          </a:prstGeom>
          <a:noFill/>
        </p:spPr>
        <p:txBody>
          <a:bodyPr wrap="square" lIns="0" tIns="0" rIns="0" bIns="0" rtlCol="0">
            <a:spAutoFit/>
          </a:bodyPr>
          <a:lstStyle/>
          <a:p>
            <a:pPr>
              <a:defRPr/>
            </a:pPr>
            <a:r>
              <a:rPr lang="zh-CN" altLang="en-US" sz="2400" dirty="0">
                <a:latin typeface="思源黑体 CN Regular" panose="020B0500000000000000" charset="-122"/>
                <a:ea typeface="思源黑体 CN Regular" panose="020B0500000000000000" charset="-122"/>
                <a:cs typeface="思源黑体 CN Bold" panose="020B0800000000000000" charset="-122"/>
                <a:sym typeface="+mn-ea"/>
              </a:rPr>
              <a:t>有益效果 </a:t>
            </a:r>
            <a:r>
              <a:rPr lang="en-US" altLang="zh-CN" sz="2400" dirty="0">
                <a:latin typeface="思源黑体 CN Regular" panose="020B0500000000000000" charset="-122"/>
                <a:ea typeface="思源黑体 CN Regular" panose="020B0500000000000000" charset="-122"/>
                <a:cs typeface="思源黑体 CN Bold" panose="020B0800000000000000" charset="-122"/>
                <a:sym typeface="+mn-ea"/>
              </a:rPr>
              <a:t>(Advantageous effects) </a:t>
            </a:r>
            <a:r>
              <a:rPr lang="en-US" altLang="zh-CN" sz="2400" dirty="0" smtClean="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rPr>
              <a:t>*</a:t>
            </a:r>
            <a:endParaRPr lang="en-US" altLang="zh-CN" sz="2400" dirty="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endParaRPr>
          </a:p>
        </p:txBody>
      </p:sp>
      <p:pic>
        <p:nvPicPr>
          <p:cNvPr id="9" name="图片 8" descr="未标题-15464646"/>
          <p:cNvPicPr>
            <a:picLocks noChangeAspect="1"/>
          </p:cNvPicPr>
          <p:nvPr/>
        </p:nvPicPr>
        <p:blipFill>
          <a:blip r:embed="rId4"/>
          <a:srcRect r="44315" b="-12355"/>
          <a:stretch>
            <a:fillRect/>
          </a:stretch>
        </p:blipFill>
        <p:spPr>
          <a:xfrm>
            <a:off x="11765915" y="320675"/>
            <a:ext cx="426085" cy="184785"/>
          </a:xfrm>
          <a:prstGeom prst="rect">
            <a:avLst/>
          </a:prstGeom>
        </p:spPr>
      </p:pic>
      <p:sp>
        <p:nvSpPr>
          <p:cNvPr id="23" name="灯片编号占位符 22"/>
          <p:cNvSpPr>
            <a:spLocks noGrp="1"/>
          </p:cNvSpPr>
          <p:nvPr>
            <p:ph type="sldNum" sz="quarter" idx="12"/>
          </p:nvPr>
        </p:nvSpPr>
        <p:spPr>
          <a:xfrm>
            <a:off x="9295765" y="6406515"/>
            <a:ext cx="2743200" cy="365125"/>
          </a:xfrm>
        </p:spPr>
        <p:txBody>
          <a:bodyPr/>
          <a:lstStyle/>
          <a:p>
            <a:fld id="{4085C35A-A984-384D-9063-286D40D760B5}" type="slidenum">
              <a:rPr kumimoji="1" lang="zh-CN" altLang="en-US" smtClean="0"/>
              <a:t>8</a:t>
            </a:fld>
            <a:endParaRPr kumimoji="1" lang="zh-CN" altLang="en-US"/>
          </a:p>
        </p:txBody>
      </p:sp>
      <p:pic>
        <p:nvPicPr>
          <p:cNvPr id="15" name="图片 14" descr="777"/>
          <p:cNvPicPr>
            <a:picLocks noChangeAspect="1"/>
          </p:cNvPicPr>
          <p:nvPr/>
        </p:nvPicPr>
        <p:blipFill>
          <a:blip r:embed="rId5"/>
          <a:stretch>
            <a:fillRect/>
          </a:stretch>
        </p:blipFill>
        <p:spPr>
          <a:xfrm>
            <a:off x="11775440" y="6451600"/>
            <a:ext cx="266065" cy="269875"/>
          </a:xfrm>
          <a:prstGeom prst="rect">
            <a:avLst/>
          </a:prstGeom>
        </p:spPr>
      </p:pic>
      <p:sp>
        <p:nvSpPr>
          <p:cNvPr id="14" name="TextBox 48"/>
          <p:cNvSpPr txBox="1"/>
          <p:nvPr/>
        </p:nvSpPr>
        <p:spPr>
          <a:xfrm>
            <a:off x="389890" y="6535420"/>
            <a:ext cx="1775794" cy="107722"/>
          </a:xfrm>
          <a:prstGeom prst="rect">
            <a:avLst/>
          </a:prstGeom>
          <a:noFill/>
        </p:spPr>
        <p:txBody>
          <a:bodyPr wrap="square" lIns="0" tIns="0" rIns="0" bIns="0" rtlCol="0">
            <a:spAutoFit/>
          </a:bodyPr>
          <a:lstStyle/>
          <a:p>
            <a:pPr algn="dist">
              <a:lnSpc>
                <a:spcPct val="100000"/>
              </a:lnSpc>
              <a:buClrTx/>
              <a:buSzTx/>
              <a:buFontTx/>
              <a:defRPr/>
            </a:pPr>
            <a:r>
              <a:rPr lang="en-US" altLang="zh-CN" sz="700" b="1" dirty="0" err="1">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ChangXin</a:t>
            </a:r>
            <a:r>
              <a:rPr lang="en-US" altLang="zh-CN" sz="7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 Memory Technologies, Inc.</a:t>
            </a:r>
            <a:endParaRPr lang="zh-CN" altLang="en-US" sz="700" b="1" dirty="0" smtClean="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cxnSp>
        <p:nvCxnSpPr>
          <p:cNvPr id="16" name="Straight Connector 14"/>
          <p:cNvCxnSpPr/>
          <p:nvPr/>
        </p:nvCxnSpPr>
        <p:spPr>
          <a:xfrm>
            <a:off x="-94" y="6586447"/>
            <a:ext cx="30099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cxnSp>
        <p:nvCxnSpPr>
          <p:cNvPr id="18" name="Straight Connector 14"/>
          <p:cNvCxnSpPr/>
          <p:nvPr/>
        </p:nvCxnSpPr>
        <p:spPr>
          <a:xfrm>
            <a:off x="2233101" y="6589622"/>
            <a:ext cx="642366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sp>
        <p:nvSpPr>
          <p:cNvPr id="12" name="内容占位符 2"/>
          <p:cNvSpPr txBox="1">
            <a:spLocks/>
          </p:cNvSpPr>
          <p:nvPr/>
        </p:nvSpPr>
        <p:spPr>
          <a:xfrm>
            <a:off x="228600" y="1050926"/>
            <a:ext cx="11735602" cy="5235382"/>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nSpc>
                <a:spcPct val="150000"/>
              </a:lnSpc>
              <a:defRPr/>
            </a:pPr>
            <a:r>
              <a:rPr kumimoji="0" lang="zh-CN" altLang="zh-CN" sz="2000" b="0" i="0" u="none" strike="noStrike" kern="1200" cap="none" spc="0" normalizeH="0" baseline="0" noProof="0" dirty="0" smtClean="0">
                <a:ln>
                  <a:noFill/>
                </a:ln>
                <a:solidFill>
                  <a:sysClr val="windowText" lastClr="000000"/>
                </a:solidFill>
                <a:effectLst/>
                <a:uLnTx/>
                <a:uFillTx/>
                <a:latin typeface="等线" panose="02010600030101010101" pitchFamily="2" charset="-122"/>
                <a:ea typeface="等线" panose="02010600030101010101" pitchFamily="2" charset="-122"/>
                <a:cs typeface="+mn-cs"/>
              </a:rPr>
              <a:t>本发明</a:t>
            </a:r>
            <a:r>
              <a:rPr kumimoji="0" lang="zh-CN" altLang="en-US" sz="2000" b="0" i="0" u="none" strike="noStrike" kern="1200" cap="none" spc="0" normalizeH="0" baseline="0" noProof="0" dirty="0" smtClean="0">
                <a:ln>
                  <a:noFill/>
                </a:ln>
                <a:solidFill>
                  <a:sysClr val="windowText" lastClr="000000"/>
                </a:solidFill>
                <a:effectLst/>
                <a:uLnTx/>
                <a:uFillTx/>
                <a:latin typeface="等线" panose="02010600030101010101" pitchFamily="2" charset="-122"/>
                <a:ea typeface="等线" panose="02010600030101010101" pitchFamily="2" charset="-122"/>
                <a:cs typeface="+mn-cs"/>
              </a:rPr>
              <a:t>实施后得到的技术效果</a:t>
            </a:r>
            <a:r>
              <a:rPr lang="zh-CN" altLang="en-US" sz="2000" noProof="0" dirty="0" smtClean="0">
                <a:solidFill>
                  <a:sysClr val="windowText" lastClr="000000"/>
                </a:solidFill>
                <a:latin typeface="arial" panose="020B0604020202020204" pitchFamily="34" charset="0"/>
                <a:ea typeface="等线" panose="02010600030101010101" pitchFamily="2" charset="-122"/>
                <a:cs typeface="arial" panose="020B0604020202020204" pitchFamily="34" charset="0"/>
              </a:rPr>
              <a:t>或</a:t>
            </a:r>
            <a:r>
              <a:rPr lang="zh-CN" altLang="en-US" sz="20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发明带来的技术有益</a:t>
            </a:r>
            <a:r>
              <a:rPr lang="zh-CN" altLang="en-US" sz="2000" dirty="0" smtClean="0">
                <a:solidFill>
                  <a:sysClr val="windowText" lastClr="000000"/>
                </a:solidFill>
                <a:latin typeface="arial" panose="020B0604020202020204" pitchFamily="34" charset="0"/>
                <a:ea typeface="等线" panose="02010600030101010101" pitchFamily="2" charset="-122"/>
                <a:cs typeface="arial" panose="020B0604020202020204" pitchFamily="34" charset="0"/>
              </a:rPr>
              <a:t>效果，并且说明有益效果与技术的因果关系 </a:t>
            </a:r>
            <a:r>
              <a:rPr kumimoji="0" lang="en-US" altLang="zh-CN" sz="2000" b="0" i="0" u="none" strike="noStrike" kern="1200" cap="none" spc="0" normalizeH="0" baseline="0" noProof="0" dirty="0" smtClean="0">
                <a:ln>
                  <a:noFill/>
                </a:ln>
                <a:solidFill>
                  <a:sysClr val="windowText" lastClr="000000"/>
                </a:solidFill>
                <a:effectLst/>
                <a:uLnTx/>
                <a:uFillTx/>
                <a:latin typeface="arial" panose="020B0604020202020204" pitchFamily="34" charset="0"/>
                <a:ea typeface="等线" panose="02010600030101010101" pitchFamily="2" charset="-122"/>
                <a:cs typeface="arial" panose="020B0604020202020204" pitchFamily="34" charset="0"/>
              </a:rPr>
              <a:t>(</a:t>
            </a:r>
            <a:r>
              <a:rPr kumimoji="0" lang="en-US" altLang="zh-CN" sz="2000" b="0" i="0" u="none" strike="noStrike" kern="1200" cap="none" spc="0" normalizeH="0" baseline="0" noProof="0" dirty="0" smtClean="0">
                <a:ln>
                  <a:noFill/>
                </a:ln>
                <a:solidFill>
                  <a:sysClr val="windowText" lastClr="000000">
                    <a:lumMod val="95000"/>
                    <a:lumOff val="5000"/>
                  </a:sysClr>
                </a:solidFill>
                <a:effectLst/>
                <a:uLnTx/>
                <a:uFillTx/>
                <a:latin typeface="arial" panose="020B0604020202020204" pitchFamily="34" charset="0"/>
                <a:ea typeface="等线" panose="02010600030101010101" pitchFamily="2" charset="-122"/>
                <a:cs typeface="arial" panose="020B0604020202020204" pitchFamily="34" charset="0"/>
              </a:rPr>
              <a:t>Please describe the advantageous effects of the invention </a:t>
            </a:r>
            <a:r>
              <a:rPr lang="en-US" altLang="zh-CN" sz="2000" dirty="0" smtClean="0">
                <a:solidFill>
                  <a:sysClr val="windowText" lastClr="000000">
                    <a:lumMod val="95000"/>
                    <a:lumOff val="5000"/>
                  </a:sysClr>
                </a:solidFill>
                <a:latin typeface="arial" panose="020B0604020202020204" pitchFamily="34" charset="0"/>
                <a:ea typeface="等线" panose="02010600030101010101" pitchFamily="2" charset="-122"/>
                <a:cs typeface="arial" panose="020B0604020202020204" pitchFamily="34" charset="0"/>
              </a:rPr>
              <a:t>and its relationship</a:t>
            </a:r>
            <a:r>
              <a:rPr kumimoji="0" lang="en-US" altLang="zh-CN" sz="2000" b="0" i="0" u="none" strike="noStrike" kern="1200" cap="none" spc="0" normalizeH="0" baseline="0" noProof="0" dirty="0" smtClean="0">
                <a:ln>
                  <a:noFill/>
                </a:ln>
                <a:solidFill>
                  <a:sysClr val="windowText" lastClr="000000">
                    <a:lumMod val="95000"/>
                    <a:lumOff val="5000"/>
                  </a:sysClr>
                </a:solidFill>
                <a:effectLst/>
                <a:uLnTx/>
                <a:uFillTx/>
                <a:latin typeface="arial" panose="020B0604020202020204" pitchFamily="34" charset="0"/>
                <a:ea typeface="等线" panose="02010600030101010101" pitchFamily="2" charset="-122"/>
                <a:cs typeface="arial" panose="020B0604020202020204" pitchFamily="34" charset="0"/>
              </a:rPr>
              <a:t>)</a:t>
            </a:r>
            <a:endParaRPr kumimoji="0" lang="en-US" altLang="zh-CN" sz="2000" b="0" i="0" u="none" strike="noStrike" kern="1200" cap="none" spc="0" normalizeH="0" baseline="0" noProof="0" dirty="0" smtClean="0">
              <a:ln>
                <a:noFill/>
              </a:ln>
              <a:solidFill>
                <a:sysClr val="windowText" lastClr="000000"/>
              </a:solidFill>
              <a:effectLst/>
              <a:uLnTx/>
              <a:uFillTx/>
              <a:latin typeface="arial" panose="020B0604020202020204" pitchFamily="34" charset="0"/>
              <a:ea typeface="等线" panose="02010600030101010101" pitchFamily="2" charset="-122"/>
              <a:cs typeface="arial" panose="020B0604020202020204" pitchFamily="34" charset="0"/>
            </a:endParaRPr>
          </a:p>
          <a:p>
            <a:pPr marL="228600" marR="0" lvl="0" indent="-228600" algn="l" defTabSz="914400" rtl="0" eaLnBrk="0" fontAlgn="base" latinLnBrk="0" hangingPunct="0">
              <a:lnSpc>
                <a:spcPct val="150000"/>
              </a:lnSpc>
              <a:spcBef>
                <a:spcPts val="1000"/>
              </a:spcBef>
              <a:spcAft>
                <a:spcPct val="0"/>
              </a:spcAft>
              <a:buClrTx/>
              <a:buSzTx/>
              <a:buFont typeface="Arial" panose="020B0604020202020204" pitchFamily="34" charset="0"/>
              <a:buChar char="•"/>
              <a:tabLst/>
              <a:defRPr/>
            </a:pPr>
            <a:endParaRPr kumimoji="0" lang="en-US" altLang="zh-CN" sz="2000" b="0" i="0" u="none" strike="noStrike" kern="1200" cap="none" spc="0" normalizeH="0" baseline="0" noProof="0" dirty="0" smtClean="0">
              <a:ln>
                <a:noFill/>
              </a:ln>
              <a:solidFill>
                <a:sysClr val="windowText" lastClr="000000"/>
              </a:solidFill>
              <a:effectLst/>
              <a:uLnTx/>
              <a:uFillTx/>
              <a:latin typeface="等线" panose="02010600030101010101" pitchFamily="2" charset="-122"/>
              <a:ea typeface="等线" panose="02010600030101010101" pitchFamily="2" charset="-122"/>
              <a:cs typeface="+mn-cs"/>
            </a:endParaRPr>
          </a:p>
        </p:txBody>
      </p:sp>
      <p:sp>
        <p:nvSpPr>
          <p:cNvPr id="13" name="TextBox 48"/>
          <p:cNvSpPr txBox="1"/>
          <p:nvPr/>
        </p:nvSpPr>
        <p:spPr>
          <a:xfrm>
            <a:off x="10667365" y="6514842"/>
            <a:ext cx="931194" cy="184666"/>
          </a:xfrm>
          <a:prstGeom prst="rect">
            <a:avLst/>
          </a:prstGeom>
          <a:noFill/>
        </p:spPr>
        <p:txBody>
          <a:bodyPr wrap="square" lIns="0" tIns="0" rIns="0" bIns="0" rtlCol="0">
            <a:spAutoFit/>
          </a:bodyPr>
          <a:lstStyle/>
          <a:p>
            <a:pPr>
              <a:lnSpc>
                <a:spcPct val="100000"/>
              </a:lnSpc>
              <a:buClrTx/>
              <a:buSzTx/>
              <a:buFontTx/>
              <a:defRPr/>
            </a:pPr>
            <a:r>
              <a:rPr lang="en-US" altLang="zh-CN" sz="12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a:t>
            </a:r>
            <a:r>
              <a:rPr lang="en-US" altLang="zh-CN" sz="1200" b="1" dirty="0" smtClean="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onfidential</a:t>
            </a:r>
            <a:endParaRPr lang="zh-CN" altLang="en-US" sz="1200" b="1" dirty="0" smtClean="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spTree>
    <p:extLst>
      <p:ext uri="{BB962C8B-B14F-4D97-AF65-F5344CB8AC3E}">
        <p14:creationId xmlns:p14="http://schemas.microsoft.com/office/powerpoint/2010/main" val="397994149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0" name="Straight Connector 10"/>
          <p:cNvCxnSpPr/>
          <p:nvPr/>
        </p:nvCxnSpPr>
        <p:spPr>
          <a:xfrm>
            <a:off x="0" y="789305"/>
            <a:ext cx="12200255" cy="0"/>
          </a:xfrm>
          <a:prstGeom prst="line">
            <a:avLst/>
          </a:prstGeom>
          <a:ln w="12700">
            <a:solidFill>
              <a:srgbClr val="005CB9"/>
            </a:solidFill>
          </a:ln>
        </p:spPr>
        <p:style>
          <a:lnRef idx="1">
            <a:schemeClr val="accent1"/>
          </a:lnRef>
          <a:fillRef idx="0">
            <a:schemeClr val="accent1"/>
          </a:fillRef>
          <a:effectRef idx="0">
            <a:schemeClr val="accent1"/>
          </a:effectRef>
          <a:fontRef idx="minor">
            <a:schemeClr val="tx1"/>
          </a:fontRef>
        </p:style>
      </p:cxnSp>
      <p:pic>
        <p:nvPicPr>
          <p:cNvPr id="126" name="图片 1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41489" y="322069"/>
            <a:ext cx="644388" cy="171837"/>
          </a:xfrm>
          <a:prstGeom prst="rect">
            <a:avLst/>
          </a:prstGeom>
        </p:spPr>
      </p:pic>
      <p:sp>
        <p:nvSpPr>
          <p:cNvPr id="5" name="矩形 4"/>
          <p:cNvSpPr/>
          <p:nvPr/>
        </p:nvSpPr>
        <p:spPr>
          <a:xfrm>
            <a:off x="389890" y="261620"/>
            <a:ext cx="480060" cy="292735"/>
          </a:xfrm>
          <a:prstGeom prst="rect">
            <a:avLst/>
          </a:prstGeom>
          <a:solidFill>
            <a:srgbClr val="005CB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dist">
              <a:lnSpc>
                <a:spcPct val="120000"/>
              </a:lnSpc>
            </a:pPr>
            <a:r>
              <a:rPr lang="en-US" altLang="zh-CN" sz="1200" dirty="0" smtClean="0">
                <a:latin typeface="思源黑体 CN Medium" panose="020B0600000000000000" charset="-122"/>
                <a:ea typeface="思源黑体 CN Medium" panose="020B0600000000000000" charset="-122"/>
                <a:cs typeface="Aparajita" panose="020B0604020202020204" pitchFamily="34" charset="0"/>
              </a:rPr>
              <a:t>6</a:t>
            </a:r>
          </a:p>
        </p:txBody>
      </p:sp>
      <p:sp>
        <p:nvSpPr>
          <p:cNvPr id="7" name="TextBox 48"/>
          <p:cNvSpPr txBox="1"/>
          <p:nvPr/>
        </p:nvSpPr>
        <p:spPr>
          <a:xfrm>
            <a:off x="980440" y="223520"/>
            <a:ext cx="6171131" cy="369332"/>
          </a:xfrm>
          <a:prstGeom prst="rect">
            <a:avLst/>
          </a:prstGeom>
          <a:noFill/>
        </p:spPr>
        <p:txBody>
          <a:bodyPr wrap="square" lIns="0" tIns="0" rIns="0" bIns="0" rtlCol="0">
            <a:spAutoFit/>
          </a:bodyPr>
          <a:lstStyle/>
          <a:p>
            <a:pPr>
              <a:defRPr/>
            </a:pPr>
            <a:r>
              <a:rPr lang="zh-CN" altLang="en-US" sz="2400" dirty="0">
                <a:latin typeface="思源黑体 CN Regular" panose="020B0500000000000000" charset="-122"/>
                <a:ea typeface="思源黑体 CN Regular" panose="020B0500000000000000" charset="-122"/>
                <a:cs typeface="思源黑体 CN Bold" panose="020B0800000000000000" charset="-122"/>
                <a:sym typeface="+mn-ea"/>
              </a:rPr>
              <a:t>具体实施方式 </a:t>
            </a:r>
            <a:r>
              <a:rPr lang="en-US" altLang="zh-CN" sz="2400" dirty="0">
                <a:latin typeface="思源黑体 CN Regular" panose="020B0500000000000000" charset="-122"/>
                <a:ea typeface="思源黑体 CN Regular" panose="020B0500000000000000" charset="-122"/>
                <a:cs typeface="思源黑体 CN Bold" panose="020B0800000000000000" charset="-122"/>
                <a:sym typeface="+mn-ea"/>
              </a:rPr>
              <a:t>(Detailed embodiments) </a:t>
            </a:r>
            <a:r>
              <a:rPr lang="en-US" altLang="zh-CN" sz="2400" dirty="0" smtClean="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rPr>
              <a:t>*</a:t>
            </a:r>
            <a:endParaRPr lang="en-US" altLang="zh-CN" sz="2400" dirty="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endParaRPr>
          </a:p>
        </p:txBody>
      </p:sp>
      <p:pic>
        <p:nvPicPr>
          <p:cNvPr id="9" name="图片 8" descr="未标题-15464646"/>
          <p:cNvPicPr>
            <a:picLocks noChangeAspect="1"/>
          </p:cNvPicPr>
          <p:nvPr/>
        </p:nvPicPr>
        <p:blipFill>
          <a:blip r:embed="rId4"/>
          <a:srcRect r="44315" b="-12355"/>
          <a:stretch>
            <a:fillRect/>
          </a:stretch>
        </p:blipFill>
        <p:spPr>
          <a:xfrm>
            <a:off x="11765915" y="320675"/>
            <a:ext cx="426085" cy="184785"/>
          </a:xfrm>
          <a:prstGeom prst="rect">
            <a:avLst/>
          </a:prstGeom>
        </p:spPr>
      </p:pic>
      <p:sp>
        <p:nvSpPr>
          <p:cNvPr id="23" name="灯片编号占位符 22"/>
          <p:cNvSpPr>
            <a:spLocks noGrp="1"/>
          </p:cNvSpPr>
          <p:nvPr>
            <p:ph type="sldNum" sz="quarter" idx="12"/>
          </p:nvPr>
        </p:nvSpPr>
        <p:spPr>
          <a:xfrm>
            <a:off x="9295765" y="6406515"/>
            <a:ext cx="2743200" cy="365125"/>
          </a:xfrm>
        </p:spPr>
        <p:txBody>
          <a:bodyPr/>
          <a:lstStyle/>
          <a:p>
            <a:fld id="{4085C35A-A984-384D-9063-286D40D760B5}" type="slidenum">
              <a:rPr kumimoji="1" lang="zh-CN" altLang="en-US" smtClean="0"/>
              <a:t>9</a:t>
            </a:fld>
            <a:endParaRPr kumimoji="1" lang="zh-CN" altLang="en-US"/>
          </a:p>
        </p:txBody>
      </p:sp>
      <p:pic>
        <p:nvPicPr>
          <p:cNvPr id="15" name="图片 14" descr="777"/>
          <p:cNvPicPr>
            <a:picLocks noChangeAspect="1"/>
          </p:cNvPicPr>
          <p:nvPr/>
        </p:nvPicPr>
        <p:blipFill>
          <a:blip r:embed="rId5"/>
          <a:stretch>
            <a:fillRect/>
          </a:stretch>
        </p:blipFill>
        <p:spPr>
          <a:xfrm>
            <a:off x="11775440" y="6451600"/>
            <a:ext cx="266065" cy="269875"/>
          </a:xfrm>
          <a:prstGeom prst="rect">
            <a:avLst/>
          </a:prstGeom>
        </p:spPr>
      </p:pic>
      <p:sp>
        <p:nvSpPr>
          <p:cNvPr id="14" name="TextBox 48"/>
          <p:cNvSpPr txBox="1"/>
          <p:nvPr/>
        </p:nvSpPr>
        <p:spPr>
          <a:xfrm>
            <a:off x="389890" y="6535420"/>
            <a:ext cx="1775794" cy="107722"/>
          </a:xfrm>
          <a:prstGeom prst="rect">
            <a:avLst/>
          </a:prstGeom>
          <a:noFill/>
        </p:spPr>
        <p:txBody>
          <a:bodyPr wrap="square" lIns="0" tIns="0" rIns="0" bIns="0" rtlCol="0">
            <a:spAutoFit/>
          </a:bodyPr>
          <a:lstStyle/>
          <a:p>
            <a:pPr algn="dist">
              <a:lnSpc>
                <a:spcPct val="100000"/>
              </a:lnSpc>
              <a:buClrTx/>
              <a:buSzTx/>
              <a:buFontTx/>
              <a:defRPr/>
            </a:pPr>
            <a:r>
              <a:rPr lang="en-US" altLang="zh-CN" sz="700" b="1" dirty="0" err="1">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ChangXin</a:t>
            </a:r>
            <a:r>
              <a:rPr lang="en-US" altLang="zh-CN" sz="7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 Memory Technologies, Inc.</a:t>
            </a:r>
            <a:endParaRPr lang="zh-CN" altLang="en-US" sz="700" b="1" dirty="0" smtClean="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cxnSp>
        <p:nvCxnSpPr>
          <p:cNvPr id="16" name="Straight Connector 14"/>
          <p:cNvCxnSpPr/>
          <p:nvPr/>
        </p:nvCxnSpPr>
        <p:spPr>
          <a:xfrm>
            <a:off x="-94" y="6586447"/>
            <a:ext cx="30099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cxnSp>
        <p:nvCxnSpPr>
          <p:cNvPr id="18" name="Straight Connector 14"/>
          <p:cNvCxnSpPr/>
          <p:nvPr/>
        </p:nvCxnSpPr>
        <p:spPr>
          <a:xfrm>
            <a:off x="2233101" y="6589622"/>
            <a:ext cx="642366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sp>
        <p:nvSpPr>
          <p:cNvPr id="12" name="内容占位符 2"/>
          <p:cNvSpPr txBox="1">
            <a:spLocks/>
          </p:cNvSpPr>
          <p:nvPr/>
        </p:nvSpPr>
        <p:spPr>
          <a:xfrm>
            <a:off x="228600" y="1050925"/>
            <a:ext cx="11716352" cy="5339067"/>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en-US" sz="1800" dirty="0" smtClean="0">
                <a:latin typeface="arial" panose="020B0604020202020204" pitchFamily="34" charset="0"/>
                <a:ea typeface="等线" panose="02010600030101010101" pitchFamily="2" charset="-122"/>
                <a:cs typeface="arial" panose="020B0604020202020204" pitchFamily="34" charset="0"/>
              </a:rPr>
              <a:t>包括揭露</a:t>
            </a:r>
            <a:r>
              <a:rPr lang="zh-CN" altLang="en-US" sz="1800" dirty="0">
                <a:latin typeface="arial" panose="020B0604020202020204" pitchFamily="34" charset="0"/>
                <a:ea typeface="等线" panose="02010600030101010101" pitchFamily="2" charset="-122"/>
                <a:cs typeface="arial" panose="020B0604020202020204" pitchFamily="34" charset="0"/>
              </a:rPr>
              <a:t>至少</a:t>
            </a:r>
            <a:r>
              <a:rPr lang="zh-CN" altLang="en-US" sz="1800" dirty="0" smtClean="0">
                <a:latin typeface="arial" panose="020B0604020202020204" pitchFamily="34" charset="0"/>
                <a:ea typeface="等线" panose="02010600030101010101" pitchFamily="2" charset="-122"/>
                <a:cs typeface="arial" panose="020B0604020202020204" pitchFamily="34" charset="0"/>
              </a:rPr>
              <a:t>两个</a:t>
            </a:r>
            <a:r>
              <a:rPr lang="zh-CN" altLang="en-US" sz="1800" dirty="0">
                <a:latin typeface="arial" panose="020B0604020202020204" pitchFamily="34" charset="0"/>
                <a:ea typeface="等线" panose="02010600030101010101" pitchFamily="2" charset="-122"/>
                <a:cs typeface="arial" panose="020B0604020202020204" pitchFamily="34" charset="0"/>
              </a:rPr>
              <a:t>或多个最佳实施方式。</a:t>
            </a:r>
            <a:r>
              <a:rPr lang="en-US" altLang="zh-CN" sz="1800" dirty="0">
                <a:latin typeface="arial" panose="020B0604020202020204" pitchFamily="34" charset="0"/>
                <a:ea typeface="等线" panose="02010600030101010101" pitchFamily="2" charset="-122"/>
                <a:cs typeface="arial" panose="020B0604020202020204" pitchFamily="34" charset="0"/>
              </a:rPr>
              <a:t>Including disclosure of two</a:t>
            </a:r>
            <a:r>
              <a:rPr lang="en-US" altLang="zh-CN" sz="1800" dirty="0" smtClean="0">
                <a:latin typeface="arial" panose="020B0604020202020204" pitchFamily="34" charset="0"/>
                <a:ea typeface="等线" panose="02010600030101010101" pitchFamily="2" charset="-122"/>
                <a:cs typeface="arial" panose="020B0604020202020204" pitchFamily="34" charset="0"/>
              </a:rPr>
              <a:t> </a:t>
            </a:r>
            <a:r>
              <a:rPr lang="en-US" altLang="zh-CN" sz="1800" dirty="0">
                <a:latin typeface="arial" panose="020B0604020202020204" pitchFamily="34" charset="0"/>
                <a:ea typeface="等线" panose="02010600030101010101" pitchFamily="2" charset="-122"/>
                <a:cs typeface="arial" panose="020B0604020202020204" pitchFamily="34" charset="0"/>
              </a:rPr>
              <a:t>or more best </a:t>
            </a:r>
            <a:r>
              <a:rPr lang="en-US" altLang="zh-CN" sz="1800" dirty="0" smtClean="0">
                <a:latin typeface="arial" panose="020B0604020202020204" pitchFamily="34" charset="0"/>
                <a:ea typeface="等线" panose="02010600030101010101" pitchFamily="2" charset="-122"/>
                <a:cs typeface="arial" panose="020B0604020202020204" pitchFamily="34" charset="0"/>
              </a:rPr>
              <a:t>embodiments.</a:t>
            </a:r>
          </a:p>
          <a:p>
            <a:pPr>
              <a:lnSpc>
                <a:spcPct val="100000"/>
              </a:lnSpc>
            </a:pPr>
            <a:r>
              <a:rPr lang="zh-CN" altLang="en-US" sz="1800" dirty="0" smtClean="0">
                <a:latin typeface="arial" panose="020B0604020202020204" pitchFamily="34" charset="0"/>
                <a:ea typeface="等线" panose="02010600030101010101" pitchFamily="2" charset="-122"/>
                <a:cs typeface="arial" panose="020B0604020202020204" pitchFamily="34" charset="0"/>
              </a:rPr>
              <a:t>第一最佳实施例 </a:t>
            </a:r>
            <a:r>
              <a:rPr lang="en-US" altLang="zh-CN" sz="1800" dirty="0" smtClean="0">
                <a:latin typeface="arial" panose="020B0604020202020204" pitchFamily="34" charset="0"/>
                <a:ea typeface="等线" panose="02010600030101010101" pitchFamily="2" charset="-122"/>
                <a:cs typeface="arial" panose="020B0604020202020204" pitchFamily="34" charset="0"/>
              </a:rPr>
              <a:t>The first embodiment</a:t>
            </a:r>
          </a:p>
          <a:p>
            <a:pPr>
              <a:lnSpc>
                <a:spcPct val="100000"/>
              </a:lnSpc>
            </a:pPr>
            <a:r>
              <a:rPr lang="zh-CN" altLang="en-US" sz="1800" dirty="0" smtClean="0">
                <a:latin typeface="arial" panose="020B0604020202020204" pitchFamily="34" charset="0"/>
                <a:ea typeface="等线" panose="02010600030101010101" pitchFamily="2" charset="-122"/>
                <a:cs typeface="arial" panose="020B0604020202020204" pitchFamily="34" charset="0"/>
              </a:rPr>
              <a:t>第二</a:t>
            </a:r>
            <a:r>
              <a:rPr lang="zh-CN" altLang="en-US" sz="1800" dirty="0">
                <a:latin typeface="arial" panose="020B0604020202020204" pitchFamily="34" charset="0"/>
                <a:ea typeface="等线" panose="02010600030101010101" pitchFamily="2" charset="-122"/>
                <a:cs typeface="arial" panose="020B0604020202020204" pitchFamily="34" charset="0"/>
              </a:rPr>
              <a:t>最佳实施</a:t>
            </a:r>
            <a:r>
              <a:rPr lang="zh-CN" altLang="en-US" sz="1800" dirty="0" smtClean="0">
                <a:latin typeface="arial" panose="020B0604020202020204" pitchFamily="34" charset="0"/>
                <a:ea typeface="等线" panose="02010600030101010101" pitchFamily="2" charset="-122"/>
                <a:cs typeface="arial" panose="020B0604020202020204" pitchFamily="34" charset="0"/>
              </a:rPr>
              <a:t>例 </a:t>
            </a:r>
            <a:r>
              <a:rPr lang="en-US" altLang="zh-CN" sz="1800" dirty="0" smtClean="0">
                <a:latin typeface="arial" panose="020B0604020202020204" pitchFamily="34" charset="0"/>
                <a:ea typeface="等线" panose="02010600030101010101" pitchFamily="2" charset="-122"/>
                <a:cs typeface="arial" panose="020B0604020202020204" pitchFamily="34" charset="0"/>
              </a:rPr>
              <a:t>The second embodiment</a:t>
            </a:r>
            <a:endParaRPr lang="en-US" altLang="zh-CN" sz="1800" dirty="0">
              <a:latin typeface="arial" panose="020B0604020202020204" pitchFamily="34" charset="0"/>
              <a:ea typeface="等线" panose="02010600030101010101" pitchFamily="2" charset="-122"/>
              <a:cs typeface="arial" panose="020B0604020202020204" pitchFamily="34" charset="0"/>
            </a:endParaRPr>
          </a:p>
          <a:p>
            <a:pPr>
              <a:lnSpc>
                <a:spcPct val="100000"/>
              </a:lnSpc>
            </a:pPr>
            <a:r>
              <a:rPr lang="zh-CN" altLang="en-US" sz="1800" dirty="0">
                <a:latin typeface="arial" panose="020B0604020202020204" pitchFamily="34" charset="0"/>
                <a:ea typeface="等线" panose="02010600030101010101" pitchFamily="2" charset="-122"/>
                <a:cs typeface="arial" panose="020B0604020202020204" pitchFamily="34" charset="0"/>
              </a:rPr>
              <a:t>说明具体的实施步骤，必须有相应的技术参数、数据。</a:t>
            </a:r>
            <a:r>
              <a:rPr lang="en-US" altLang="zh-CN" sz="1800" dirty="0">
                <a:latin typeface="arial" panose="020B0604020202020204" pitchFamily="34" charset="0"/>
                <a:ea typeface="等线" panose="02010600030101010101" pitchFamily="2" charset="-122"/>
                <a:cs typeface="arial" panose="020B0604020202020204" pitchFamily="34" charset="0"/>
              </a:rPr>
              <a:t>Explain the detailed embodiments which have corresponding parameters or data. </a:t>
            </a:r>
          </a:p>
          <a:p>
            <a:pPr>
              <a:lnSpc>
                <a:spcPct val="100000"/>
              </a:lnSpc>
            </a:pPr>
            <a:r>
              <a:rPr lang="zh-CN" altLang="en-US" sz="1800" dirty="0">
                <a:latin typeface="arial" panose="020B0604020202020204" pitchFamily="34" charset="0"/>
                <a:ea typeface="等线" panose="02010600030101010101" pitchFamily="2" charset="-122"/>
                <a:cs typeface="arial" panose="020B0604020202020204" pitchFamily="34" charset="0"/>
              </a:rPr>
              <a:t>具体实施方式的说明应对应到附图。</a:t>
            </a:r>
            <a:r>
              <a:rPr lang="en-US" altLang="zh-CN" sz="1800" dirty="0">
                <a:latin typeface="arial" panose="020B0604020202020204" pitchFamily="34" charset="0"/>
                <a:ea typeface="等线" panose="02010600030101010101" pitchFamily="2" charset="-122"/>
                <a:cs typeface="arial" panose="020B0604020202020204" pitchFamily="34" charset="0"/>
              </a:rPr>
              <a:t>The embodiments is corresponding to related features or drawings</a:t>
            </a:r>
            <a:r>
              <a:rPr lang="en-US" altLang="zh-CN" sz="1800" dirty="0" smtClean="0">
                <a:latin typeface="arial" panose="020B0604020202020204" pitchFamily="34" charset="0"/>
                <a:ea typeface="等线" panose="02010600030101010101" pitchFamily="2" charset="-122"/>
                <a:cs typeface="arial" panose="020B0604020202020204" pitchFamily="34" charset="0"/>
              </a:rPr>
              <a:t>.</a:t>
            </a:r>
          </a:p>
          <a:p>
            <a:pPr>
              <a:lnSpc>
                <a:spcPct val="100000"/>
              </a:lnSpc>
            </a:pPr>
            <a:r>
              <a:rPr lang="zh-CN" altLang="en-US" sz="1800" dirty="0">
                <a:latin typeface="arial" panose="020B0604020202020204" pitchFamily="34" charset="0"/>
                <a:ea typeface="等线" panose="02010600030101010101" pitchFamily="2" charset="-122"/>
                <a:cs typeface="arial" panose="020B0604020202020204" pitchFamily="34" charset="0"/>
              </a:rPr>
              <a:t>实施</a:t>
            </a:r>
            <a:r>
              <a:rPr lang="zh-CN" altLang="en-US" sz="1800" dirty="0" smtClean="0">
                <a:latin typeface="arial" panose="020B0604020202020204" pitchFamily="34" charset="0"/>
                <a:ea typeface="等线" panose="02010600030101010101" pitchFamily="2" charset="-122"/>
                <a:cs typeface="arial" panose="020B0604020202020204" pitchFamily="34" charset="0"/>
              </a:rPr>
              <a:t>图中的图例必须清楚说明。</a:t>
            </a:r>
            <a:r>
              <a:rPr lang="en-US" altLang="zh-CN" sz="1800" dirty="0" smtClean="0">
                <a:latin typeface="arial" panose="020B0604020202020204" pitchFamily="34" charset="0"/>
                <a:ea typeface="等线" panose="02010600030101010101" pitchFamily="2" charset="-122"/>
                <a:cs typeface="arial" panose="020B0604020202020204" pitchFamily="34" charset="0"/>
              </a:rPr>
              <a:t>To give clear description of legend for each diagram. </a:t>
            </a:r>
            <a:endParaRPr lang="en-US" altLang="zh-CN" sz="1800" dirty="0">
              <a:latin typeface="arial" panose="020B0604020202020204" pitchFamily="34" charset="0"/>
              <a:ea typeface="等线" panose="02010600030101010101" pitchFamily="2" charset="-122"/>
              <a:cs typeface="arial" panose="020B0604020202020204" pitchFamily="34" charset="0"/>
            </a:endParaRPr>
          </a:p>
          <a:p>
            <a:pPr>
              <a:lnSpc>
                <a:spcPct val="100000"/>
              </a:lnSpc>
            </a:pPr>
            <a:r>
              <a:rPr lang="zh-CN" altLang="en-US" sz="1800" dirty="0">
                <a:latin typeface="arial" panose="020B0604020202020204" pitchFamily="34" charset="0"/>
                <a:ea typeface="等线" panose="02010600030101010101" pitchFamily="2" charset="-122"/>
                <a:cs typeface="arial" panose="020B0604020202020204" pitchFamily="34" charset="0"/>
              </a:rPr>
              <a:t>每一张附图必须清楚说明内容，能提供充分的信息以理解附图中的技术。</a:t>
            </a:r>
            <a:r>
              <a:rPr lang="en-US" altLang="zh-CN" sz="1800" dirty="0">
                <a:latin typeface="arial" panose="020B0604020202020204" pitchFamily="34" charset="0"/>
                <a:ea typeface="等线" panose="02010600030101010101" pitchFamily="2" charset="-122"/>
                <a:cs typeface="arial" panose="020B0604020202020204" pitchFamily="34" charset="0"/>
              </a:rPr>
              <a:t>To give a clear description for each figures in order to give the sufficient technical information in the related figures or drawings.</a:t>
            </a:r>
          </a:p>
          <a:p>
            <a:pPr>
              <a:lnSpc>
                <a:spcPct val="100000"/>
              </a:lnSpc>
            </a:pPr>
            <a:r>
              <a:rPr lang="zh-CN" altLang="en-US" sz="1800" dirty="0">
                <a:latin typeface="arial" panose="020B0604020202020204" pitchFamily="34" charset="0"/>
                <a:ea typeface="等线" panose="02010600030101010101" pitchFamily="2" charset="-122"/>
                <a:cs typeface="arial" panose="020B0604020202020204" pitchFamily="34" charset="0"/>
              </a:rPr>
              <a:t>专利法予以保护的是技术方案不是功能，因此需要给出实现某种功能的具体技术方案，不能仅仅阐述功能。本部分为专利最重要的部分，需要详细、清楚和完整描述全部的必要技术特征，使发明创造的技术内容充分公开，使本技术领域人员无需进行创造性劳动就能实现为最低要求。</a:t>
            </a:r>
            <a:r>
              <a:rPr lang="en-US" altLang="zh-CN" sz="1800" dirty="0">
                <a:latin typeface="arial" panose="020B0604020202020204" pitchFamily="34" charset="0"/>
                <a:ea typeface="等线" panose="02010600030101010101" pitchFamily="2" charset="-122"/>
                <a:cs typeface="arial" panose="020B0604020202020204" pitchFamily="34" charset="0"/>
              </a:rPr>
              <a:t>What the patent law protects is the technical solution, not the function. It is necessary to give a specific technical solution to solve a certain problem, rather than just only give the description of the desired function. This is the most important part of the patent, which needs to describe all necessary technical features in detail. The engineer who can reproduce the invention from the fully disclosure of the invention is the minimum requirements without extra creative effort.</a:t>
            </a:r>
          </a:p>
          <a:p>
            <a:pPr>
              <a:lnSpc>
                <a:spcPct val="100000"/>
              </a:lnSpc>
            </a:pPr>
            <a:endParaRPr lang="en-US" altLang="zh-CN" sz="1800" dirty="0" smtClean="0">
              <a:latin typeface="arial" panose="020B0604020202020204" pitchFamily="34" charset="0"/>
              <a:ea typeface="等线" panose="02010600030101010101" pitchFamily="2" charset="-122"/>
              <a:cs typeface="arial" panose="020B0604020202020204" pitchFamily="34" charset="0"/>
            </a:endParaRPr>
          </a:p>
          <a:p>
            <a:pPr>
              <a:lnSpc>
                <a:spcPct val="100000"/>
              </a:lnSpc>
            </a:pPr>
            <a:endParaRPr lang="en-US" altLang="zh-CN" sz="1800" dirty="0" smtClean="0">
              <a:latin typeface="等线" panose="02010600030101010101" pitchFamily="2" charset="-122"/>
              <a:ea typeface="等线" panose="02010600030101010101" pitchFamily="2" charset="-122"/>
            </a:endParaRPr>
          </a:p>
        </p:txBody>
      </p:sp>
      <p:sp>
        <p:nvSpPr>
          <p:cNvPr id="13" name="TextBox 48"/>
          <p:cNvSpPr txBox="1"/>
          <p:nvPr/>
        </p:nvSpPr>
        <p:spPr>
          <a:xfrm>
            <a:off x="10667365" y="6514842"/>
            <a:ext cx="931194" cy="184666"/>
          </a:xfrm>
          <a:prstGeom prst="rect">
            <a:avLst/>
          </a:prstGeom>
          <a:noFill/>
        </p:spPr>
        <p:txBody>
          <a:bodyPr wrap="square" lIns="0" tIns="0" rIns="0" bIns="0" rtlCol="0">
            <a:spAutoFit/>
          </a:bodyPr>
          <a:lstStyle/>
          <a:p>
            <a:pPr>
              <a:lnSpc>
                <a:spcPct val="100000"/>
              </a:lnSpc>
              <a:buClrTx/>
              <a:buSzTx/>
              <a:buFontTx/>
              <a:defRPr/>
            </a:pPr>
            <a:r>
              <a:rPr lang="en-US" altLang="zh-CN" sz="12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a:t>
            </a:r>
            <a:r>
              <a:rPr lang="en-US" altLang="zh-CN" sz="1200" b="1" dirty="0" smtClean="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onfidential</a:t>
            </a:r>
            <a:endParaRPr lang="zh-CN" altLang="en-US" sz="1200" b="1" dirty="0" smtClean="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spTree>
    <p:extLst>
      <p:ext uri="{BB962C8B-B14F-4D97-AF65-F5344CB8AC3E}">
        <p14:creationId xmlns:p14="http://schemas.microsoft.com/office/powerpoint/2010/main" val="40073073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0" name="Straight Connector 10"/>
          <p:cNvCxnSpPr/>
          <p:nvPr/>
        </p:nvCxnSpPr>
        <p:spPr>
          <a:xfrm>
            <a:off x="0" y="789305"/>
            <a:ext cx="12200255" cy="0"/>
          </a:xfrm>
          <a:prstGeom prst="line">
            <a:avLst/>
          </a:prstGeom>
          <a:ln w="12700">
            <a:solidFill>
              <a:srgbClr val="005CB9"/>
            </a:solidFill>
          </a:ln>
        </p:spPr>
        <p:style>
          <a:lnRef idx="1">
            <a:schemeClr val="accent1"/>
          </a:lnRef>
          <a:fillRef idx="0">
            <a:schemeClr val="accent1"/>
          </a:fillRef>
          <a:effectRef idx="0">
            <a:schemeClr val="accent1"/>
          </a:effectRef>
          <a:fontRef idx="minor">
            <a:schemeClr val="tx1"/>
          </a:fontRef>
        </p:style>
      </p:cxnSp>
      <p:pic>
        <p:nvPicPr>
          <p:cNvPr id="126" name="图片 1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41489" y="322069"/>
            <a:ext cx="644388" cy="171837"/>
          </a:xfrm>
          <a:prstGeom prst="rect">
            <a:avLst/>
          </a:prstGeom>
        </p:spPr>
      </p:pic>
      <p:sp>
        <p:nvSpPr>
          <p:cNvPr id="5" name="矩形 4"/>
          <p:cNvSpPr/>
          <p:nvPr/>
        </p:nvSpPr>
        <p:spPr>
          <a:xfrm>
            <a:off x="389890" y="261620"/>
            <a:ext cx="480060" cy="292735"/>
          </a:xfrm>
          <a:prstGeom prst="rect">
            <a:avLst/>
          </a:prstGeom>
          <a:solidFill>
            <a:srgbClr val="005CB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dist">
              <a:lnSpc>
                <a:spcPct val="120000"/>
              </a:lnSpc>
            </a:pPr>
            <a:r>
              <a:rPr lang="en-US" altLang="zh-CN" sz="1200" dirty="0" smtClean="0">
                <a:latin typeface="思源黑体 CN Medium" panose="020B0600000000000000" charset="-122"/>
                <a:ea typeface="思源黑体 CN Medium" panose="020B0600000000000000" charset="-122"/>
                <a:cs typeface="Aparajita" panose="020B0604020202020204" pitchFamily="34" charset="0"/>
              </a:rPr>
              <a:t>7</a:t>
            </a:r>
          </a:p>
        </p:txBody>
      </p:sp>
      <p:sp>
        <p:nvSpPr>
          <p:cNvPr id="7" name="TextBox 48"/>
          <p:cNvSpPr txBox="1"/>
          <p:nvPr/>
        </p:nvSpPr>
        <p:spPr>
          <a:xfrm>
            <a:off x="980440" y="223520"/>
            <a:ext cx="6132629" cy="369332"/>
          </a:xfrm>
          <a:prstGeom prst="rect">
            <a:avLst/>
          </a:prstGeom>
          <a:noFill/>
        </p:spPr>
        <p:txBody>
          <a:bodyPr wrap="square" lIns="0" tIns="0" rIns="0" bIns="0" rtlCol="0">
            <a:spAutoFit/>
          </a:bodyPr>
          <a:lstStyle/>
          <a:p>
            <a:pPr>
              <a:defRPr/>
            </a:pPr>
            <a:r>
              <a:rPr lang="zh-CN" altLang="en-US" sz="2400" dirty="0">
                <a:latin typeface="思源黑体 CN Regular" panose="020B0500000000000000" charset="-122"/>
                <a:ea typeface="思源黑体 CN Regular" panose="020B0500000000000000" charset="-122"/>
                <a:cs typeface="思源黑体 CN Bold" panose="020B0800000000000000" charset="-122"/>
                <a:sym typeface="+mn-ea"/>
              </a:rPr>
              <a:t>附图与说明 </a:t>
            </a:r>
            <a:r>
              <a:rPr lang="en-US" altLang="zh-CN" sz="2400" dirty="0">
                <a:latin typeface="思源黑体 CN Regular" panose="020B0500000000000000" charset="-122"/>
                <a:ea typeface="思源黑体 CN Regular" panose="020B0500000000000000" charset="-122"/>
                <a:cs typeface="思源黑体 CN Bold" panose="020B0800000000000000" charset="-122"/>
                <a:sym typeface="+mn-ea"/>
              </a:rPr>
              <a:t>(Figures and description) </a:t>
            </a:r>
            <a:r>
              <a:rPr lang="en-US" altLang="zh-CN" sz="2400" dirty="0" smtClean="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rPr>
              <a:t>*</a:t>
            </a:r>
            <a:endParaRPr lang="en-US" altLang="zh-CN" sz="2400" dirty="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endParaRPr>
          </a:p>
        </p:txBody>
      </p:sp>
      <p:pic>
        <p:nvPicPr>
          <p:cNvPr id="9" name="图片 8" descr="未标题-15464646"/>
          <p:cNvPicPr>
            <a:picLocks noChangeAspect="1"/>
          </p:cNvPicPr>
          <p:nvPr/>
        </p:nvPicPr>
        <p:blipFill>
          <a:blip r:embed="rId4"/>
          <a:srcRect r="44315" b="-12355"/>
          <a:stretch>
            <a:fillRect/>
          </a:stretch>
        </p:blipFill>
        <p:spPr>
          <a:xfrm>
            <a:off x="11765915" y="320675"/>
            <a:ext cx="426085" cy="184785"/>
          </a:xfrm>
          <a:prstGeom prst="rect">
            <a:avLst/>
          </a:prstGeom>
        </p:spPr>
      </p:pic>
      <p:sp>
        <p:nvSpPr>
          <p:cNvPr id="23" name="灯片编号占位符 22"/>
          <p:cNvSpPr>
            <a:spLocks noGrp="1"/>
          </p:cNvSpPr>
          <p:nvPr>
            <p:ph type="sldNum" sz="quarter" idx="12"/>
          </p:nvPr>
        </p:nvSpPr>
        <p:spPr>
          <a:xfrm>
            <a:off x="9295765" y="6406515"/>
            <a:ext cx="2743200" cy="365125"/>
          </a:xfrm>
        </p:spPr>
        <p:txBody>
          <a:bodyPr/>
          <a:lstStyle/>
          <a:p>
            <a:fld id="{4085C35A-A984-384D-9063-286D40D760B5}" type="slidenum">
              <a:rPr kumimoji="1" lang="zh-CN" altLang="en-US" smtClean="0"/>
              <a:t>10</a:t>
            </a:fld>
            <a:endParaRPr kumimoji="1" lang="zh-CN" altLang="en-US" dirty="0"/>
          </a:p>
        </p:txBody>
      </p:sp>
      <p:pic>
        <p:nvPicPr>
          <p:cNvPr id="15" name="图片 14" descr="777"/>
          <p:cNvPicPr>
            <a:picLocks noChangeAspect="1"/>
          </p:cNvPicPr>
          <p:nvPr/>
        </p:nvPicPr>
        <p:blipFill>
          <a:blip r:embed="rId5"/>
          <a:stretch>
            <a:fillRect/>
          </a:stretch>
        </p:blipFill>
        <p:spPr>
          <a:xfrm>
            <a:off x="11775440" y="6451600"/>
            <a:ext cx="266065" cy="269875"/>
          </a:xfrm>
          <a:prstGeom prst="rect">
            <a:avLst/>
          </a:prstGeom>
        </p:spPr>
      </p:pic>
      <p:sp>
        <p:nvSpPr>
          <p:cNvPr id="14" name="TextBox 48"/>
          <p:cNvSpPr txBox="1"/>
          <p:nvPr/>
        </p:nvSpPr>
        <p:spPr>
          <a:xfrm>
            <a:off x="389890" y="6535420"/>
            <a:ext cx="1775794" cy="107722"/>
          </a:xfrm>
          <a:prstGeom prst="rect">
            <a:avLst/>
          </a:prstGeom>
          <a:noFill/>
        </p:spPr>
        <p:txBody>
          <a:bodyPr wrap="square" lIns="0" tIns="0" rIns="0" bIns="0" rtlCol="0">
            <a:spAutoFit/>
          </a:bodyPr>
          <a:lstStyle/>
          <a:p>
            <a:pPr algn="dist">
              <a:lnSpc>
                <a:spcPct val="100000"/>
              </a:lnSpc>
              <a:buClrTx/>
              <a:buSzTx/>
              <a:buFontTx/>
              <a:defRPr/>
            </a:pPr>
            <a:r>
              <a:rPr lang="en-US" altLang="zh-CN" sz="700" b="1" dirty="0" err="1">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ChangXin</a:t>
            </a:r>
            <a:r>
              <a:rPr lang="en-US" altLang="zh-CN" sz="7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 Memory Technologies, Inc.</a:t>
            </a:r>
            <a:endParaRPr lang="zh-CN" altLang="en-US" sz="700" b="1" dirty="0" smtClean="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cxnSp>
        <p:nvCxnSpPr>
          <p:cNvPr id="16" name="Straight Connector 14"/>
          <p:cNvCxnSpPr/>
          <p:nvPr/>
        </p:nvCxnSpPr>
        <p:spPr>
          <a:xfrm>
            <a:off x="-94" y="6586447"/>
            <a:ext cx="30099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cxnSp>
        <p:nvCxnSpPr>
          <p:cNvPr id="18" name="Straight Connector 14"/>
          <p:cNvCxnSpPr/>
          <p:nvPr/>
        </p:nvCxnSpPr>
        <p:spPr>
          <a:xfrm>
            <a:off x="2233101" y="6589622"/>
            <a:ext cx="642366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sp>
        <p:nvSpPr>
          <p:cNvPr id="12" name="内容占位符 2"/>
          <p:cNvSpPr txBox="1">
            <a:spLocks/>
          </p:cNvSpPr>
          <p:nvPr/>
        </p:nvSpPr>
        <p:spPr>
          <a:xfrm>
            <a:off x="228599" y="1050926"/>
            <a:ext cx="11725977" cy="5235382"/>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en-US" sz="2000" dirty="0" smtClean="0">
                <a:latin typeface="等线" panose="02010600030101010101" pitchFamily="2" charset="-122"/>
                <a:ea typeface="等线" panose="02010600030101010101" pitchFamily="2" charset="-122"/>
              </a:rPr>
              <a:t>图一说明 </a:t>
            </a:r>
            <a:r>
              <a:rPr lang="en-US" altLang="zh-CN" sz="2000" dirty="0" smtClean="0">
                <a:latin typeface="arial" panose="020B0604020202020204" pitchFamily="34" charset="0"/>
                <a:ea typeface="等线" panose="02010600030101010101" pitchFamily="2" charset="-122"/>
                <a:cs typeface="arial" panose="020B0604020202020204" pitchFamily="34" charset="0"/>
              </a:rPr>
              <a:t>(Figure 1 : Description)</a:t>
            </a:r>
          </a:p>
          <a:p>
            <a:pPr>
              <a:lnSpc>
                <a:spcPct val="100000"/>
              </a:lnSpc>
            </a:pPr>
            <a:r>
              <a:rPr lang="zh-CN" altLang="en-US" sz="2000" dirty="0" smtClean="0">
                <a:latin typeface="等线" panose="02010600030101010101" pitchFamily="2" charset="-122"/>
                <a:ea typeface="等线" panose="02010600030101010101" pitchFamily="2" charset="-122"/>
              </a:rPr>
              <a:t>图二说明 </a:t>
            </a:r>
            <a:r>
              <a:rPr lang="en-US" altLang="zh-CN" sz="2000" dirty="0" smtClean="0">
                <a:latin typeface="arial" panose="020B0604020202020204" pitchFamily="34" charset="0"/>
                <a:ea typeface="等线" panose="02010600030101010101" pitchFamily="2" charset="-122"/>
                <a:cs typeface="arial" panose="020B0604020202020204" pitchFamily="34" charset="0"/>
              </a:rPr>
              <a:t>(Figure 2: Description)</a:t>
            </a:r>
          </a:p>
          <a:p>
            <a:pPr>
              <a:lnSpc>
                <a:spcPct val="100000"/>
              </a:lnSpc>
            </a:pPr>
            <a:r>
              <a:rPr lang="en-US" altLang="zh-CN" sz="2000" dirty="0" smtClean="0">
                <a:latin typeface="arial" panose="020B0604020202020204" pitchFamily="34" charset="0"/>
                <a:ea typeface="等线" panose="02010600030101010101" pitchFamily="2" charset="-122"/>
                <a:cs typeface="arial" panose="020B0604020202020204" pitchFamily="34" charset="0"/>
              </a:rPr>
              <a:t>……</a:t>
            </a:r>
          </a:p>
          <a:p>
            <a:pPr>
              <a:lnSpc>
                <a:spcPct val="100000"/>
              </a:lnSpc>
            </a:pPr>
            <a:r>
              <a:rPr lang="zh-CN" altLang="en-US" sz="2000" dirty="0" smtClean="0">
                <a:latin typeface="arial" panose="020B0604020202020204" pitchFamily="34" charset="0"/>
                <a:ea typeface="等线" panose="02010600030101010101" pitchFamily="2" charset="-122"/>
                <a:cs typeface="arial" panose="020B0604020202020204" pitchFamily="34" charset="0"/>
              </a:rPr>
              <a:t>请</a:t>
            </a:r>
            <a:r>
              <a:rPr lang="zh-CN" altLang="en-US" sz="2000" dirty="0">
                <a:latin typeface="arial" panose="020B0604020202020204" pitchFamily="34" charset="0"/>
                <a:ea typeface="等线" panose="02010600030101010101" pitchFamily="2" charset="-122"/>
                <a:cs typeface="arial" panose="020B0604020202020204" pitchFamily="34" charset="0"/>
              </a:rPr>
              <a:t>将专利交底书中每一张图表编号，并附上图表的说明。</a:t>
            </a:r>
            <a:r>
              <a:rPr lang="en-US" altLang="zh-CN" sz="2000" dirty="0">
                <a:latin typeface="arial" panose="020B0604020202020204" pitchFamily="34" charset="0"/>
                <a:ea typeface="等线" panose="02010600030101010101" pitchFamily="2" charset="-122"/>
                <a:cs typeface="arial" panose="020B0604020202020204" pitchFamily="34" charset="0"/>
              </a:rPr>
              <a:t>Please number each figure or table and attach the description for them.</a:t>
            </a:r>
          </a:p>
        </p:txBody>
      </p:sp>
      <p:sp>
        <p:nvSpPr>
          <p:cNvPr id="13" name="矩形 12"/>
          <p:cNvSpPr/>
          <p:nvPr/>
        </p:nvSpPr>
        <p:spPr>
          <a:xfrm>
            <a:off x="1316736" y="3255264"/>
            <a:ext cx="1700784" cy="224942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附图</a:t>
            </a:r>
            <a:endParaRPr lang="en-US" altLang="zh-CN" dirty="0" smtClean="0">
              <a:solidFill>
                <a:schemeClr val="tx1"/>
              </a:solidFill>
            </a:endParaRPr>
          </a:p>
          <a:p>
            <a:pPr algn="ctr"/>
            <a:r>
              <a:rPr lang="en-US" altLang="zh-CN" dirty="0">
                <a:solidFill>
                  <a:schemeClr val="tx1"/>
                </a:solidFill>
              </a:rPr>
              <a:t>Figure</a:t>
            </a:r>
            <a:endParaRPr lang="zh-CN" altLang="en-US" dirty="0">
              <a:solidFill>
                <a:schemeClr val="tx1"/>
              </a:solidFill>
            </a:endParaRPr>
          </a:p>
        </p:txBody>
      </p:sp>
      <p:sp>
        <p:nvSpPr>
          <p:cNvPr id="17" name="矩形 16"/>
          <p:cNvSpPr/>
          <p:nvPr/>
        </p:nvSpPr>
        <p:spPr>
          <a:xfrm>
            <a:off x="4000099" y="3255264"/>
            <a:ext cx="1700784" cy="224942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附图</a:t>
            </a:r>
            <a:endParaRPr lang="en-US" altLang="zh-CN" dirty="0">
              <a:solidFill>
                <a:schemeClr val="tx1"/>
              </a:solidFill>
            </a:endParaRPr>
          </a:p>
          <a:p>
            <a:pPr algn="ctr"/>
            <a:r>
              <a:rPr lang="en-US" altLang="zh-CN" dirty="0">
                <a:solidFill>
                  <a:schemeClr val="tx1"/>
                </a:solidFill>
              </a:rPr>
              <a:t>Figure</a:t>
            </a:r>
            <a:endParaRPr lang="zh-CN" altLang="en-US" dirty="0">
              <a:solidFill>
                <a:schemeClr val="tx1"/>
              </a:solidFill>
            </a:endParaRPr>
          </a:p>
        </p:txBody>
      </p:sp>
      <p:sp>
        <p:nvSpPr>
          <p:cNvPr id="19" name="矩形 18"/>
          <p:cNvSpPr/>
          <p:nvPr/>
        </p:nvSpPr>
        <p:spPr>
          <a:xfrm>
            <a:off x="6555497" y="3255264"/>
            <a:ext cx="1700784" cy="224942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附图</a:t>
            </a:r>
            <a:endParaRPr lang="en-US" altLang="zh-CN" dirty="0">
              <a:solidFill>
                <a:schemeClr val="tx1"/>
              </a:solidFill>
            </a:endParaRPr>
          </a:p>
          <a:p>
            <a:pPr algn="ctr"/>
            <a:r>
              <a:rPr lang="en-US" altLang="zh-CN" dirty="0">
                <a:solidFill>
                  <a:schemeClr val="tx1"/>
                </a:solidFill>
              </a:rPr>
              <a:t>Figure</a:t>
            </a:r>
            <a:endParaRPr lang="zh-CN" altLang="en-US" dirty="0">
              <a:solidFill>
                <a:schemeClr val="tx1"/>
              </a:solidFill>
            </a:endParaRPr>
          </a:p>
        </p:txBody>
      </p:sp>
      <p:sp>
        <p:nvSpPr>
          <p:cNvPr id="20" name="文本框 19"/>
          <p:cNvSpPr txBox="1"/>
          <p:nvPr/>
        </p:nvSpPr>
        <p:spPr>
          <a:xfrm>
            <a:off x="1089151" y="5644520"/>
            <a:ext cx="2199641" cy="646331"/>
          </a:xfrm>
          <a:prstGeom prst="rect">
            <a:avLst/>
          </a:prstGeom>
          <a:noFill/>
        </p:spPr>
        <p:txBody>
          <a:bodyPr wrap="none" rtlCol="0">
            <a:spAutoFit/>
          </a:bodyPr>
          <a:lstStyle/>
          <a:p>
            <a:pPr algn="ctr"/>
            <a:r>
              <a:rPr lang="zh-CN" altLang="en-US" dirty="0" smtClean="0"/>
              <a:t>图</a:t>
            </a:r>
            <a:r>
              <a:rPr lang="en-US" altLang="zh-CN" dirty="0" smtClean="0"/>
              <a:t>1 </a:t>
            </a:r>
            <a:r>
              <a:rPr lang="zh-CN" altLang="en-US" dirty="0" smtClean="0"/>
              <a:t>图</a:t>
            </a:r>
            <a:r>
              <a:rPr lang="en-US" altLang="zh-CN" dirty="0" smtClean="0"/>
              <a:t>1</a:t>
            </a:r>
            <a:r>
              <a:rPr lang="zh-CN" altLang="en-US" dirty="0" smtClean="0"/>
              <a:t>说明</a:t>
            </a:r>
            <a:endParaRPr lang="en-US" altLang="zh-CN" dirty="0" smtClean="0"/>
          </a:p>
          <a:p>
            <a:pPr algn="ctr"/>
            <a:r>
              <a:rPr lang="en-US" altLang="zh-CN" dirty="0" smtClean="0"/>
              <a:t>Figure 1: description</a:t>
            </a:r>
            <a:endParaRPr lang="zh-CN" altLang="en-US" dirty="0"/>
          </a:p>
        </p:txBody>
      </p:sp>
      <p:sp>
        <p:nvSpPr>
          <p:cNvPr id="21" name="文本框 20"/>
          <p:cNvSpPr txBox="1"/>
          <p:nvPr/>
        </p:nvSpPr>
        <p:spPr>
          <a:xfrm>
            <a:off x="3718908" y="5639977"/>
            <a:ext cx="2199641" cy="646331"/>
          </a:xfrm>
          <a:prstGeom prst="rect">
            <a:avLst/>
          </a:prstGeom>
          <a:noFill/>
        </p:spPr>
        <p:txBody>
          <a:bodyPr wrap="none" rtlCol="0">
            <a:spAutoFit/>
          </a:bodyPr>
          <a:lstStyle/>
          <a:p>
            <a:pPr algn="ctr"/>
            <a:r>
              <a:rPr lang="zh-CN" altLang="en-US" dirty="0" smtClean="0"/>
              <a:t>图</a:t>
            </a:r>
            <a:r>
              <a:rPr lang="en-US" altLang="zh-CN" dirty="0" smtClean="0"/>
              <a:t>2 </a:t>
            </a:r>
            <a:r>
              <a:rPr lang="zh-CN" altLang="en-US" dirty="0" smtClean="0"/>
              <a:t>图</a:t>
            </a:r>
            <a:r>
              <a:rPr lang="en-US" altLang="zh-CN" dirty="0"/>
              <a:t>2</a:t>
            </a:r>
            <a:r>
              <a:rPr lang="zh-CN" altLang="en-US" dirty="0" smtClean="0"/>
              <a:t>说明</a:t>
            </a:r>
            <a:endParaRPr lang="en-US" altLang="zh-CN" dirty="0" smtClean="0"/>
          </a:p>
          <a:p>
            <a:pPr algn="ctr"/>
            <a:r>
              <a:rPr lang="en-US" altLang="zh-CN" dirty="0" smtClean="0"/>
              <a:t>Figure 2: description</a:t>
            </a:r>
            <a:endParaRPr lang="zh-CN" altLang="en-US" dirty="0"/>
          </a:p>
        </p:txBody>
      </p:sp>
      <p:sp>
        <p:nvSpPr>
          <p:cNvPr id="22" name="文本框 21"/>
          <p:cNvSpPr txBox="1"/>
          <p:nvPr/>
        </p:nvSpPr>
        <p:spPr>
          <a:xfrm>
            <a:off x="6306068" y="5639977"/>
            <a:ext cx="2199641" cy="646331"/>
          </a:xfrm>
          <a:prstGeom prst="rect">
            <a:avLst/>
          </a:prstGeom>
          <a:noFill/>
        </p:spPr>
        <p:txBody>
          <a:bodyPr wrap="none" rtlCol="0">
            <a:spAutoFit/>
          </a:bodyPr>
          <a:lstStyle/>
          <a:p>
            <a:pPr algn="ctr"/>
            <a:r>
              <a:rPr lang="zh-CN" altLang="en-US" dirty="0" smtClean="0"/>
              <a:t>图</a:t>
            </a:r>
            <a:r>
              <a:rPr lang="en-US" altLang="zh-CN" dirty="0"/>
              <a:t>3</a:t>
            </a:r>
            <a:r>
              <a:rPr lang="en-US" altLang="zh-CN" dirty="0" smtClean="0"/>
              <a:t> </a:t>
            </a:r>
            <a:r>
              <a:rPr lang="zh-CN" altLang="en-US" dirty="0" smtClean="0"/>
              <a:t>图</a:t>
            </a:r>
            <a:r>
              <a:rPr lang="en-US" altLang="zh-CN" dirty="0"/>
              <a:t>3</a:t>
            </a:r>
            <a:r>
              <a:rPr lang="zh-CN" altLang="en-US" dirty="0" smtClean="0"/>
              <a:t>说明</a:t>
            </a:r>
            <a:endParaRPr lang="en-US" altLang="zh-CN" dirty="0" smtClean="0"/>
          </a:p>
          <a:p>
            <a:pPr algn="ctr"/>
            <a:r>
              <a:rPr lang="en-US" altLang="zh-CN" dirty="0" smtClean="0"/>
              <a:t>Figure 3: description</a:t>
            </a:r>
            <a:endParaRPr lang="zh-CN" altLang="en-US" dirty="0"/>
          </a:p>
        </p:txBody>
      </p:sp>
      <p:sp>
        <p:nvSpPr>
          <p:cNvPr id="24" name="矩形 23"/>
          <p:cNvSpPr/>
          <p:nvPr/>
        </p:nvSpPr>
        <p:spPr>
          <a:xfrm>
            <a:off x="9254021" y="3255264"/>
            <a:ext cx="1700784" cy="224942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表格</a:t>
            </a:r>
            <a:endParaRPr lang="en-US" altLang="zh-CN" dirty="0" smtClean="0">
              <a:solidFill>
                <a:schemeClr val="tx1"/>
              </a:solidFill>
            </a:endParaRPr>
          </a:p>
          <a:p>
            <a:pPr algn="ctr"/>
            <a:r>
              <a:rPr lang="en-US" altLang="zh-CN" dirty="0" smtClean="0">
                <a:solidFill>
                  <a:schemeClr val="tx1"/>
                </a:solidFill>
              </a:rPr>
              <a:t>Table</a:t>
            </a:r>
            <a:endParaRPr lang="zh-CN" altLang="en-US" dirty="0">
              <a:solidFill>
                <a:schemeClr val="tx1"/>
              </a:solidFill>
            </a:endParaRPr>
          </a:p>
        </p:txBody>
      </p:sp>
      <p:sp>
        <p:nvSpPr>
          <p:cNvPr id="25" name="文本框 24"/>
          <p:cNvSpPr txBox="1"/>
          <p:nvPr/>
        </p:nvSpPr>
        <p:spPr>
          <a:xfrm>
            <a:off x="9044667" y="5639977"/>
            <a:ext cx="2119491" cy="646331"/>
          </a:xfrm>
          <a:prstGeom prst="rect">
            <a:avLst/>
          </a:prstGeom>
          <a:noFill/>
        </p:spPr>
        <p:txBody>
          <a:bodyPr wrap="none" rtlCol="0">
            <a:spAutoFit/>
          </a:bodyPr>
          <a:lstStyle/>
          <a:p>
            <a:pPr algn="ctr"/>
            <a:r>
              <a:rPr lang="zh-CN" altLang="en-US" dirty="0" smtClean="0"/>
              <a:t>表</a:t>
            </a:r>
            <a:r>
              <a:rPr lang="en-US" altLang="zh-CN" dirty="0" smtClean="0"/>
              <a:t>1 </a:t>
            </a:r>
            <a:r>
              <a:rPr lang="zh-CN" altLang="en-US" dirty="0" smtClean="0"/>
              <a:t>表</a:t>
            </a:r>
            <a:r>
              <a:rPr lang="en-US" altLang="zh-CN" dirty="0"/>
              <a:t>1</a:t>
            </a:r>
            <a:r>
              <a:rPr lang="zh-CN" altLang="en-US" dirty="0" smtClean="0"/>
              <a:t>说明</a:t>
            </a:r>
            <a:endParaRPr lang="en-US" altLang="zh-CN" dirty="0" smtClean="0"/>
          </a:p>
          <a:p>
            <a:pPr algn="ctr"/>
            <a:r>
              <a:rPr lang="en-US" altLang="zh-CN" dirty="0"/>
              <a:t>Table</a:t>
            </a:r>
            <a:r>
              <a:rPr lang="en-US" altLang="zh-CN" dirty="0" smtClean="0"/>
              <a:t> </a:t>
            </a:r>
            <a:r>
              <a:rPr lang="en-US" altLang="zh-CN" dirty="0"/>
              <a:t>1</a:t>
            </a:r>
            <a:r>
              <a:rPr lang="en-US" altLang="zh-CN" dirty="0" smtClean="0"/>
              <a:t>: description</a:t>
            </a:r>
            <a:endParaRPr lang="zh-CN" altLang="en-US" dirty="0"/>
          </a:p>
        </p:txBody>
      </p:sp>
      <p:sp>
        <p:nvSpPr>
          <p:cNvPr id="26" name="TextBox 48"/>
          <p:cNvSpPr txBox="1"/>
          <p:nvPr/>
        </p:nvSpPr>
        <p:spPr>
          <a:xfrm>
            <a:off x="10667365" y="6514842"/>
            <a:ext cx="931194" cy="184666"/>
          </a:xfrm>
          <a:prstGeom prst="rect">
            <a:avLst/>
          </a:prstGeom>
          <a:noFill/>
        </p:spPr>
        <p:txBody>
          <a:bodyPr wrap="square" lIns="0" tIns="0" rIns="0" bIns="0" rtlCol="0">
            <a:spAutoFit/>
          </a:bodyPr>
          <a:lstStyle/>
          <a:p>
            <a:pPr>
              <a:lnSpc>
                <a:spcPct val="100000"/>
              </a:lnSpc>
              <a:buClrTx/>
              <a:buSzTx/>
              <a:buFontTx/>
              <a:defRPr/>
            </a:pPr>
            <a:r>
              <a:rPr lang="en-US" altLang="zh-CN" sz="12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a:t>
            </a:r>
            <a:r>
              <a:rPr lang="en-US" altLang="zh-CN" sz="1200" b="1" dirty="0" smtClean="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onfidential</a:t>
            </a:r>
            <a:endParaRPr lang="zh-CN" altLang="en-US" sz="1200" b="1" dirty="0" smtClean="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spTree>
    <p:extLst>
      <p:ext uri="{BB962C8B-B14F-4D97-AF65-F5344CB8AC3E}">
        <p14:creationId xmlns:p14="http://schemas.microsoft.com/office/powerpoint/2010/main" val="4982365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0" name="Straight Connector 10"/>
          <p:cNvCxnSpPr/>
          <p:nvPr/>
        </p:nvCxnSpPr>
        <p:spPr>
          <a:xfrm>
            <a:off x="0" y="789305"/>
            <a:ext cx="12200255" cy="0"/>
          </a:xfrm>
          <a:prstGeom prst="line">
            <a:avLst/>
          </a:prstGeom>
          <a:ln w="12700">
            <a:solidFill>
              <a:srgbClr val="005CB9"/>
            </a:solidFill>
          </a:ln>
        </p:spPr>
        <p:style>
          <a:lnRef idx="1">
            <a:schemeClr val="accent1"/>
          </a:lnRef>
          <a:fillRef idx="0">
            <a:schemeClr val="accent1"/>
          </a:fillRef>
          <a:effectRef idx="0">
            <a:schemeClr val="accent1"/>
          </a:effectRef>
          <a:fontRef idx="minor">
            <a:schemeClr val="tx1"/>
          </a:fontRef>
        </p:style>
      </p:cxnSp>
      <p:pic>
        <p:nvPicPr>
          <p:cNvPr id="126" name="图片 1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41489" y="322069"/>
            <a:ext cx="644388" cy="171837"/>
          </a:xfrm>
          <a:prstGeom prst="rect">
            <a:avLst/>
          </a:prstGeom>
        </p:spPr>
      </p:pic>
      <p:sp>
        <p:nvSpPr>
          <p:cNvPr id="5" name="矩形 4"/>
          <p:cNvSpPr/>
          <p:nvPr/>
        </p:nvSpPr>
        <p:spPr>
          <a:xfrm>
            <a:off x="389890" y="261620"/>
            <a:ext cx="480060" cy="292735"/>
          </a:xfrm>
          <a:prstGeom prst="rect">
            <a:avLst/>
          </a:prstGeom>
          <a:solidFill>
            <a:srgbClr val="005CB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dist">
              <a:lnSpc>
                <a:spcPct val="120000"/>
              </a:lnSpc>
            </a:pPr>
            <a:r>
              <a:rPr lang="en-US" altLang="zh-CN" sz="1200" dirty="0" smtClean="0">
                <a:latin typeface="思源黑体 CN Medium" panose="020B0600000000000000" charset="-122"/>
                <a:ea typeface="思源黑体 CN Medium" panose="020B0600000000000000" charset="-122"/>
                <a:cs typeface="Aparajita" panose="020B0604020202020204" pitchFamily="34" charset="0"/>
              </a:rPr>
              <a:t>8</a:t>
            </a:r>
          </a:p>
        </p:txBody>
      </p:sp>
      <p:sp>
        <p:nvSpPr>
          <p:cNvPr id="7" name="TextBox 48"/>
          <p:cNvSpPr txBox="1"/>
          <p:nvPr/>
        </p:nvSpPr>
        <p:spPr>
          <a:xfrm>
            <a:off x="980440" y="223520"/>
            <a:ext cx="6055627" cy="369332"/>
          </a:xfrm>
          <a:prstGeom prst="rect">
            <a:avLst/>
          </a:prstGeom>
          <a:noFill/>
        </p:spPr>
        <p:txBody>
          <a:bodyPr wrap="square" lIns="0" tIns="0" rIns="0" bIns="0" rtlCol="0">
            <a:spAutoFit/>
          </a:bodyPr>
          <a:lstStyle/>
          <a:p>
            <a:pPr>
              <a:defRPr/>
            </a:pPr>
            <a:r>
              <a:rPr lang="zh-CN" altLang="en-US" sz="2400" dirty="0">
                <a:latin typeface="思源黑体 CN Regular" panose="020B0500000000000000" charset="-122"/>
                <a:ea typeface="思源黑体 CN Regular" panose="020B0500000000000000" charset="-122"/>
                <a:cs typeface="思源黑体 CN Bold" panose="020B0800000000000000" charset="-122"/>
                <a:sym typeface="+mn-ea"/>
              </a:rPr>
              <a:t>缩略语 </a:t>
            </a:r>
            <a:r>
              <a:rPr lang="en-US" altLang="zh-CN" sz="2400" dirty="0">
                <a:latin typeface="思源黑体 CN Regular" panose="020B0500000000000000" charset="-122"/>
                <a:ea typeface="思源黑体 CN Regular" panose="020B0500000000000000" charset="-122"/>
                <a:cs typeface="思源黑体 CN Bold" panose="020B0800000000000000" charset="-122"/>
                <a:sym typeface="+mn-ea"/>
              </a:rPr>
              <a:t>(Description of the abbreviation) </a:t>
            </a:r>
          </a:p>
        </p:txBody>
      </p:sp>
      <p:pic>
        <p:nvPicPr>
          <p:cNvPr id="9" name="图片 8" descr="未标题-15464646"/>
          <p:cNvPicPr>
            <a:picLocks noChangeAspect="1"/>
          </p:cNvPicPr>
          <p:nvPr/>
        </p:nvPicPr>
        <p:blipFill>
          <a:blip r:embed="rId4"/>
          <a:srcRect r="44315" b="-12355"/>
          <a:stretch>
            <a:fillRect/>
          </a:stretch>
        </p:blipFill>
        <p:spPr>
          <a:xfrm>
            <a:off x="11765915" y="320675"/>
            <a:ext cx="426085" cy="184785"/>
          </a:xfrm>
          <a:prstGeom prst="rect">
            <a:avLst/>
          </a:prstGeom>
        </p:spPr>
      </p:pic>
      <p:sp>
        <p:nvSpPr>
          <p:cNvPr id="23" name="灯片编号占位符 22"/>
          <p:cNvSpPr>
            <a:spLocks noGrp="1"/>
          </p:cNvSpPr>
          <p:nvPr>
            <p:ph type="sldNum" sz="quarter" idx="12"/>
          </p:nvPr>
        </p:nvSpPr>
        <p:spPr>
          <a:xfrm>
            <a:off x="9295765" y="6406515"/>
            <a:ext cx="2743200" cy="365125"/>
          </a:xfrm>
        </p:spPr>
        <p:txBody>
          <a:bodyPr/>
          <a:lstStyle/>
          <a:p>
            <a:fld id="{4085C35A-A984-384D-9063-286D40D760B5}" type="slidenum">
              <a:rPr kumimoji="1" lang="zh-CN" altLang="en-US" smtClean="0"/>
              <a:t>11</a:t>
            </a:fld>
            <a:endParaRPr kumimoji="1" lang="zh-CN" altLang="en-US"/>
          </a:p>
        </p:txBody>
      </p:sp>
      <p:pic>
        <p:nvPicPr>
          <p:cNvPr id="15" name="图片 14" descr="777"/>
          <p:cNvPicPr>
            <a:picLocks noChangeAspect="1"/>
          </p:cNvPicPr>
          <p:nvPr/>
        </p:nvPicPr>
        <p:blipFill>
          <a:blip r:embed="rId5"/>
          <a:stretch>
            <a:fillRect/>
          </a:stretch>
        </p:blipFill>
        <p:spPr>
          <a:xfrm>
            <a:off x="11775440" y="6451600"/>
            <a:ext cx="266065" cy="269875"/>
          </a:xfrm>
          <a:prstGeom prst="rect">
            <a:avLst/>
          </a:prstGeom>
        </p:spPr>
      </p:pic>
      <p:sp>
        <p:nvSpPr>
          <p:cNvPr id="14" name="TextBox 48"/>
          <p:cNvSpPr txBox="1"/>
          <p:nvPr/>
        </p:nvSpPr>
        <p:spPr>
          <a:xfrm>
            <a:off x="389890" y="6535420"/>
            <a:ext cx="1775794" cy="107722"/>
          </a:xfrm>
          <a:prstGeom prst="rect">
            <a:avLst/>
          </a:prstGeom>
          <a:noFill/>
        </p:spPr>
        <p:txBody>
          <a:bodyPr wrap="square" lIns="0" tIns="0" rIns="0" bIns="0" rtlCol="0">
            <a:spAutoFit/>
          </a:bodyPr>
          <a:lstStyle/>
          <a:p>
            <a:pPr algn="dist">
              <a:lnSpc>
                <a:spcPct val="100000"/>
              </a:lnSpc>
              <a:buClrTx/>
              <a:buSzTx/>
              <a:buFontTx/>
              <a:defRPr/>
            </a:pPr>
            <a:r>
              <a:rPr lang="en-US" altLang="zh-CN" sz="700" b="1" dirty="0" err="1">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ChangXin</a:t>
            </a:r>
            <a:r>
              <a:rPr lang="en-US" altLang="zh-CN" sz="7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 Memory Technologies, Inc.</a:t>
            </a:r>
            <a:endParaRPr lang="zh-CN" altLang="en-US" sz="700" b="1" dirty="0" smtClean="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cxnSp>
        <p:nvCxnSpPr>
          <p:cNvPr id="16" name="Straight Connector 14"/>
          <p:cNvCxnSpPr/>
          <p:nvPr/>
        </p:nvCxnSpPr>
        <p:spPr>
          <a:xfrm>
            <a:off x="-94" y="6586447"/>
            <a:ext cx="30099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cxnSp>
        <p:nvCxnSpPr>
          <p:cNvPr id="18" name="Straight Connector 14"/>
          <p:cNvCxnSpPr/>
          <p:nvPr/>
        </p:nvCxnSpPr>
        <p:spPr>
          <a:xfrm>
            <a:off x="2233101" y="6589622"/>
            <a:ext cx="642366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graphicFrame>
        <p:nvGraphicFramePr>
          <p:cNvPr id="12" name="表格 11"/>
          <p:cNvGraphicFramePr>
            <a:graphicFrameLocks noGrp="1"/>
          </p:cNvGraphicFramePr>
          <p:nvPr>
            <p:extLst>
              <p:ext uri="{D42A27DB-BD31-4B8C-83A1-F6EECF244321}">
                <p14:modId xmlns:p14="http://schemas.microsoft.com/office/powerpoint/2010/main" val="732837434"/>
              </p:ext>
            </p:extLst>
          </p:nvPr>
        </p:nvGraphicFramePr>
        <p:xfrm>
          <a:off x="152400" y="1078444"/>
          <a:ext cx="11871960" cy="4450080"/>
        </p:xfrm>
        <a:graphic>
          <a:graphicData uri="http://schemas.openxmlformats.org/drawingml/2006/table">
            <a:tbl>
              <a:tblPr firstRow="1" bandRow="1"/>
              <a:tblGrid>
                <a:gridCol w="3957320">
                  <a:extLst>
                    <a:ext uri="{9D8B030D-6E8A-4147-A177-3AD203B41FA5}">
                      <a16:colId xmlns:a16="http://schemas.microsoft.com/office/drawing/2014/main" val="2287033212"/>
                    </a:ext>
                  </a:extLst>
                </a:gridCol>
                <a:gridCol w="3957320">
                  <a:extLst>
                    <a:ext uri="{9D8B030D-6E8A-4147-A177-3AD203B41FA5}">
                      <a16:colId xmlns:a16="http://schemas.microsoft.com/office/drawing/2014/main" val="1128220425"/>
                    </a:ext>
                  </a:extLst>
                </a:gridCol>
                <a:gridCol w="3957320">
                  <a:extLst>
                    <a:ext uri="{9D8B030D-6E8A-4147-A177-3AD203B41FA5}">
                      <a16:colId xmlns:a16="http://schemas.microsoft.com/office/drawing/2014/main" val="1489511942"/>
                    </a:ext>
                  </a:extLst>
                </a:gridCol>
              </a:tblGrid>
              <a:tr h="3708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zh-CN" altLang="en-US" dirty="0" smtClean="0"/>
                        <a:t>缩写 </a:t>
                      </a:r>
                      <a:r>
                        <a:rPr lang="en-US" altLang="zh-CN" dirty="0" smtClean="0"/>
                        <a:t>(Abbreviation)</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zh-CN" altLang="en-US" dirty="0" smtClean="0"/>
                        <a:t>中文</a:t>
                      </a:r>
                      <a:r>
                        <a:rPr lang="en-US" altLang="zh-CN" dirty="0" smtClean="0"/>
                        <a:t>(Chinese)</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英文 </a:t>
                      </a:r>
                      <a:r>
                        <a:rPr lang="en-US" altLang="zh-CN" dirty="0" smtClean="0"/>
                        <a:t>(English)</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910365626"/>
                  </a:ext>
                </a:extLst>
              </a:tr>
              <a:tr h="3708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354985312"/>
                  </a:ext>
                </a:extLst>
              </a:tr>
              <a:tr h="3708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409477993"/>
                  </a:ext>
                </a:extLst>
              </a:tr>
              <a:tr h="3708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878876753"/>
                  </a:ext>
                </a:extLst>
              </a:tr>
              <a:tr h="3708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655683665"/>
                  </a:ext>
                </a:extLst>
              </a:tr>
              <a:tr h="3708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115396810"/>
                  </a:ext>
                </a:extLst>
              </a:tr>
              <a:tr h="3708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286169574"/>
                  </a:ext>
                </a:extLst>
              </a:tr>
              <a:tr h="3708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988400443"/>
                  </a:ext>
                </a:extLst>
              </a:tr>
              <a:tr h="3708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250688946"/>
                  </a:ext>
                </a:extLst>
              </a:tr>
              <a:tr h="3708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4055934356"/>
                  </a:ext>
                </a:extLst>
              </a:tr>
              <a:tr h="3708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179966524"/>
                  </a:ext>
                </a:extLst>
              </a:tr>
              <a:tr h="3708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756373129"/>
                  </a:ext>
                </a:extLst>
              </a:tr>
            </a:tbl>
          </a:graphicData>
        </a:graphic>
      </p:graphicFrame>
      <p:sp>
        <p:nvSpPr>
          <p:cNvPr id="13" name="内容占位符 2"/>
          <p:cNvSpPr txBox="1">
            <a:spLocks/>
          </p:cNvSpPr>
          <p:nvPr/>
        </p:nvSpPr>
        <p:spPr>
          <a:xfrm>
            <a:off x="152400" y="5528524"/>
            <a:ext cx="11871960" cy="757783"/>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en-US" sz="2000" dirty="0" smtClean="0">
                <a:latin typeface="等线" panose="02010600030101010101" pitchFamily="2" charset="-122"/>
                <a:ea typeface="等线" panose="02010600030101010101" pitchFamily="2" charset="-122"/>
              </a:rPr>
              <a:t>英文</a:t>
            </a:r>
            <a:r>
              <a:rPr lang="zh-CN" altLang="en-US" sz="2000" dirty="0">
                <a:latin typeface="等线" panose="02010600030101010101" pitchFamily="2" charset="-122"/>
                <a:ea typeface="等线" panose="02010600030101010101" pitchFamily="2" charset="-122"/>
              </a:rPr>
              <a:t>缩写，请在这一部分写清楚对应的中文和英文全称。</a:t>
            </a:r>
            <a:r>
              <a:rPr lang="en-US" altLang="zh-CN" sz="2000" dirty="0">
                <a:latin typeface="等线" panose="02010600030101010101" pitchFamily="2" charset="-122"/>
                <a:ea typeface="等线" panose="02010600030101010101" pitchFamily="2" charset="-122"/>
              </a:rPr>
              <a:t>Please clearly write the abbreviation of corresponding Chinese and English full name in this part.</a:t>
            </a:r>
          </a:p>
        </p:txBody>
      </p:sp>
      <p:sp>
        <p:nvSpPr>
          <p:cNvPr id="17" name="TextBox 48"/>
          <p:cNvSpPr txBox="1"/>
          <p:nvPr/>
        </p:nvSpPr>
        <p:spPr>
          <a:xfrm>
            <a:off x="10667365" y="6514842"/>
            <a:ext cx="931194" cy="184666"/>
          </a:xfrm>
          <a:prstGeom prst="rect">
            <a:avLst/>
          </a:prstGeom>
          <a:noFill/>
        </p:spPr>
        <p:txBody>
          <a:bodyPr wrap="square" lIns="0" tIns="0" rIns="0" bIns="0" rtlCol="0">
            <a:spAutoFit/>
          </a:bodyPr>
          <a:lstStyle/>
          <a:p>
            <a:pPr>
              <a:lnSpc>
                <a:spcPct val="100000"/>
              </a:lnSpc>
              <a:buClrTx/>
              <a:buSzTx/>
              <a:buFontTx/>
              <a:defRPr/>
            </a:pPr>
            <a:r>
              <a:rPr lang="en-US" altLang="zh-CN" sz="12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a:t>
            </a:r>
            <a:r>
              <a:rPr lang="en-US" altLang="zh-CN" sz="1200" b="1" dirty="0" smtClean="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onfidential</a:t>
            </a:r>
            <a:endParaRPr lang="zh-CN" altLang="en-US" sz="1200" b="1" dirty="0" smtClean="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spTree>
    <p:extLst>
      <p:ext uri="{BB962C8B-B14F-4D97-AF65-F5344CB8AC3E}">
        <p14:creationId xmlns:p14="http://schemas.microsoft.com/office/powerpoint/2010/main" val="1222312799"/>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Tc1YzY1YTYyOWRiMTdhZTgzN2E1NDYxMjU0OTQ4NDEifQ=="/>
  <p:tag name="KSO_WPP_MARK_KEY" val="26e85459-0fda-4a04-aa0b-61ef4b14333e"/>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TotalTime>
  <Words>1978</Words>
  <Application>Microsoft Office PowerPoint</Application>
  <PresentationFormat>宽屏</PresentationFormat>
  <Paragraphs>149</Paragraphs>
  <Slides>11</Slides>
  <Notes>10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11</vt:i4>
      </vt:variant>
    </vt:vector>
  </HeadingPairs>
  <TitlesOfParts>
    <vt:vector size="26" baseType="lpstr">
      <vt:lpstr>Aparajita</vt:lpstr>
      <vt:lpstr>新細明體</vt:lpstr>
      <vt:lpstr>等线</vt:lpstr>
      <vt:lpstr>等线 Light</vt:lpstr>
      <vt:lpstr>思源黑体 CN Bold</vt:lpstr>
      <vt:lpstr>思源黑体 CN ExtraLight</vt:lpstr>
      <vt:lpstr>思源黑体 CN Light</vt:lpstr>
      <vt:lpstr>思源黑体 CN Medium</vt:lpstr>
      <vt:lpstr>思源黑体 CN Regular</vt:lpstr>
      <vt:lpstr>宋体</vt:lpstr>
      <vt:lpstr>Arial</vt:lpstr>
      <vt:lpstr>Arial</vt:lpstr>
      <vt:lpstr>Calibri</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74102</dc:creator>
  <cp:lastModifiedBy>Albert Yang</cp:lastModifiedBy>
  <cp:revision>279</cp:revision>
  <dcterms:created xsi:type="dcterms:W3CDTF">2022-07-02T04:15:00Z</dcterms:created>
  <dcterms:modified xsi:type="dcterms:W3CDTF">2025-05-19T06:25:32Z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2BD93C7C25D54DDDAC986DEB88100A09</vt:lpwstr>
  </property>
  <property fmtid="{D5CDD505-2E9C-101B-9397-08002B2CF9AE}" pid="3" name="KSOProductBuildVer">
    <vt:lpwstr>2052-11.1.0.12763</vt:lpwstr>
  </property>
</Properties>
</file>