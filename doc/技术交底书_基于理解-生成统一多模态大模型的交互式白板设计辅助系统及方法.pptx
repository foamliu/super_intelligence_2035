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62" r:id="rId2"/>
    <p:sldId id="408" r:id="rId3"/>
    <p:sldId id="394" r:id="rId4"/>
    <p:sldId id="409" r:id="rId5"/>
    <p:sldId id="401" r:id="rId6"/>
    <p:sldId id="402" r:id="rId7"/>
    <p:sldId id="411" r:id="rId8"/>
    <p:sldId id="412" r:id="rId9"/>
    <p:sldId id="403" r:id="rId10"/>
    <p:sldId id="410" r:id="rId11"/>
    <p:sldId id="404" r:id="rId12"/>
    <p:sldId id="405" r:id="rId13"/>
    <p:sldId id="413" r:id="rId14"/>
    <p:sldId id="406" r:id="rId15"/>
    <p:sldId id="414" r:id="rId16"/>
    <p:sldId id="415" r:id="rId17"/>
    <p:sldId id="416" r:id="rId18"/>
    <p:sldId id="417" r:id="rId19"/>
    <p:sldId id="407"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CB9"/>
    <a:srgbClr val="FFFFFF"/>
    <a:srgbClr val="CFD5EA"/>
    <a:srgbClr val="E9EBF5"/>
    <a:srgbClr val="005FBF"/>
    <a:srgbClr val="005C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0392" autoAdjust="0"/>
  </p:normalViewPr>
  <p:slideViewPr>
    <p:cSldViewPr snapToGrid="0" snapToObjects="1">
      <p:cViewPr varScale="1">
        <p:scale>
          <a:sx n="103" d="100"/>
          <a:sy n="103" d="100"/>
        </p:scale>
        <p:origin x="8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BB6BB-7BE1-4302-BB54-337C964EF0EA}" type="datetimeFigureOut">
              <a:rPr lang="zh-CN" altLang="en-US" smtClean="0"/>
              <a:t>2026/4/20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845B74-3AF8-437E-A446-1297CA166F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技术领域：本发明涉及</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一般领域</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，特别涉及</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具体领域</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，利用</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主要的技术手段</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，应用于</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主要技术手段的作用效果</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a:t>
            </a: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The invention is related to </a:t>
            </a:r>
            <a:r>
              <a:rPr lang="en-US" altLang="zh-TW" sz="1200" dirty="0">
                <a:solidFill>
                  <a:schemeClr val="tx1">
                    <a:lumMod val="95000"/>
                    <a:lumOff val="5000"/>
                  </a:schemeClr>
                </a:solidFill>
                <a:latin typeface="Arial" panose="020B0604020202020204" pitchFamily="34" charset="0"/>
                <a:ea typeface="等线" panose="02010600030101010101" pitchFamily="2" charset="-122"/>
                <a:cs typeface="Arial" panose="020B0604020202020204" pitchFamily="34" charset="0"/>
              </a:rPr>
              <a:t>(…general field</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 especially to (…special field). By utilizing (…technical method), the invention can be applied in (…the invention effects through technical method)</a:t>
            </a:r>
            <a:r>
              <a:rPr lang="en-US" altLang="zh-TW" sz="1200" dirty="0">
                <a:solidFill>
                  <a:schemeClr val="tx1">
                    <a:lumMod val="95000"/>
                    <a:lumOff val="5000"/>
                  </a:schemeClr>
                </a:solidFill>
                <a:latin typeface="Arial" panose="020B0604020202020204" pitchFamily="34" charset="0"/>
                <a:ea typeface="等线" panose="02010600030101010101" pitchFamily="2" charset="-122"/>
                <a:cs typeface="Arial" panose="020B0604020202020204" pitchFamily="34" charset="0"/>
              </a:rPr>
              <a:t>.</a:t>
            </a: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2</a:t>
            </a:fld>
            <a:endParaRPr lang="zh-CN" altLang="en-US"/>
          </a:p>
        </p:txBody>
      </p:sp>
    </p:spTree>
    <p:extLst>
      <p:ext uri="{BB962C8B-B14F-4D97-AF65-F5344CB8AC3E}">
        <p14:creationId xmlns:p14="http://schemas.microsoft.com/office/powerpoint/2010/main" val="3393525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专利交底书目录</a:t>
            </a:r>
            <a:r>
              <a:rPr lang="en-US" altLang="zh-CN" dirty="0"/>
              <a:t>(Patent content)</a:t>
            </a:r>
          </a:p>
          <a:p>
            <a:pPr marL="171450" indent="-171450">
              <a:buFont typeface="Wingdings" panose="05000000000000000000" pitchFamily="2" charset="2"/>
              <a:buChar char="l"/>
            </a:pPr>
            <a:r>
              <a:rPr lang="zh-CN" altLang="en-US" dirty="0"/>
              <a:t>此页无需填写，有星号标识代表必填项</a:t>
            </a:r>
            <a:endParaRPr lang="en-US" altLang="zh-CN" dirty="0"/>
          </a:p>
          <a:p>
            <a:pPr marL="171450" indent="-171450">
              <a:buFont typeface="Wingdings" panose="05000000000000000000" pitchFamily="2" charset="2"/>
              <a:buChar char="l"/>
            </a:pPr>
            <a:r>
              <a:rPr lang="en-US" altLang="zh-CN" dirty="0"/>
              <a:t>Don’t need to fill out for this page.</a:t>
            </a:r>
            <a:r>
              <a:rPr lang="en-US" altLang="zh-CN" baseline="0" dirty="0"/>
              <a:t> The asterisks indicate required items.</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3</a:t>
            </a:fld>
            <a:endParaRPr lang="zh-CN" altLang="en-US"/>
          </a:p>
        </p:txBody>
      </p:sp>
    </p:spTree>
    <p:extLst>
      <p:ext uri="{BB962C8B-B14F-4D97-AF65-F5344CB8AC3E}">
        <p14:creationId xmlns:p14="http://schemas.microsoft.com/office/powerpoint/2010/main" val="1882655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150000"/>
              </a:lnSpc>
              <a:defRPr/>
            </a:pPr>
            <a:r>
              <a:rPr lang="en-US" altLang="zh-CN" sz="1200" dirty="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The invention belongs to the interdisciplinary technical field of electronic design automation (EDA) and artificial intelligence (AI), and specifically relates to an interactive whiteboard design assistance system and method based on a unified understanding-generation multi-modal large language model (MLLM). By constructing a high-bandwidth bidirectional multi-modal interactive whiteboard and utilizing a unified multi-modal large language model to simultaneously achieve user intent understanding and agent solution generation, the invention can be applied to integrated circuit layout design, PCB design, system-in-package collaborative interaction, and full-flow chip design collaborative analysis and optimization scenarios involving cross-source information (e.g., TCAD simulation results, timing waveform diagrams).</a:t>
            </a:r>
          </a:p>
        </p:txBody>
      </p:sp>
      <p:sp>
        <p:nvSpPr>
          <p:cNvPr id="4" name="灯片编号占位符 3"/>
          <p:cNvSpPr>
            <a:spLocks noGrp="1"/>
          </p:cNvSpPr>
          <p:nvPr>
            <p:ph type="sldNum" sz="quarter" idx="10"/>
          </p:nvPr>
        </p:nvSpPr>
        <p:spPr/>
        <p:txBody>
          <a:bodyPr/>
          <a:lstStyle/>
          <a:p>
            <a:fld id="{00845B74-3AF8-437E-A446-1297CA166FFB}" type="slidenum">
              <a:rPr lang="zh-CN" altLang="en-US" smtClean="0"/>
              <a:t>4</a:t>
            </a:fld>
            <a:endParaRPr lang="zh-CN" altLang="en-US"/>
          </a:p>
        </p:txBody>
      </p:sp>
    </p:spTree>
    <p:extLst>
      <p:ext uri="{BB962C8B-B14F-4D97-AF65-F5344CB8AC3E}">
        <p14:creationId xmlns:p14="http://schemas.microsoft.com/office/powerpoint/2010/main" val="3517272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Arial" panose="020B0604020202020204" pitchFamily="34" charset="0"/>
                <a:cs typeface="Arial" panose="020B0604020202020204" pitchFamily="34" charset="0"/>
              </a:rPr>
              <a:t>先前技术 </a:t>
            </a:r>
            <a:r>
              <a:rPr lang="en-US" altLang="zh-CN" sz="1200" dirty="0">
                <a:latin typeface="Arial" panose="020B0604020202020204" pitchFamily="34" charset="0"/>
                <a:cs typeface="Arial" panose="020B0604020202020204" pitchFamily="34" charset="0"/>
              </a:rPr>
              <a:t>(Related</a:t>
            </a:r>
            <a:r>
              <a:rPr lang="en-US" altLang="zh-CN" sz="1200" baseline="0" dirty="0">
                <a:latin typeface="Arial" panose="020B0604020202020204" pitchFamily="34" charset="0"/>
                <a:cs typeface="Arial" panose="020B0604020202020204" pitchFamily="34" charset="0"/>
              </a:rPr>
              <a:t> prior art)</a:t>
            </a:r>
            <a:endParaRPr lang="en-US" altLang="zh-CN" sz="1200" dirty="0">
              <a:latin typeface="Arial" panose="020B0604020202020204" pitchFamily="34" charset="0"/>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清楚介绍本发明背景技术以及主要的先前技术。</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Please describe the background of technology</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and the major prior art. </a:t>
            </a:r>
            <a:endPar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endParaRP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5</a:t>
            </a:fld>
            <a:endParaRPr lang="zh-CN" altLang="en-US"/>
          </a:p>
        </p:txBody>
      </p:sp>
    </p:spTree>
    <p:extLst>
      <p:ext uri="{BB962C8B-B14F-4D97-AF65-F5344CB8AC3E}">
        <p14:creationId xmlns:p14="http://schemas.microsoft.com/office/powerpoint/2010/main" val="3982299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发明目的：说明发明的动机。</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Description of the motivation</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of invention.</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baseline="0" dirty="0">
                <a:solidFill>
                  <a:schemeClr val="tx1">
                    <a:lumMod val="95000"/>
                    <a:lumOff val="5000"/>
                  </a:schemeClr>
                </a:solidFill>
                <a:latin typeface="Arial" panose="020B0604020202020204" pitchFamily="34" charset="0"/>
                <a:ea typeface="+mn-ea"/>
                <a:cs typeface="Arial" panose="020B0604020202020204" pitchFamily="34" charset="0"/>
              </a:rPr>
              <a:t>技术问题：说明与解决的技术问题，克服此技术问题的挑战是什么。</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Explain the technical problem and what’s the challenge to solve the issue.</a:t>
            </a: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6</a:t>
            </a:fld>
            <a:endParaRPr lang="zh-CN" altLang="en-US"/>
          </a:p>
        </p:txBody>
      </p:sp>
    </p:spTree>
    <p:extLst>
      <p:ext uri="{BB962C8B-B14F-4D97-AF65-F5344CB8AC3E}">
        <p14:creationId xmlns:p14="http://schemas.microsoft.com/office/powerpoint/2010/main" val="2976882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发明目的：说明发明的动机。</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Description of the motivation</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of invention.</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baseline="0" dirty="0">
                <a:solidFill>
                  <a:schemeClr val="tx1">
                    <a:lumMod val="95000"/>
                    <a:lumOff val="5000"/>
                  </a:schemeClr>
                </a:solidFill>
                <a:latin typeface="Arial" panose="020B0604020202020204" pitchFamily="34" charset="0"/>
                <a:ea typeface="+mn-ea"/>
                <a:cs typeface="Arial" panose="020B0604020202020204" pitchFamily="34" charset="0"/>
              </a:rPr>
              <a:t>技术问题：说明与解决的技术问题，克服此技术问题的挑战是什么。</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Explain the technical problem and what’s the challenge to solve the issue.</a:t>
            </a: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7</a:t>
            </a:fld>
            <a:endParaRPr lang="zh-CN" altLang="en-US"/>
          </a:p>
        </p:txBody>
      </p:sp>
    </p:spTree>
    <p:extLst>
      <p:ext uri="{BB962C8B-B14F-4D97-AF65-F5344CB8AC3E}">
        <p14:creationId xmlns:p14="http://schemas.microsoft.com/office/powerpoint/2010/main" val="1812226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1200" baseline="0" dirty="0">
                <a:solidFill>
                  <a:schemeClr val="tx1">
                    <a:lumMod val="95000"/>
                    <a:lumOff val="5000"/>
                  </a:schemeClr>
                </a:solidFill>
                <a:latin typeface="Arial" panose="020B0604020202020204" pitchFamily="34" charset="0"/>
                <a:ea typeface="+mn-ea"/>
                <a:cs typeface="Arial" panose="020B0604020202020204" pitchFamily="34" charset="0"/>
              </a:rPr>
              <a:t>技术方案：说明解决问题采取的技术方法，与先前技术的差异点。</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Explain the technical solution and the specific technology compared with prior art.</a:t>
            </a: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8</a:t>
            </a:fld>
            <a:endParaRPr lang="zh-CN" altLang="en-US"/>
          </a:p>
        </p:txBody>
      </p:sp>
    </p:spTree>
    <p:extLst>
      <p:ext uri="{BB962C8B-B14F-4D97-AF65-F5344CB8AC3E}">
        <p14:creationId xmlns:p14="http://schemas.microsoft.com/office/powerpoint/2010/main" val="1488423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1200" baseline="0" dirty="0">
                <a:solidFill>
                  <a:schemeClr val="tx1">
                    <a:lumMod val="95000"/>
                    <a:lumOff val="5000"/>
                  </a:schemeClr>
                </a:solidFill>
                <a:latin typeface="Arial" panose="020B0604020202020204" pitchFamily="34" charset="0"/>
                <a:ea typeface="+mn-ea"/>
                <a:cs typeface="Arial" panose="020B0604020202020204" pitchFamily="34" charset="0"/>
              </a:rPr>
              <a:t>技术方案：说明解决问题采取的技术方法，与先前技术的差异点。</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Explain the technical solution and the specific technology compared with prior art.</a:t>
            </a: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9</a:t>
            </a:fld>
            <a:endParaRPr lang="zh-CN" altLang="en-US"/>
          </a:p>
        </p:txBody>
      </p:sp>
    </p:spTree>
    <p:extLst>
      <p:ext uri="{BB962C8B-B14F-4D97-AF65-F5344CB8AC3E}">
        <p14:creationId xmlns:p14="http://schemas.microsoft.com/office/powerpoint/2010/main" val="3111011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1200" baseline="0" dirty="0">
                <a:solidFill>
                  <a:schemeClr val="tx1">
                    <a:lumMod val="95000"/>
                    <a:lumOff val="5000"/>
                  </a:schemeClr>
                </a:solidFill>
                <a:latin typeface="Arial" panose="020B0604020202020204" pitchFamily="34" charset="0"/>
                <a:ea typeface="+mn-ea"/>
                <a:cs typeface="Arial" panose="020B0604020202020204" pitchFamily="34" charset="0"/>
              </a:rPr>
              <a:t>技术方案：说明解决问题采取的技术方法，与先前技术的差异点。</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Explain the technical solution and the specific technology compared with prior art.</a:t>
            </a:r>
          </a:p>
          <a:p>
            <a:endParaRPr lang="en-US" altLang="zh-CN" dirty="0"/>
          </a:p>
          <a:p>
            <a:r>
              <a:rPr lang="zh-CN" altLang="en-US" dirty="0"/>
              <a:t>创新点</a:t>
            </a:r>
            <a:r>
              <a:rPr lang="en-US" altLang="zh-CN" dirty="0"/>
              <a:t>A</a:t>
            </a:r>
            <a:r>
              <a:rPr lang="zh-CN" altLang="en-US" dirty="0"/>
              <a:t>：多模态意图对齐机制</a:t>
            </a:r>
          </a:p>
          <a:p>
            <a:r>
              <a:rPr lang="zh-CN" altLang="en-US" dirty="0"/>
              <a:t>技术手段：设计“指针注意力融合模块”，将用户的圈选坐标轨迹（视觉特征）与当前版图的图拓扑结构（</a:t>
            </a:r>
            <a:r>
              <a:rPr lang="en-US" altLang="zh-CN" dirty="0"/>
              <a:t>GNN</a:t>
            </a:r>
            <a:r>
              <a:rPr lang="zh-CN" altLang="en-US" dirty="0"/>
              <a:t>编码）进行跨模态注意力计算。</a:t>
            </a:r>
          </a:p>
          <a:p>
            <a:endParaRPr lang="zh-CN" altLang="en-US" dirty="0"/>
          </a:p>
          <a:p>
            <a:r>
              <a:rPr lang="zh-CN" altLang="en-US" dirty="0"/>
              <a:t>具体实现：</a:t>
            </a:r>
          </a:p>
          <a:p>
            <a:endParaRPr lang="zh-CN" altLang="en-US" dirty="0"/>
          </a:p>
          <a:p>
            <a:r>
              <a:rPr lang="zh-CN" altLang="en-US" dirty="0"/>
              <a:t>用户圈选 → 系统提取圈选区域的视觉</a:t>
            </a:r>
            <a:r>
              <a:rPr lang="en-US" altLang="zh-CN" dirty="0"/>
              <a:t>Patch</a:t>
            </a:r>
            <a:r>
              <a:rPr lang="zh-CN" altLang="en-US" dirty="0"/>
              <a:t>序列 </a:t>
            </a:r>
            <a:r>
              <a:rPr lang="en-US" altLang="zh-CN" dirty="0"/>
              <a:t>+ </a:t>
            </a:r>
            <a:r>
              <a:rPr lang="zh-CN" altLang="en-US" dirty="0"/>
              <a:t>圈选手势的时序轨迹向量</a:t>
            </a:r>
          </a:p>
          <a:p>
            <a:endParaRPr lang="zh-CN" altLang="en-US" dirty="0"/>
          </a:p>
          <a:p>
            <a:r>
              <a:rPr lang="zh-CN" altLang="en-US" dirty="0"/>
              <a:t>通过</a:t>
            </a:r>
            <a:r>
              <a:rPr lang="en-US" altLang="zh-CN" dirty="0"/>
              <a:t>Cross-Attention</a:t>
            </a:r>
            <a:r>
              <a:rPr lang="zh-CN" altLang="en-US" dirty="0"/>
              <a:t>计算该区域与电路中各元件的关联概率</a:t>
            </a:r>
          </a:p>
          <a:p>
            <a:endParaRPr lang="zh-CN" altLang="en-US" dirty="0"/>
          </a:p>
          <a:p>
            <a:r>
              <a:rPr lang="zh-CN" altLang="en-US" dirty="0"/>
              <a:t>输出被指代的具体元件</a:t>
            </a:r>
            <a:r>
              <a:rPr lang="en-US" altLang="zh-CN" dirty="0"/>
              <a:t>Instance ID + </a:t>
            </a:r>
            <a:r>
              <a:rPr lang="zh-CN" altLang="en-US" dirty="0"/>
              <a:t>操作类型分类</a:t>
            </a:r>
          </a:p>
          <a:p>
            <a:endParaRPr lang="zh-CN" altLang="en-US" dirty="0"/>
          </a:p>
          <a:p>
            <a:r>
              <a:rPr lang="zh-CN" altLang="en-US" dirty="0"/>
              <a:t>创新点</a:t>
            </a:r>
            <a:r>
              <a:rPr lang="en-US" altLang="zh-CN" dirty="0"/>
              <a:t>B</a:t>
            </a:r>
            <a:r>
              <a:rPr lang="zh-CN" altLang="en-US" dirty="0"/>
              <a:t>：理解</a:t>
            </a:r>
            <a:r>
              <a:rPr lang="en-US" altLang="zh-CN" dirty="0"/>
              <a:t>-</a:t>
            </a:r>
            <a:r>
              <a:rPr lang="zh-CN" altLang="en-US" dirty="0"/>
              <a:t>生成统一模型架构</a:t>
            </a:r>
          </a:p>
          <a:p>
            <a:r>
              <a:rPr lang="zh-CN" altLang="en-US" dirty="0"/>
              <a:t>技术手段：采用多模态</a:t>
            </a:r>
            <a:r>
              <a:rPr lang="en-US" altLang="zh-CN" dirty="0"/>
              <a:t>LLM</a:t>
            </a:r>
            <a:r>
              <a:rPr lang="zh-CN" altLang="en-US" dirty="0"/>
              <a:t>作为统一主干，输入层同时接受：</a:t>
            </a:r>
          </a:p>
          <a:p>
            <a:endParaRPr lang="zh-CN" altLang="en-US" dirty="0"/>
          </a:p>
          <a:p>
            <a:r>
              <a:rPr lang="zh-CN" altLang="en-US" dirty="0"/>
              <a:t>白板截图的视觉</a:t>
            </a:r>
            <a:r>
              <a:rPr lang="en-US" altLang="zh-CN" dirty="0"/>
              <a:t>Embedding</a:t>
            </a:r>
            <a:r>
              <a:rPr lang="zh-CN" altLang="en-US" dirty="0"/>
              <a:t>（通过</a:t>
            </a:r>
            <a:r>
              <a:rPr lang="en-US" altLang="zh-CN" dirty="0" err="1"/>
              <a:t>ViT</a:t>
            </a:r>
            <a:r>
              <a:rPr lang="zh-CN" altLang="en-US" dirty="0"/>
              <a:t>编码）</a:t>
            </a:r>
          </a:p>
          <a:p>
            <a:endParaRPr lang="zh-CN" altLang="en-US" dirty="0"/>
          </a:p>
          <a:p>
            <a:r>
              <a:rPr lang="zh-CN" altLang="en-US" dirty="0"/>
              <a:t>用户语音</a:t>
            </a:r>
            <a:r>
              <a:rPr lang="en-US" altLang="zh-CN" dirty="0"/>
              <a:t>/</a:t>
            </a:r>
            <a:r>
              <a:rPr lang="zh-CN" altLang="en-US" dirty="0"/>
              <a:t>文本指令的文本</a:t>
            </a:r>
            <a:r>
              <a:rPr lang="en-US" altLang="zh-CN" dirty="0"/>
              <a:t>Embedding</a:t>
            </a:r>
          </a:p>
          <a:p>
            <a:endParaRPr lang="en-US" altLang="zh-CN" dirty="0"/>
          </a:p>
          <a:p>
            <a:r>
              <a:rPr lang="zh-CN" altLang="en-US" dirty="0"/>
              <a:t>当前电路拓扑的状态</a:t>
            </a:r>
            <a:r>
              <a:rPr lang="en-US" altLang="zh-CN" dirty="0"/>
              <a:t>Embedding</a:t>
            </a:r>
            <a:r>
              <a:rPr lang="zh-CN" altLang="en-US" dirty="0"/>
              <a:t>（通过</a:t>
            </a:r>
            <a:r>
              <a:rPr lang="en-US" altLang="zh-CN" dirty="0"/>
              <a:t>GNN</a:t>
            </a:r>
            <a:r>
              <a:rPr lang="zh-CN" altLang="en-US" dirty="0"/>
              <a:t>编码）</a:t>
            </a:r>
          </a:p>
          <a:p>
            <a:endParaRPr lang="zh-CN" altLang="en-US" dirty="0"/>
          </a:p>
          <a:p>
            <a:r>
              <a:rPr lang="zh-CN" altLang="en-US" dirty="0"/>
              <a:t>输出设计：模型同时输出两类信息：</a:t>
            </a:r>
          </a:p>
          <a:p>
            <a:endParaRPr lang="zh-CN" altLang="en-US" dirty="0"/>
          </a:p>
          <a:p>
            <a:r>
              <a:rPr lang="zh-CN" altLang="en-US" dirty="0"/>
              <a:t>可执行命令（</a:t>
            </a:r>
            <a:r>
              <a:rPr lang="en-US" altLang="zh-CN" dirty="0"/>
              <a:t>JSON</a:t>
            </a:r>
            <a:r>
              <a:rPr lang="zh-CN" altLang="en-US" dirty="0"/>
              <a:t>格式，直接调用</a:t>
            </a:r>
            <a:r>
              <a:rPr lang="en-US" altLang="zh-CN" dirty="0"/>
              <a:t>EDA API</a:t>
            </a:r>
            <a:r>
              <a:rPr lang="zh-CN" altLang="en-US" dirty="0"/>
              <a:t>）</a:t>
            </a:r>
          </a:p>
          <a:p>
            <a:endParaRPr lang="zh-CN" altLang="en-US" dirty="0"/>
          </a:p>
          <a:p>
            <a:r>
              <a:rPr lang="zh-CN" altLang="en-US" dirty="0"/>
              <a:t>解释文本（供用户确认）</a:t>
            </a:r>
          </a:p>
          <a:p>
            <a:endParaRPr lang="zh-CN" altLang="en-US" dirty="0"/>
          </a:p>
          <a:p>
            <a:r>
              <a:rPr lang="zh-CN" altLang="en-US" dirty="0"/>
              <a:t>训练策略：采用多任务学习，同时优化“理解准确率”和“命令执行成功率”两个损失函数。</a:t>
            </a:r>
          </a:p>
          <a:p>
            <a:endParaRPr lang="zh-CN" altLang="en-US" dirty="0"/>
          </a:p>
          <a:p>
            <a:r>
              <a:rPr lang="zh-CN" altLang="en-US" dirty="0"/>
              <a:t>创新点</a:t>
            </a:r>
            <a:r>
              <a:rPr lang="en-US" altLang="zh-CN" dirty="0"/>
              <a:t>C</a:t>
            </a:r>
            <a:r>
              <a:rPr lang="zh-CN" altLang="en-US" dirty="0"/>
              <a:t>：草图约束的局部扩散生成</a:t>
            </a:r>
          </a:p>
          <a:p>
            <a:r>
              <a:rPr lang="zh-CN" altLang="en-US" dirty="0"/>
              <a:t>技术手段：提出“差分扩散机制”，将用户的修改操作编码为局部噪声，输入到预训练的扩散模型中，仅对受影响区域进行重绘。</a:t>
            </a:r>
          </a:p>
          <a:p>
            <a:endParaRPr lang="zh-CN" altLang="en-US" dirty="0"/>
          </a:p>
          <a:p>
            <a:r>
              <a:rPr lang="zh-CN" altLang="en-US" dirty="0"/>
              <a:t>具体流程：</a:t>
            </a:r>
          </a:p>
          <a:p>
            <a:endParaRPr lang="zh-CN" altLang="en-US" dirty="0"/>
          </a:p>
          <a:p>
            <a:r>
              <a:rPr lang="zh-CN" altLang="en-US" dirty="0"/>
              <a:t>用户手动画一笔（如移动一条走线）</a:t>
            </a:r>
          </a:p>
          <a:p>
            <a:r>
              <a:rPr lang="zh-CN" altLang="en-US" dirty="0"/>
              <a:t>系统计算该操作影响的空间范围（</a:t>
            </a:r>
            <a:r>
              <a:rPr lang="en-US" altLang="zh-CN" dirty="0"/>
              <a:t>Bounding Box</a:t>
            </a:r>
            <a:r>
              <a:rPr lang="zh-CN" altLang="en-US" dirty="0"/>
              <a:t>扩展）</a:t>
            </a:r>
          </a:p>
          <a:p>
            <a:r>
              <a:rPr lang="zh-CN" altLang="en-US" dirty="0"/>
              <a:t>将该区域内的现有布局编码为潜在向量</a:t>
            </a:r>
          </a:p>
          <a:p>
            <a:r>
              <a:rPr lang="zh-CN" altLang="en-US" dirty="0"/>
              <a:t>用户手绘轨迹作为条件约束注入扩散过程</a:t>
            </a:r>
          </a:p>
          <a:p>
            <a:r>
              <a:rPr lang="zh-CN" altLang="en-US" dirty="0"/>
              <a:t>生成新的局部布局，保持区域外不变</a:t>
            </a:r>
          </a:p>
          <a:p>
            <a:r>
              <a:rPr lang="zh-CN" altLang="en-US" dirty="0"/>
              <a:t>优势：支持增量式修改，避免全量重生成导致的不稳定。</a:t>
            </a:r>
          </a:p>
          <a:p>
            <a:endParaRPr lang="zh-CN" altLang="en-US" dirty="0"/>
          </a:p>
          <a:p>
            <a:r>
              <a:rPr lang="zh-CN" altLang="en-US" dirty="0"/>
              <a:t>创新点</a:t>
            </a:r>
            <a:r>
              <a:rPr lang="en-US" altLang="zh-CN" dirty="0"/>
              <a:t>D</a:t>
            </a:r>
            <a:r>
              <a:rPr lang="zh-CN" altLang="en-US" dirty="0"/>
              <a:t>：实时</a:t>
            </a:r>
            <a:r>
              <a:rPr lang="en-US" altLang="zh-CN" dirty="0"/>
              <a:t>DRC</a:t>
            </a:r>
            <a:r>
              <a:rPr lang="zh-CN" altLang="en-US" dirty="0"/>
              <a:t>合规校验与反馈</a:t>
            </a:r>
          </a:p>
          <a:p>
            <a:r>
              <a:rPr lang="zh-CN" altLang="en-US" dirty="0"/>
              <a:t>技术手段：在模型推理过程中嵌入约束解码器。</a:t>
            </a:r>
          </a:p>
          <a:p>
            <a:endParaRPr lang="zh-CN" altLang="en-US" dirty="0"/>
          </a:p>
          <a:p>
            <a:r>
              <a:rPr lang="zh-CN" altLang="en-US" dirty="0"/>
              <a:t>实现方式：</a:t>
            </a:r>
          </a:p>
          <a:p>
            <a:endParaRPr lang="zh-CN" altLang="en-US" dirty="0"/>
          </a:p>
          <a:p>
            <a:r>
              <a:rPr lang="zh-CN" altLang="en-US" dirty="0"/>
              <a:t>模型生成候选操作后，先送入轻量级</a:t>
            </a:r>
            <a:r>
              <a:rPr lang="en-US" altLang="zh-CN" dirty="0"/>
              <a:t>DRC</a:t>
            </a:r>
            <a:r>
              <a:rPr lang="zh-CN" altLang="en-US" dirty="0"/>
              <a:t>引擎进行合规检查</a:t>
            </a:r>
          </a:p>
          <a:p>
            <a:endParaRPr lang="zh-CN" altLang="en-US" dirty="0"/>
          </a:p>
          <a:p>
            <a:r>
              <a:rPr lang="zh-CN" altLang="en-US" dirty="0"/>
              <a:t>若违规（如间距不足），约束解码器通过动态掩码禁止该</a:t>
            </a:r>
            <a:r>
              <a:rPr lang="en-US" altLang="zh-CN" dirty="0"/>
              <a:t>token</a:t>
            </a:r>
            <a:r>
              <a:rPr lang="zh-CN" altLang="en-US" dirty="0"/>
              <a:t>的生成概率</a:t>
            </a:r>
          </a:p>
          <a:p>
            <a:endParaRPr lang="zh-CN" altLang="en-US" dirty="0"/>
          </a:p>
          <a:p>
            <a:r>
              <a:rPr lang="zh-CN" altLang="en-US" dirty="0"/>
              <a:t>同时触发多模态反馈：白板区域红色闪烁 </a:t>
            </a:r>
            <a:r>
              <a:rPr lang="en-US" altLang="zh-CN" dirty="0"/>
              <a:t>+ </a:t>
            </a:r>
            <a:r>
              <a:rPr lang="zh-CN" altLang="en-US" dirty="0"/>
              <a:t>语音提示“违反最小间距规则”</a:t>
            </a:r>
          </a:p>
        </p:txBody>
      </p:sp>
      <p:sp>
        <p:nvSpPr>
          <p:cNvPr id="4" name="灯片编号占位符 3"/>
          <p:cNvSpPr>
            <a:spLocks noGrp="1"/>
          </p:cNvSpPr>
          <p:nvPr>
            <p:ph type="sldNum" sz="quarter" idx="10"/>
          </p:nvPr>
        </p:nvSpPr>
        <p:spPr/>
        <p:txBody>
          <a:bodyPr/>
          <a:lstStyle/>
          <a:p>
            <a:fld id="{00845B74-3AF8-437E-A446-1297CA166FFB}" type="slidenum">
              <a:rPr lang="zh-CN" altLang="en-US" smtClean="0"/>
              <a:t>10</a:t>
            </a:fld>
            <a:endParaRPr lang="zh-CN" altLang="en-US"/>
          </a:p>
        </p:txBody>
      </p:sp>
    </p:spTree>
    <p:extLst>
      <p:ext uri="{BB962C8B-B14F-4D97-AF65-F5344CB8AC3E}">
        <p14:creationId xmlns:p14="http://schemas.microsoft.com/office/powerpoint/2010/main" val="4119095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有益效果：发明带来的技术有益效果。</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Please describe the advantageous</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effects of the invention.</a:t>
            </a:r>
            <a:endPar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endParaRPr>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11</a:t>
            </a:fld>
            <a:endParaRPr lang="zh-CN" altLang="en-US"/>
          </a:p>
        </p:txBody>
      </p:sp>
    </p:spTree>
    <p:extLst>
      <p:ext uri="{BB962C8B-B14F-4D97-AF65-F5344CB8AC3E}">
        <p14:creationId xmlns:p14="http://schemas.microsoft.com/office/powerpoint/2010/main" val="1480208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Arial" panose="020B0604020202020204" pitchFamily="34" charset="0"/>
                <a:cs typeface="Arial" panose="020B0604020202020204" pitchFamily="34" charset="0"/>
              </a:rPr>
              <a:t>具体实施方式 </a:t>
            </a:r>
            <a:r>
              <a:rPr lang="en-US" altLang="zh-CN" sz="1200" dirty="0">
                <a:latin typeface="Arial" panose="020B0604020202020204" pitchFamily="34" charset="0"/>
                <a:cs typeface="Arial" panose="020B0604020202020204" pitchFamily="34" charset="0"/>
              </a:rPr>
              <a:t>(Description of the embodiments)</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包括揭露一个或多个最佳实施方式。</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Including disclosure of one or more best practices.</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说明具体的实施步骤，必须有相应的技术参数、数据。</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Explain the detailed embodiments which have corresponding parameters or data. </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具体实施方式的说明应对应到附图。</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The embodiments is corresponding to related features</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or drawings.</a:t>
            </a:r>
            <a:endPar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每一张附图必须清楚说明内容，能提供充分的信息以理解附图中的技术。</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To give a clear description for each figures in order to give the sufficient technical information in the related figures</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or </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drawings.</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专利法予以保护的是技术方案不是功能，因此需要给出实现某种功能的具体技术方案，不能仅仅阐述功能。本部分为专利最重要的部分，需要详细、清楚和完整描述全部的必要技术特征，使发明创造的技术内容充分公开，使本技术领域人员无需进行创造性劳动就能实现为最低要求。</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What the patent law protects is the technical solution, not the function. It is necessary to give a specific technical solution to solve a certain problem, rather than just only</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give the description of the desired </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function. This is the most important part of the patent, which needs to describe all necessary technical features in detail. The engineer who</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can reproduce the invention from the fully disclosure of the invention is the minimum requirements without extra creative effort.</a:t>
            </a:r>
          </a:p>
        </p:txBody>
      </p:sp>
      <p:sp>
        <p:nvSpPr>
          <p:cNvPr id="4" name="灯片编号占位符 3"/>
          <p:cNvSpPr>
            <a:spLocks noGrp="1"/>
          </p:cNvSpPr>
          <p:nvPr>
            <p:ph type="sldNum" sz="quarter" idx="10"/>
          </p:nvPr>
        </p:nvSpPr>
        <p:spPr/>
        <p:txBody>
          <a:bodyPr/>
          <a:lstStyle/>
          <a:p>
            <a:fld id="{00845B74-3AF8-437E-A446-1297CA166FFB}" type="slidenum">
              <a:rPr lang="zh-CN" altLang="en-US" smtClean="0"/>
              <a:t>12</a:t>
            </a:fld>
            <a:endParaRPr lang="zh-CN" altLang="en-US"/>
          </a:p>
        </p:txBody>
      </p:sp>
    </p:spTree>
    <p:extLst>
      <p:ext uri="{BB962C8B-B14F-4D97-AF65-F5344CB8AC3E}">
        <p14:creationId xmlns:p14="http://schemas.microsoft.com/office/powerpoint/2010/main" val="3039862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Arial" panose="020B0604020202020204" pitchFamily="34" charset="0"/>
                <a:cs typeface="Arial" panose="020B0604020202020204" pitchFamily="34" charset="0"/>
              </a:rPr>
              <a:t>具体实施方式 </a:t>
            </a:r>
            <a:r>
              <a:rPr lang="en-US" altLang="zh-CN" sz="1200" dirty="0">
                <a:latin typeface="Arial" panose="020B0604020202020204" pitchFamily="34" charset="0"/>
                <a:cs typeface="Arial" panose="020B0604020202020204" pitchFamily="34" charset="0"/>
              </a:rPr>
              <a:t>(Description of the embodiments)</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包括揭露一个或多个最佳实施方式。</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Including disclosure of one or more best practices.</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说明具体的实施步骤，必须有相应的技术参数、数据。</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Explain the detailed embodiments which have corresponding parameters or data. </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具体实施方式的说明应对应到附图。</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The embodiments is corresponding to related features</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or drawings.</a:t>
            </a:r>
            <a:endPar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每一张附图必须清楚说明内容，能提供充分的信息以理解附图中的技术。</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To give a clear description for each figures in order to give the sufficient technical information in the related figures</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or </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drawings.</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专利法予以保护的是技术方案不是功能，因此需要给出实现某种功能的具体技术方案，不能仅仅阐述功能。本部分为专利最重要的部分，需要详细、清楚和完整描述全部的必要技术特征，使发明创造的技术内容充分公开，使本技术领域人员无需进行创造性劳动就能实现为最低要求。</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What the patent law protects is the technical solution, not the function. It is necessary to give a specific technical solution to solve a certain problem, rather than just only</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give the description of the desired </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function. This is the most important part of the patent, which needs to describe all necessary technical features in detail. The engineer who</a:t>
            </a:r>
            <a:r>
              <a:rPr lang="en-US" altLang="zh-CN" sz="1200" baseline="0" dirty="0">
                <a:solidFill>
                  <a:schemeClr val="tx1">
                    <a:lumMod val="95000"/>
                    <a:lumOff val="5000"/>
                  </a:schemeClr>
                </a:solidFill>
                <a:latin typeface="Arial" panose="020B0604020202020204" pitchFamily="34" charset="0"/>
                <a:ea typeface="+mn-ea"/>
                <a:cs typeface="Arial" panose="020B0604020202020204" pitchFamily="34" charset="0"/>
              </a:rPr>
              <a:t> </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can reproduce the invention from the fully disclosure of the invention is the minimum requirements without extra creative effort.</a:t>
            </a:r>
          </a:p>
        </p:txBody>
      </p:sp>
      <p:sp>
        <p:nvSpPr>
          <p:cNvPr id="4" name="灯片编号占位符 3"/>
          <p:cNvSpPr>
            <a:spLocks noGrp="1"/>
          </p:cNvSpPr>
          <p:nvPr>
            <p:ph type="sldNum" sz="quarter" idx="10"/>
          </p:nvPr>
        </p:nvSpPr>
        <p:spPr/>
        <p:txBody>
          <a:bodyPr/>
          <a:lstStyle/>
          <a:p>
            <a:fld id="{00845B74-3AF8-437E-A446-1297CA166FFB}" type="slidenum">
              <a:rPr lang="zh-CN" altLang="en-US" smtClean="0"/>
              <a:t>13</a:t>
            </a:fld>
            <a:endParaRPr lang="zh-CN" altLang="en-US"/>
          </a:p>
        </p:txBody>
      </p:sp>
    </p:spTree>
    <p:extLst>
      <p:ext uri="{BB962C8B-B14F-4D97-AF65-F5344CB8AC3E}">
        <p14:creationId xmlns:p14="http://schemas.microsoft.com/office/powerpoint/2010/main" val="5691159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等线" panose="02010600030101010101" pitchFamily="2" charset="-122"/>
                <a:ea typeface="+mn-ea"/>
                <a:cs typeface="Arial" panose="020B0604020202020204" pitchFamily="34" charset="0"/>
              </a:rPr>
              <a:t>附图</a:t>
            </a:r>
            <a:r>
              <a:rPr lang="zh-TW" altLang="en-US" sz="1200" dirty="0">
                <a:latin typeface="等线" panose="02010600030101010101" pitchFamily="2" charset="-122"/>
                <a:ea typeface="等线" panose="02010600030101010101" pitchFamily="2" charset="-122"/>
                <a:cs typeface="Arial" panose="020B0604020202020204" pitchFamily="34" charset="0"/>
              </a:rPr>
              <a:t>与</a:t>
            </a:r>
            <a:r>
              <a:rPr lang="zh-CN" altLang="en-US" sz="1200" dirty="0">
                <a:latin typeface="等线" panose="02010600030101010101" pitchFamily="2" charset="-122"/>
                <a:ea typeface="+mn-ea"/>
                <a:cs typeface="Arial" panose="020B0604020202020204" pitchFamily="34" charset="0"/>
              </a:rPr>
              <a:t>说明</a:t>
            </a:r>
            <a:r>
              <a:rPr lang="en-US" altLang="zh-TW" sz="1200" dirty="0">
                <a:latin typeface="Arial" panose="020B0604020202020204" pitchFamily="34" charset="0"/>
                <a:cs typeface="Arial" panose="020B0604020202020204" pitchFamily="34" charset="0"/>
              </a:rPr>
              <a:t> (Figures and description</a:t>
            </a:r>
            <a:r>
              <a:rPr lang="en-US" altLang="zh-CN" sz="1200" dirty="0">
                <a:latin typeface="Arial" panose="020B0604020202020204" pitchFamily="34" charset="0"/>
                <a:cs typeface="Arial" panose="020B0604020202020204" pitchFamily="34" charset="0"/>
              </a:rPr>
              <a:t>)</a:t>
            </a:r>
          </a:p>
          <a:p>
            <a:pPr marL="171450" indent="-171450">
              <a:buFont typeface="Wingdings" panose="05000000000000000000" pitchFamily="2" charset="2"/>
              <a:buChar char="l"/>
            </a:pPr>
            <a:r>
              <a:rPr lang="zh-CN" altLang="en-US" sz="1200" dirty="0">
                <a:latin typeface="Arial" panose="020B0604020202020204" pitchFamily="34" charset="0"/>
                <a:cs typeface="Arial" panose="020B0604020202020204" pitchFamily="34" charset="0"/>
              </a:rPr>
              <a:t>请将专利交底书中每一张图表编号，并附上图表的说明。</a:t>
            </a:r>
            <a:r>
              <a:rPr lang="en-US" altLang="zh-CN" sz="1200" dirty="0">
                <a:latin typeface="Arial" panose="020B0604020202020204" pitchFamily="34" charset="0"/>
                <a:cs typeface="Arial" panose="020B0604020202020204" pitchFamily="34" charset="0"/>
              </a:rPr>
              <a:t>Please number each figure</a:t>
            </a:r>
            <a:r>
              <a:rPr lang="en-US" altLang="zh-CN" sz="1200" baseline="0" dirty="0">
                <a:latin typeface="Arial" panose="020B0604020202020204" pitchFamily="34" charset="0"/>
                <a:cs typeface="Arial" panose="020B0604020202020204" pitchFamily="34" charset="0"/>
              </a:rPr>
              <a:t> or table and attach the description for them.</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14</a:t>
            </a:fld>
            <a:endParaRPr lang="zh-CN" altLang="en-US"/>
          </a:p>
        </p:txBody>
      </p:sp>
    </p:spTree>
    <p:extLst>
      <p:ext uri="{BB962C8B-B14F-4D97-AF65-F5344CB8AC3E}">
        <p14:creationId xmlns:p14="http://schemas.microsoft.com/office/powerpoint/2010/main" val="257617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等线" panose="02010600030101010101" pitchFamily="2" charset="-122"/>
                <a:ea typeface="+mn-ea"/>
                <a:cs typeface="Arial" panose="020B0604020202020204" pitchFamily="34" charset="0"/>
              </a:rPr>
              <a:t>附图</a:t>
            </a:r>
            <a:r>
              <a:rPr lang="zh-TW" altLang="en-US" sz="1200" dirty="0">
                <a:latin typeface="等线" panose="02010600030101010101" pitchFamily="2" charset="-122"/>
                <a:ea typeface="等线" panose="02010600030101010101" pitchFamily="2" charset="-122"/>
                <a:cs typeface="Arial" panose="020B0604020202020204" pitchFamily="34" charset="0"/>
              </a:rPr>
              <a:t>与</a:t>
            </a:r>
            <a:r>
              <a:rPr lang="zh-CN" altLang="en-US" sz="1200" dirty="0">
                <a:latin typeface="等线" panose="02010600030101010101" pitchFamily="2" charset="-122"/>
                <a:ea typeface="+mn-ea"/>
                <a:cs typeface="Arial" panose="020B0604020202020204" pitchFamily="34" charset="0"/>
              </a:rPr>
              <a:t>说明</a:t>
            </a:r>
            <a:r>
              <a:rPr lang="en-US" altLang="zh-TW" sz="1200" dirty="0">
                <a:latin typeface="Arial" panose="020B0604020202020204" pitchFamily="34" charset="0"/>
                <a:cs typeface="Arial" panose="020B0604020202020204" pitchFamily="34" charset="0"/>
              </a:rPr>
              <a:t> (Figures and description</a:t>
            </a:r>
            <a:r>
              <a:rPr lang="en-US" altLang="zh-CN" sz="1200" dirty="0">
                <a:latin typeface="Arial" panose="020B0604020202020204" pitchFamily="34" charset="0"/>
                <a:cs typeface="Arial" panose="020B0604020202020204" pitchFamily="34" charset="0"/>
              </a:rPr>
              <a:t>)</a:t>
            </a:r>
          </a:p>
          <a:p>
            <a:pPr marL="171450" indent="-171450">
              <a:buFont typeface="Wingdings" panose="05000000000000000000" pitchFamily="2" charset="2"/>
              <a:buChar char="l"/>
            </a:pPr>
            <a:r>
              <a:rPr lang="zh-CN" altLang="en-US" sz="1200" dirty="0">
                <a:latin typeface="Arial" panose="020B0604020202020204" pitchFamily="34" charset="0"/>
                <a:cs typeface="Arial" panose="020B0604020202020204" pitchFamily="34" charset="0"/>
              </a:rPr>
              <a:t>请将专利交底书中每一张图表编号，并附上图表的说明。</a:t>
            </a:r>
            <a:r>
              <a:rPr lang="en-US" altLang="zh-CN" sz="1200" dirty="0">
                <a:latin typeface="Arial" panose="020B0604020202020204" pitchFamily="34" charset="0"/>
                <a:cs typeface="Arial" panose="020B0604020202020204" pitchFamily="34" charset="0"/>
              </a:rPr>
              <a:t>Please number each figure</a:t>
            </a:r>
            <a:r>
              <a:rPr lang="en-US" altLang="zh-CN" sz="1200" baseline="0" dirty="0">
                <a:latin typeface="Arial" panose="020B0604020202020204" pitchFamily="34" charset="0"/>
                <a:cs typeface="Arial" panose="020B0604020202020204" pitchFamily="34" charset="0"/>
              </a:rPr>
              <a:t> or table and attach the description for them.</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15</a:t>
            </a:fld>
            <a:endParaRPr lang="zh-CN" altLang="en-US"/>
          </a:p>
        </p:txBody>
      </p:sp>
    </p:spTree>
    <p:extLst>
      <p:ext uri="{BB962C8B-B14F-4D97-AF65-F5344CB8AC3E}">
        <p14:creationId xmlns:p14="http://schemas.microsoft.com/office/powerpoint/2010/main" val="2783825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等线" panose="02010600030101010101" pitchFamily="2" charset="-122"/>
                <a:ea typeface="+mn-ea"/>
                <a:cs typeface="Arial" panose="020B0604020202020204" pitchFamily="34" charset="0"/>
              </a:rPr>
              <a:t>附图</a:t>
            </a:r>
            <a:r>
              <a:rPr lang="zh-TW" altLang="en-US" sz="1200" dirty="0">
                <a:latin typeface="等线" panose="02010600030101010101" pitchFamily="2" charset="-122"/>
                <a:ea typeface="等线" panose="02010600030101010101" pitchFamily="2" charset="-122"/>
                <a:cs typeface="Arial" panose="020B0604020202020204" pitchFamily="34" charset="0"/>
              </a:rPr>
              <a:t>与</a:t>
            </a:r>
            <a:r>
              <a:rPr lang="zh-CN" altLang="en-US" sz="1200" dirty="0">
                <a:latin typeface="等线" panose="02010600030101010101" pitchFamily="2" charset="-122"/>
                <a:ea typeface="+mn-ea"/>
                <a:cs typeface="Arial" panose="020B0604020202020204" pitchFamily="34" charset="0"/>
              </a:rPr>
              <a:t>说明</a:t>
            </a:r>
            <a:r>
              <a:rPr lang="en-US" altLang="zh-TW" sz="1200" dirty="0">
                <a:latin typeface="Arial" panose="020B0604020202020204" pitchFamily="34" charset="0"/>
                <a:cs typeface="Arial" panose="020B0604020202020204" pitchFamily="34" charset="0"/>
              </a:rPr>
              <a:t> (Figures and description</a:t>
            </a:r>
            <a:r>
              <a:rPr lang="en-US" altLang="zh-CN" sz="1200" dirty="0">
                <a:latin typeface="Arial" panose="020B0604020202020204" pitchFamily="34" charset="0"/>
                <a:cs typeface="Arial" panose="020B0604020202020204" pitchFamily="34" charset="0"/>
              </a:rPr>
              <a:t>)</a:t>
            </a:r>
          </a:p>
          <a:p>
            <a:pPr marL="171450" indent="-171450">
              <a:buFont typeface="Wingdings" panose="05000000000000000000" pitchFamily="2" charset="2"/>
              <a:buChar char="l"/>
            </a:pPr>
            <a:r>
              <a:rPr lang="zh-CN" altLang="en-US" sz="1200" dirty="0">
                <a:latin typeface="Arial" panose="020B0604020202020204" pitchFamily="34" charset="0"/>
                <a:cs typeface="Arial" panose="020B0604020202020204" pitchFamily="34" charset="0"/>
              </a:rPr>
              <a:t>请将专利交底书中每一张图表编号，并附上图表的说明。</a:t>
            </a:r>
            <a:r>
              <a:rPr lang="en-US" altLang="zh-CN" sz="1200" dirty="0">
                <a:latin typeface="Arial" panose="020B0604020202020204" pitchFamily="34" charset="0"/>
                <a:cs typeface="Arial" panose="020B0604020202020204" pitchFamily="34" charset="0"/>
              </a:rPr>
              <a:t>Please number each figure</a:t>
            </a:r>
            <a:r>
              <a:rPr lang="en-US" altLang="zh-CN" sz="1200" baseline="0" dirty="0">
                <a:latin typeface="Arial" panose="020B0604020202020204" pitchFamily="34" charset="0"/>
                <a:cs typeface="Arial" panose="020B0604020202020204" pitchFamily="34" charset="0"/>
              </a:rPr>
              <a:t> or table and attach the description for them.</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16</a:t>
            </a:fld>
            <a:endParaRPr lang="zh-CN" altLang="en-US"/>
          </a:p>
        </p:txBody>
      </p:sp>
    </p:spTree>
    <p:extLst>
      <p:ext uri="{BB962C8B-B14F-4D97-AF65-F5344CB8AC3E}">
        <p14:creationId xmlns:p14="http://schemas.microsoft.com/office/powerpoint/2010/main" val="1413387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等线" panose="02010600030101010101" pitchFamily="2" charset="-122"/>
                <a:ea typeface="+mn-ea"/>
                <a:cs typeface="Arial" panose="020B0604020202020204" pitchFamily="34" charset="0"/>
              </a:rPr>
              <a:t>附图</a:t>
            </a:r>
            <a:r>
              <a:rPr lang="zh-TW" altLang="en-US" sz="1200" dirty="0">
                <a:latin typeface="等线" panose="02010600030101010101" pitchFamily="2" charset="-122"/>
                <a:ea typeface="等线" panose="02010600030101010101" pitchFamily="2" charset="-122"/>
                <a:cs typeface="Arial" panose="020B0604020202020204" pitchFamily="34" charset="0"/>
              </a:rPr>
              <a:t>与</a:t>
            </a:r>
            <a:r>
              <a:rPr lang="zh-CN" altLang="en-US" sz="1200" dirty="0">
                <a:latin typeface="等线" panose="02010600030101010101" pitchFamily="2" charset="-122"/>
                <a:ea typeface="+mn-ea"/>
                <a:cs typeface="Arial" panose="020B0604020202020204" pitchFamily="34" charset="0"/>
              </a:rPr>
              <a:t>说明</a:t>
            </a:r>
            <a:r>
              <a:rPr lang="en-US" altLang="zh-TW" sz="1200" dirty="0">
                <a:latin typeface="Arial" panose="020B0604020202020204" pitchFamily="34" charset="0"/>
                <a:cs typeface="Arial" panose="020B0604020202020204" pitchFamily="34" charset="0"/>
              </a:rPr>
              <a:t> (Figures and description</a:t>
            </a:r>
            <a:r>
              <a:rPr lang="en-US" altLang="zh-CN" sz="1200" dirty="0">
                <a:latin typeface="Arial" panose="020B0604020202020204" pitchFamily="34" charset="0"/>
                <a:cs typeface="Arial" panose="020B0604020202020204" pitchFamily="34" charset="0"/>
              </a:rPr>
              <a:t>)</a:t>
            </a:r>
          </a:p>
          <a:p>
            <a:pPr marL="171450" indent="-171450">
              <a:buFont typeface="Wingdings" panose="05000000000000000000" pitchFamily="2" charset="2"/>
              <a:buChar char="l"/>
            </a:pPr>
            <a:r>
              <a:rPr lang="zh-CN" altLang="en-US" sz="1200" dirty="0">
                <a:latin typeface="Arial" panose="020B0604020202020204" pitchFamily="34" charset="0"/>
                <a:cs typeface="Arial" panose="020B0604020202020204" pitchFamily="34" charset="0"/>
              </a:rPr>
              <a:t>请将专利交底书中每一张图表编号，并附上图表的说明。</a:t>
            </a:r>
            <a:r>
              <a:rPr lang="en-US" altLang="zh-CN" sz="1200" dirty="0">
                <a:latin typeface="Arial" panose="020B0604020202020204" pitchFamily="34" charset="0"/>
                <a:cs typeface="Arial" panose="020B0604020202020204" pitchFamily="34" charset="0"/>
              </a:rPr>
              <a:t>Please number each figure</a:t>
            </a:r>
            <a:r>
              <a:rPr lang="en-US" altLang="zh-CN" sz="1200" baseline="0" dirty="0">
                <a:latin typeface="Arial" panose="020B0604020202020204" pitchFamily="34" charset="0"/>
                <a:cs typeface="Arial" panose="020B0604020202020204" pitchFamily="34" charset="0"/>
              </a:rPr>
              <a:t> or table and attach the description for them.</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17</a:t>
            </a:fld>
            <a:endParaRPr lang="zh-CN" altLang="en-US"/>
          </a:p>
        </p:txBody>
      </p:sp>
    </p:spTree>
    <p:extLst>
      <p:ext uri="{BB962C8B-B14F-4D97-AF65-F5344CB8AC3E}">
        <p14:creationId xmlns:p14="http://schemas.microsoft.com/office/powerpoint/2010/main" val="3925078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等线" panose="02010600030101010101" pitchFamily="2" charset="-122"/>
                <a:ea typeface="+mn-ea"/>
                <a:cs typeface="Arial" panose="020B0604020202020204" pitchFamily="34" charset="0"/>
              </a:rPr>
              <a:t>附图</a:t>
            </a:r>
            <a:r>
              <a:rPr lang="zh-TW" altLang="en-US" sz="1200" dirty="0">
                <a:latin typeface="等线" panose="02010600030101010101" pitchFamily="2" charset="-122"/>
                <a:ea typeface="等线" panose="02010600030101010101" pitchFamily="2" charset="-122"/>
                <a:cs typeface="Arial" panose="020B0604020202020204" pitchFamily="34" charset="0"/>
              </a:rPr>
              <a:t>与</a:t>
            </a:r>
            <a:r>
              <a:rPr lang="zh-CN" altLang="en-US" sz="1200" dirty="0">
                <a:latin typeface="等线" panose="02010600030101010101" pitchFamily="2" charset="-122"/>
                <a:ea typeface="+mn-ea"/>
                <a:cs typeface="Arial" panose="020B0604020202020204" pitchFamily="34" charset="0"/>
              </a:rPr>
              <a:t>说明</a:t>
            </a:r>
            <a:r>
              <a:rPr lang="en-US" altLang="zh-TW" sz="1200" dirty="0">
                <a:latin typeface="Arial" panose="020B0604020202020204" pitchFamily="34" charset="0"/>
                <a:cs typeface="Arial" panose="020B0604020202020204" pitchFamily="34" charset="0"/>
              </a:rPr>
              <a:t> (Figures and description</a:t>
            </a:r>
            <a:r>
              <a:rPr lang="en-US" altLang="zh-CN" sz="1200" dirty="0">
                <a:latin typeface="Arial" panose="020B0604020202020204" pitchFamily="34" charset="0"/>
                <a:cs typeface="Arial" panose="020B0604020202020204" pitchFamily="34" charset="0"/>
              </a:rPr>
              <a:t>)</a:t>
            </a:r>
          </a:p>
          <a:p>
            <a:pPr marL="171450" indent="-171450">
              <a:buFont typeface="Wingdings" panose="05000000000000000000" pitchFamily="2" charset="2"/>
              <a:buChar char="l"/>
            </a:pPr>
            <a:r>
              <a:rPr lang="zh-CN" altLang="en-US" sz="1200" dirty="0">
                <a:latin typeface="Arial" panose="020B0604020202020204" pitchFamily="34" charset="0"/>
                <a:cs typeface="Arial" panose="020B0604020202020204" pitchFamily="34" charset="0"/>
              </a:rPr>
              <a:t>请将专利交底书中每一张图表编号，并附上图表的说明。</a:t>
            </a:r>
            <a:r>
              <a:rPr lang="en-US" altLang="zh-CN" sz="1200" dirty="0">
                <a:latin typeface="Arial" panose="020B0604020202020204" pitchFamily="34" charset="0"/>
                <a:cs typeface="Arial" panose="020B0604020202020204" pitchFamily="34" charset="0"/>
              </a:rPr>
              <a:t>Please number each figure</a:t>
            </a:r>
            <a:r>
              <a:rPr lang="en-US" altLang="zh-CN" sz="1200" baseline="0" dirty="0">
                <a:latin typeface="Arial" panose="020B0604020202020204" pitchFamily="34" charset="0"/>
                <a:cs typeface="Arial" panose="020B0604020202020204" pitchFamily="34" charset="0"/>
              </a:rPr>
              <a:t> or table and attach the description for them.</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0845B74-3AF8-437E-A446-1297CA166FFB}" type="slidenum">
              <a:rPr lang="zh-CN" altLang="en-US" smtClean="0"/>
              <a:t>18</a:t>
            </a:fld>
            <a:endParaRPr lang="zh-CN" altLang="en-US"/>
          </a:p>
        </p:txBody>
      </p:sp>
    </p:spTree>
    <p:extLst>
      <p:ext uri="{BB962C8B-B14F-4D97-AF65-F5344CB8AC3E}">
        <p14:creationId xmlns:p14="http://schemas.microsoft.com/office/powerpoint/2010/main" val="1844348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Arial" panose="020B0604020202020204" pitchFamily="34" charset="0"/>
                <a:cs typeface="Arial" panose="020B0604020202020204" pitchFamily="34" charset="0"/>
              </a:rPr>
              <a:t>缩略语 </a:t>
            </a:r>
            <a:r>
              <a:rPr lang="en-US" altLang="zh-CN" sz="1200" dirty="0">
                <a:latin typeface="Arial" panose="020B0604020202020204" pitchFamily="34" charset="0"/>
                <a:cs typeface="Arial" panose="020B0604020202020204" pitchFamily="34" charset="0"/>
              </a:rPr>
              <a:t>(Description of the abbreviation)</a:t>
            </a:r>
          </a:p>
          <a:p>
            <a:pPr marL="171450" marR="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l"/>
              <a:tabLst/>
              <a:defRPr/>
            </a:pPr>
            <a:r>
              <a:rPr lang="zh-CN" altLang="en-US" sz="1200" dirty="0">
                <a:solidFill>
                  <a:schemeClr val="tx1">
                    <a:lumMod val="95000"/>
                    <a:lumOff val="5000"/>
                  </a:schemeClr>
                </a:solidFill>
                <a:latin typeface="Arial" panose="020B0604020202020204" pitchFamily="34" charset="0"/>
                <a:ea typeface="+mn-ea"/>
                <a:cs typeface="Arial" panose="020B0604020202020204" pitchFamily="34" charset="0"/>
              </a:rPr>
              <a:t>英文缩写，请在这一部分写清楚对应的中文和英文全称。</a:t>
            </a:r>
            <a:r>
              <a:rPr lang="en-US" altLang="zh-CN" sz="1200" dirty="0">
                <a:solidFill>
                  <a:schemeClr val="tx1">
                    <a:lumMod val="95000"/>
                    <a:lumOff val="5000"/>
                  </a:schemeClr>
                </a:solidFill>
                <a:latin typeface="Arial" panose="020B0604020202020204" pitchFamily="34" charset="0"/>
                <a:ea typeface="+mn-ea"/>
                <a:cs typeface="Arial" panose="020B0604020202020204" pitchFamily="34" charset="0"/>
              </a:rPr>
              <a:t>Please clearly write the abbreviation of corresponding Chinese and English full name in this part.</a:t>
            </a:r>
          </a:p>
        </p:txBody>
      </p:sp>
      <p:sp>
        <p:nvSpPr>
          <p:cNvPr id="4" name="灯片编号占位符 3"/>
          <p:cNvSpPr>
            <a:spLocks noGrp="1"/>
          </p:cNvSpPr>
          <p:nvPr>
            <p:ph type="sldNum" sz="quarter" idx="10"/>
          </p:nvPr>
        </p:nvSpPr>
        <p:spPr/>
        <p:txBody>
          <a:bodyPr/>
          <a:lstStyle/>
          <a:p>
            <a:fld id="{00845B74-3AF8-437E-A446-1297CA166FFB}" type="slidenum">
              <a:rPr lang="zh-CN" altLang="en-US" smtClean="0"/>
              <a:t>19</a:t>
            </a:fld>
            <a:endParaRPr lang="zh-CN" altLang="en-US"/>
          </a:p>
        </p:txBody>
      </p:sp>
    </p:spTree>
    <p:extLst>
      <p:ext uri="{BB962C8B-B14F-4D97-AF65-F5344CB8AC3E}">
        <p14:creationId xmlns:p14="http://schemas.microsoft.com/office/powerpoint/2010/main" val="3410565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38DB3825-213E-4545-9F8B-F7911DF526BC}" type="datetimeFigureOut">
              <a:rPr kumimoji="1" lang="zh-CN" altLang="en-US" smtClean="0"/>
              <a:t>2026/4/20</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4085C35A-A984-384D-9063-286D40D760B5}" type="slidenum">
              <a:rPr kumimoji="1" lang="zh-CN" altLang="en-US" smtClean="0"/>
              <a:t>‹#›</a:t>
            </a:fld>
            <a:endParaRPr kumimoji="1"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6214293" y="1618931"/>
            <a:ext cx="4818648" cy="1864586"/>
          </a:xfrm>
          <a:custGeom>
            <a:avLst/>
            <a:gdLst>
              <a:gd name="connsiteX0" fmla="*/ 0 w 9674941"/>
              <a:gd name="connsiteY0" fmla="*/ 0 h 3719244"/>
              <a:gd name="connsiteX1" fmla="*/ 9674941 w 9674941"/>
              <a:gd name="connsiteY1" fmla="*/ 0 h 3719244"/>
              <a:gd name="connsiteX2" fmla="*/ 9674941 w 9674941"/>
              <a:gd name="connsiteY2" fmla="*/ 3719244 h 3719244"/>
              <a:gd name="connsiteX3" fmla="*/ 0 w 9674941"/>
              <a:gd name="connsiteY3" fmla="*/ 3719244 h 3719244"/>
            </a:gdLst>
            <a:ahLst/>
            <a:cxnLst>
              <a:cxn ang="0">
                <a:pos x="connsiteX0" y="connsiteY0"/>
              </a:cxn>
              <a:cxn ang="0">
                <a:pos x="connsiteX1" y="connsiteY1"/>
              </a:cxn>
              <a:cxn ang="0">
                <a:pos x="connsiteX2" y="connsiteY2"/>
              </a:cxn>
              <a:cxn ang="0">
                <a:pos x="connsiteX3" y="connsiteY3"/>
              </a:cxn>
            </a:cxnLst>
            <a:rect l="l" t="t" r="r" b="b"/>
            <a:pathLst>
              <a:path w="9674941" h="3719244">
                <a:moveTo>
                  <a:pt x="0" y="0"/>
                </a:moveTo>
                <a:lnTo>
                  <a:pt x="9674941" y="0"/>
                </a:lnTo>
                <a:lnTo>
                  <a:pt x="9674941" y="3719244"/>
                </a:lnTo>
                <a:lnTo>
                  <a:pt x="0" y="3719244"/>
                </a:lnTo>
                <a:close/>
              </a:path>
            </a:pathLst>
          </a:custGeom>
        </p:spPr>
        <p:txBody>
          <a:bodyPr rtlCol="0">
            <a:noAutofit/>
          </a:bodyPr>
          <a:lstStyle/>
          <a:p>
            <a:pPr lvl="0"/>
            <a:endParaRPr lang="en-ID" noProof="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DB3825-213E-4545-9F8B-F7911DF526BC}" type="datetimeFigureOut">
              <a:rPr kumimoji="1" lang="zh-CN" altLang="en-US" smtClean="0"/>
              <a:t>2026/4/20</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85C35A-A984-384D-9063-286D40D760B5}" type="slidenum">
              <a:rPr kumimoji="1" lang="zh-CN" altLang="en-US" smtClean="0"/>
              <a:t>‹#›</a:t>
            </a:fld>
            <a:endParaRPr kumimoji="1" lang="zh-CN" altLang="en-US"/>
          </a:p>
        </p:txBody>
      </p:sp>
      <p:sp>
        <p:nvSpPr>
          <p:cNvPr id="7" name="PowerPnt_TextWatermark1">
            <a:extLst>
              <a:ext uri="{FF2B5EF4-FFF2-40B4-BE49-F238E27FC236}">
                <a16:creationId xmlns:a16="http://schemas.microsoft.com/office/drawing/2014/main" id="{5E165119-7ACE-4FC0-9E1B-B915CEC6C036}"/>
              </a:ext>
            </a:extLst>
          </p:cNvPr>
          <p:cNvSpPr>
            <a:spLocks noChangeAspect="1"/>
          </p:cNvSpPr>
          <p:nvPr userDrawn="1"/>
        </p:nvSpPr>
        <p:spPr>
          <a:xfrm>
            <a:off x="7638433" y="0"/>
            <a:ext cx="4553567" cy="2148871"/>
          </a:xfrm>
          <a:prstGeom prst="rect">
            <a:avLst/>
          </a:prstGeom>
        </p:spPr>
        <p:txBody>
          <a:bodyPr wrap="none" lIns="91440" tIns="45720" rIns="91440" bIns="45720">
            <a:spAutoFit/>
          </a:bodyPr>
          <a:lstStyle/>
          <a:p>
            <a:pPr algn="ctr"/>
            <a:r>
              <a:rPr lang="zh-CN" altLang="en-US" sz="1500" b="0" i="0" cap="none" spc="50" normalizeH="0">
                <a:ln w="13500">
                  <a:solidFill>
                    <a:schemeClr val="accent1">
                      <a:shade val="2500"/>
                      <a:alpha val="6500"/>
                    </a:schemeClr>
                  </a:solidFill>
                  <a:prstDash val="solid"/>
                </a:ln>
                <a:solidFill>
                  <a:srgbClr val="7474D4">
                    <a:alpha val="39216"/>
                  </a:srgbClr>
                </a:solidFill>
                <a:effectLst>
                  <a:innerShdw blurRad="50900" dist="38500" dir="13500000">
                    <a:srgbClr val="000000">
                      <a:alpha val="60000"/>
                    </a:srgbClr>
                  </a:innerShdw>
                </a:effectLst>
                <a:latin typeface="宋体" panose="02010600030101010101" pitchFamily="2" charset="-122"/>
              </a:rPr>
              <a:t>保 密</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885" y="564515"/>
            <a:ext cx="1157605" cy="308610"/>
          </a:xfrm>
          <a:prstGeom prst="rect">
            <a:avLst/>
          </a:prstGeom>
        </p:spPr>
      </p:pic>
      <p:sp>
        <p:nvSpPr>
          <p:cNvPr id="22" name="TextBox 17"/>
          <p:cNvSpPr txBox="1">
            <a:spLocks noChangeArrowheads="1"/>
          </p:cNvSpPr>
          <p:nvPr/>
        </p:nvSpPr>
        <p:spPr bwMode="auto">
          <a:xfrm>
            <a:off x="608965" y="2411095"/>
            <a:ext cx="1099910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l">
              <a:defRPr/>
            </a:pPr>
            <a:r>
              <a:rPr lang="zh-CN" altLang="en-US" sz="4800" b="1" dirty="0">
                <a:solidFill>
                  <a:schemeClr val="bg1"/>
                </a:solidFill>
                <a:effectLst/>
                <a:latin typeface="思源黑体 CN Bold" panose="020B0800000000000000" charset="-122"/>
                <a:ea typeface="思源黑体 CN Bold" panose="020B0800000000000000" charset="-122"/>
                <a:cs typeface="思源黑体 CN Bold" panose="020B0800000000000000" charset="-122"/>
              </a:rPr>
              <a:t>基于理解</a:t>
            </a:r>
            <a:r>
              <a:rPr lang="en-US" altLang="zh-CN" sz="4800" b="1" dirty="0">
                <a:solidFill>
                  <a:schemeClr val="bg1"/>
                </a:solidFill>
                <a:effectLst/>
                <a:latin typeface="思源黑体 CN Bold" panose="020B0800000000000000" charset="-122"/>
                <a:ea typeface="思源黑体 CN Bold" panose="020B0800000000000000" charset="-122"/>
                <a:cs typeface="思源黑体 CN Bold" panose="020B0800000000000000" charset="-122"/>
              </a:rPr>
              <a:t>-</a:t>
            </a:r>
            <a:r>
              <a:rPr lang="zh-CN" altLang="en-US" sz="4800" b="1" dirty="0">
                <a:solidFill>
                  <a:schemeClr val="bg1"/>
                </a:solidFill>
                <a:effectLst/>
                <a:latin typeface="思源黑体 CN Bold" panose="020B0800000000000000" charset="-122"/>
                <a:ea typeface="思源黑体 CN Bold" panose="020B0800000000000000" charset="-122"/>
                <a:cs typeface="思源黑体 CN Bold" panose="020B0800000000000000" charset="-122"/>
              </a:rPr>
              <a:t>生成统一多模态大模型的交互式白板设计辅助系统及方法</a:t>
            </a:r>
            <a:endParaRPr lang="zh-CN" altLang="en-US" sz="3200" b="1" dirty="0">
              <a:solidFill>
                <a:schemeClr val="bg1"/>
              </a:solidFill>
              <a:latin typeface="思源黑体 CN Bold" panose="020B0800000000000000" charset="-122"/>
              <a:ea typeface="思源黑体 CN Bold" panose="020B0800000000000000" charset="-122"/>
              <a:cs typeface="思源黑体 CN Bold" panose="020B0800000000000000" charset="-122"/>
            </a:endParaRPr>
          </a:p>
        </p:txBody>
      </p:sp>
      <p:cxnSp>
        <p:nvCxnSpPr>
          <p:cNvPr id="2" name="直接连接符 1"/>
          <p:cNvCxnSpPr/>
          <p:nvPr/>
        </p:nvCxnSpPr>
        <p:spPr>
          <a:xfrm>
            <a:off x="730885" y="6019800"/>
            <a:ext cx="5215255" cy="0"/>
          </a:xfrm>
          <a:prstGeom prst="line">
            <a:avLst/>
          </a:prstGeom>
          <a:ln w="12700" cmpd="sng">
            <a:solidFill>
              <a:srgbClr val="FFFFFF"/>
            </a:solidFill>
            <a:prstDash val="solid"/>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30885" y="5609590"/>
            <a:ext cx="8028104" cy="369332"/>
          </a:xfrm>
          <a:prstGeom prst="rect">
            <a:avLst/>
          </a:prstGeom>
          <a:noFill/>
        </p:spPr>
        <p:txBody>
          <a:bodyPr wrap="square" rtlCol="0" anchor="t">
            <a:spAutoFit/>
          </a:bodyPr>
          <a:lstStyle/>
          <a:p>
            <a:pPr algn="l">
              <a:defRPr/>
            </a:pP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Date</a:t>
            </a:r>
            <a:r>
              <a:rPr lang="en-US" altLang="zh-CN" dirty="0">
                <a:solidFill>
                  <a:schemeClr val="bg1"/>
                </a:solidFill>
                <a:effectLst/>
                <a:latin typeface="思源黑体 CN Regular" panose="020B0500000000000000" charset="-122"/>
                <a:ea typeface="思源黑体 CN Regular" panose="020B0500000000000000" charset="-122"/>
                <a:cs typeface="思源黑体 CN Regular" panose="020B0500000000000000" charset="-122"/>
                <a:sym typeface="+mn-ea"/>
              </a:rPr>
              <a:t> : 2026/04/20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2</a:t>
            </a:fld>
            <a:endParaRPr kumimoji="1" lang="zh-CN" altLang="en-US" dirty="0"/>
          </a:p>
        </p:txBody>
      </p:sp>
      <p:pic>
        <p:nvPicPr>
          <p:cNvPr id="15" name="图片 14" descr="777"/>
          <p:cNvPicPr>
            <a:picLocks noChangeAspect="1"/>
          </p:cNvPicPr>
          <p:nvPr/>
        </p:nvPicPr>
        <p:blipFill>
          <a:blip r:embed="rId3"/>
          <a:stretch>
            <a:fillRect/>
          </a:stretch>
        </p:blipFill>
        <p:spPr>
          <a:xfrm>
            <a:off x="11775440" y="6451600"/>
            <a:ext cx="266065" cy="269875"/>
          </a:xfrm>
          <a:prstGeom prst="rect">
            <a:avLst/>
          </a:prstGeom>
        </p:spPr>
      </p:pic>
      <p:sp>
        <p:nvSpPr>
          <p:cNvPr id="13" name="文本框 12"/>
          <p:cNvSpPr txBox="1"/>
          <p:nvPr/>
        </p:nvSpPr>
        <p:spPr>
          <a:xfrm>
            <a:off x="4593820" y="520472"/>
            <a:ext cx="3010930" cy="464690"/>
          </a:xfrm>
          <a:prstGeom prst="rect">
            <a:avLst/>
          </a:prstGeom>
          <a:noFill/>
        </p:spPr>
        <p:txBody>
          <a:bodyPr wrap="square" rtlCol="0">
            <a:spAutoFit/>
          </a:bodyPr>
          <a:lstStyle/>
          <a:p>
            <a:pPr eaLnBrk="0" fontAlgn="base" hangingPunct="0">
              <a:spcBef>
                <a:spcPct val="0"/>
              </a:spcBef>
              <a:spcAft>
                <a:spcPct val="0"/>
              </a:spcAft>
            </a:pPr>
            <a:r>
              <a:rPr lang="zh-CN" altLang="en-US" sz="2400" dirty="0">
                <a:solidFill>
                  <a:prstClr val="black"/>
                </a:solidFill>
                <a:latin typeface="Arial" panose="020B0604020202020204" pitchFamily="34" charset="0"/>
                <a:ea typeface="宋体" panose="02010600030101010101" pitchFamily="2" charset="-122"/>
                <a:cs typeface="Arial" panose="020B0604020202020204" pitchFamily="34" charset="0"/>
              </a:rPr>
              <a:t>声明 </a:t>
            </a:r>
            <a:r>
              <a:rPr lang="en-US" altLang="zh-CN" sz="2400" dirty="0">
                <a:solidFill>
                  <a:prstClr val="black"/>
                </a:solidFill>
                <a:latin typeface="Arial" panose="020B0604020202020204" pitchFamily="34" charset="0"/>
                <a:ea typeface="宋体" panose="02010600030101010101" pitchFamily="2" charset="-122"/>
                <a:cs typeface="Arial" panose="020B0604020202020204" pitchFamily="34" charset="0"/>
              </a:rPr>
              <a:t>(Declaration)</a:t>
            </a:r>
            <a:endParaRPr lang="zh-CN" altLang="en-US" sz="2400" dirty="0">
              <a:solidFill>
                <a:prstClr val="black"/>
              </a:solidFill>
              <a:latin typeface="Arial" panose="020B0604020202020204" pitchFamily="34" charset="0"/>
              <a:ea typeface="宋体" panose="02010600030101010101" pitchFamily="2" charset="-122"/>
              <a:cs typeface="Arial" panose="020B0604020202020204" pitchFamily="34" charset="0"/>
            </a:endParaRPr>
          </a:p>
        </p:txBody>
      </p:sp>
      <p:sp>
        <p:nvSpPr>
          <p:cNvPr id="17" name="文本框 16"/>
          <p:cNvSpPr txBox="1"/>
          <p:nvPr/>
        </p:nvSpPr>
        <p:spPr>
          <a:xfrm>
            <a:off x="742631" y="1214015"/>
            <a:ext cx="10713307" cy="4616648"/>
          </a:xfrm>
          <a:prstGeom prst="rect">
            <a:avLst/>
          </a:prstGeom>
          <a:noFill/>
        </p:spPr>
        <p:txBody>
          <a:bodyPr wrap="square" rtlCol="0">
            <a:spAutoFit/>
          </a:bodyPr>
          <a:lstStyle/>
          <a:p>
            <a:pPr algn="just" eaLnBrk="0" fontAlgn="base" hangingPunct="0">
              <a:spcBef>
                <a:spcPct val="0"/>
              </a:spcBef>
              <a:spcAft>
                <a:spcPct val="0"/>
              </a:spcAft>
            </a:pPr>
            <a:r>
              <a:rPr lang="zh-CN" altLang="en-US" sz="1400" dirty="0">
                <a:solidFill>
                  <a:prstClr val="black"/>
                </a:solidFill>
                <a:cs typeface="Arial" panose="020B0604020202020204" pitchFamily="34" charset="0"/>
              </a:rPr>
              <a:t>在专利申请公布或公告前，本公司专利工作人员及其他有关人员对其技术交底书内容负有保密的责任。</a:t>
            </a:r>
            <a:endParaRPr lang="en-US" altLang="zh-CN" sz="1400" dirty="0">
              <a:solidFill>
                <a:prstClr val="black"/>
              </a:solidFill>
              <a:cs typeface="Arial" panose="020B0604020202020204" pitchFamily="34" charset="0"/>
            </a:endParaRPr>
          </a:p>
          <a:p>
            <a:pPr algn="just" eaLnBrk="0" fontAlgn="base" hangingPunct="0">
              <a:spcBef>
                <a:spcPct val="0"/>
              </a:spcBef>
              <a:spcAft>
                <a:spcPct val="0"/>
              </a:spcAft>
            </a:pPr>
            <a:r>
              <a:rPr lang="en-US" altLang="zh-CN" sz="1400" dirty="0">
                <a:solidFill>
                  <a:prstClr val="black"/>
                </a:solidFill>
                <a:cs typeface="Arial" panose="020B0604020202020204" pitchFamily="34" charset="0"/>
              </a:rPr>
              <a:t>Before the patent application is published or announced, the patent staff and other relevant personnel in the company shall have the responsibility to keep confidential the contents of the technical disclosure.</a:t>
            </a:r>
          </a:p>
          <a:p>
            <a:pPr algn="just" eaLnBrk="0" fontAlgn="base" hangingPunct="0">
              <a:spcBef>
                <a:spcPct val="0"/>
              </a:spcBef>
              <a:spcAft>
                <a:spcPct val="0"/>
              </a:spcAft>
            </a:pPr>
            <a:endParaRPr lang="zh-CN" altLang="en-US" sz="1400" dirty="0">
              <a:solidFill>
                <a:prstClr val="black"/>
              </a:solidFill>
              <a:cs typeface="Arial" panose="020B0604020202020204" pitchFamily="34" charset="0"/>
            </a:endParaRPr>
          </a:p>
          <a:p>
            <a:pPr algn="just" eaLnBrk="0" fontAlgn="base" hangingPunct="0">
              <a:spcBef>
                <a:spcPct val="0"/>
              </a:spcBef>
              <a:spcAft>
                <a:spcPct val="0"/>
              </a:spcAft>
            </a:pPr>
            <a:r>
              <a:rPr lang="zh-CN" altLang="en-US" sz="1400" dirty="0">
                <a:solidFill>
                  <a:prstClr val="black"/>
                </a:solidFill>
                <a:cs typeface="Arial" panose="020B0604020202020204" pitchFamily="34" charset="0"/>
              </a:rPr>
              <a:t>各业务角色在提案提交、评审、专利盘点任何环节接触到的提案、专利相关信息，均负有保密义务，不得提供给业务不相关同事，更不得泄漏到公司外部。</a:t>
            </a:r>
            <a:endParaRPr lang="en-US" altLang="zh-CN" sz="1400" dirty="0">
              <a:solidFill>
                <a:prstClr val="black"/>
              </a:solidFill>
              <a:cs typeface="Arial" panose="020B0604020202020204" pitchFamily="34" charset="0"/>
            </a:endParaRPr>
          </a:p>
          <a:p>
            <a:pPr algn="just" eaLnBrk="0" fontAlgn="base" hangingPunct="0">
              <a:spcBef>
                <a:spcPct val="0"/>
              </a:spcBef>
              <a:spcAft>
                <a:spcPct val="0"/>
              </a:spcAft>
            </a:pPr>
            <a:r>
              <a:rPr lang="en-US" altLang="zh-CN" sz="1400" dirty="0">
                <a:solidFill>
                  <a:prstClr val="black"/>
                </a:solidFill>
                <a:cs typeface="Arial" panose="020B0604020202020204" pitchFamily="34" charset="0"/>
              </a:rPr>
              <a:t>All business roles shall have the obligation to keep confidential while patents submission, review and inventory. Any personnel who contacts with related patents information shall not provide it to colleagues unrelated to the business. Also restriction of leaking information outside of the company.</a:t>
            </a:r>
            <a:endParaRPr lang="zh-CN" altLang="en-US" sz="1400" dirty="0">
              <a:solidFill>
                <a:prstClr val="black"/>
              </a:solidFill>
              <a:cs typeface="Arial" panose="020B0604020202020204" pitchFamily="34" charset="0"/>
            </a:endParaRPr>
          </a:p>
          <a:p>
            <a:pPr algn="just" eaLnBrk="0" fontAlgn="base" hangingPunct="0">
              <a:spcBef>
                <a:spcPct val="0"/>
              </a:spcBef>
              <a:spcAft>
                <a:spcPct val="0"/>
              </a:spcAft>
            </a:pPr>
            <a:endParaRPr lang="en-US" altLang="zh-CN" sz="1400" dirty="0">
              <a:solidFill>
                <a:prstClr val="black"/>
              </a:solidFill>
              <a:cs typeface="Arial" panose="020B0604020202020204" pitchFamily="34" charset="0"/>
            </a:endParaRPr>
          </a:p>
          <a:p>
            <a:pPr algn="just" eaLnBrk="0" fontAlgn="base" hangingPunct="0">
              <a:spcBef>
                <a:spcPct val="0"/>
              </a:spcBef>
              <a:spcAft>
                <a:spcPct val="0"/>
              </a:spcAft>
            </a:pPr>
            <a:r>
              <a:rPr lang="zh-CN" altLang="en-US" sz="1400" dirty="0">
                <a:solidFill>
                  <a:prstClr val="black"/>
                </a:solidFill>
                <a:cs typeface="Arial" panose="020B0604020202020204" pitchFamily="34" charset="0"/>
              </a:rPr>
              <a:t>在技术论坛、展会、论文发表、互联网公布等可能公开技术方案的情形发生前，应将提案提交至知识产权部门，并确认该技术提案已提交至专利局之后再公开技术方案。</a:t>
            </a:r>
            <a:endParaRPr lang="en-US" altLang="zh-CN" sz="1400" dirty="0">
              <a:solidFill>
                <a:prstClr val="black"/>
              </a:solidFill>
              <a:cs typeface="Arial" panose="020B0604020202020204" pitchFamily="34" charset="0"/>
            </a:endParaRPr>
          </a:p>
          <a:p>
            <a:pPr algn="just" eaLnBrk="0" fontAlgn="base" hangingPunct="0">
              <a:spcBef>
                <a:spcPct val="0"/>
              </a:spcBef>
              <a:spcAft>
                <a:spcPct val="0"/>
              </a:spcAft>
            </a:pPr>
            <a:r>
              <a:rPr lang="en-US" altLang="zh-CN" sz="1400" dirty="0">
                <a:solidFill>
                  <a:prstClr val="black"/>
                </a:solidFill>
                <a:cs typeface="Arial" panose="020B0604020202020204" pitchFamily="34" charset="0"/>
              </a:rPr>
              <a:t>Before disclosure to technical forum, exhibition, conference or internet, the proposal shall be submitted to the Intellectual Property department. Confirm that the patent has been submitted to the Patent Office before publishing of the technical proposal.</a:t>
            </a:r>
          </a:p>
          <a:p>
            <a:pPr algn="just" eaLnBrk="0" fontAlgn="base" hangingPunct="0">
              <a:spcBef>
                <a:spcPct val="0"/>
              </a:spcBef>
              <a:spcAft>
                <a:spcPct val="0"/>
              </a:spcAft>
            </a:pPr>
            <a:endParaRPr lang="en-US" altLang="zh-CN" sz="1400" dirty="0">
              <a:solidFill>
                <a:prstClr val="black"/>
              </a:solidFill>
              <a:cs typeface="Arial" panose="020B0604020202020204" pitchFamily="34" charset="0"/>
            </a:endParaRPr>
          </a:p>
          <a:p>
            <a:pPr algn="just" eaLnBrk="0" fontAlgn="base" hangingPunct="0">
              <a:spcBef>
                <a:spcPct val="0"/>
              </a:spcBef>
              <a:spcAft>
                <a:spcPct val="0"/>
              </a:spcAft>
            </a:pPr>
            <a:r>
              <a:rPr lang="zh-CN" altLang="en-US" sz="1400" dirty="0">
                <a:solidFill>
                  <a:prstClr val="black"/>
                </a:solidFill>
                <a:cs typeface="Arial" panose="020B0604020202020204" pitchFamily="34" charset="0"/>
              </a:rPr>
              <a:t>本人声明其所提供的技术资料不涉及任何第三方的商业秘密，上述技术资料均为合法所得，来源均符合相关法律法规以及公司内部制度的规定，对于违反上述声明以及承担的责任已全部知晓并充分理解，如若违反，本人愿意承担一切后果。</a:t>
            </a:r>
          </a:p>
          <a:p>
            <a:pPr algn="just" eaLnBrk="0" fontAlgn="base" hangingPunct="0">
              <a:spcBef>
                <a:spcPct val="0"/>
              </a:spcBef>
              <a:spcAft>
                <a:spcPct val="0"/>
              </a:spcAft>
            </a:pPr>
            <a:r>
              <a:rPr lang="en-US" altLang="zh-CN" sz="1400" dirty="0">
                <a:solidFill>
                  <a:prstClr val="black"/>
                </a:solidFill>
                <a:cs typeface="Arial" panose="020B0604020202020204" pitchFamily="34" charset="0"/>
              </a:rPr>
              <a:t>I declare that the technical data provided by me does not involve trade secrets of any third party. The technical data mentioned above was obtained legally. The sources of the technical data comply with relevant laws, regulations and the rules of company's internal systems. I acknowledge and understand the responsibilities resulted from violating this declaration. If I violate the declaration, all the consequences will be borne by me.</a:t>
            </a:r>
          </a:p>
        </p:txBody>
      </p:sp>
      <p:sp>
        <p:nvSpPr>
          <p:cNvPr id="19" name="文本框 18"/>
          <p:cNvSpPr txBox="1"/>
          <p:nvPr/>
        </p:nvSpPr>
        <p:spPr>
          <a:xfrm>
            <a:off x="4602240" y="5873795"/>
            <a:ext cx="2994089" cy="646331"/>
          </a:xfrm>
          <a:prstGeom prst="rect">
            <a:avLst/>
          </a:prstGeom>
          <a:noFill/>
          <a:ln>
            <a:solidFill>
              <a:srgbClr val="FF0000"/>
            </a:solidFill>
          </a:ln>
        </p:spPr>
        <p:txBody>
          <a:bodyPr wrap="none" rtlCol="0">
            <a:spAutoFit/>
          </a:bodyPr>
          <a:lstStyle/>
          <a:p>
            <a:pPr algn="ctr" eaLnBrk="0" fontAlgn="base" hangingPunct="0">
              <a:spcBef>
                <a:spcPct val="0"/>
              </a:spcBef>
              <a:spcAft>
                <a:spcPct val="0"/>
              </a:spcAft>
            </a:pPr>
            <a:r>
              <a:rPr lang="zh-CN" altLang="en-US" dirty="0">
                <a:solidFill>
                  <a:srgbClr val="FF0000"/>
                </a:solidFill>
                <a:latin typeface="Calibri" panose="020F0502020204030204" pitchFamily="34" charset="0"/>
                <a:ea typeface="宋体" panose="02010600030101010101" pitchFamily="2" charset="-122"/>
              </a:rPr>
              <a:t>此页不可删除</a:t>
            </a:r>
            <a:endParaRPr lang="en-US" altLang="zh-CN" dirty="0">
              <a:solidFill>
                <a:srgbClr val="FF0000"/>
              </a:solidFill>
              <a:latin typeface="Calibri" panose="020F0502020204030204" pitchFamily="34" charset="0"/>
              <a:ea typeface="宋体" panose="02010600030101010101" pitchFamily="2" charset="-122"/>
            </a:endParaRPr>
          </a:p>
          <a:p>
            <a:pPr algn="ctr" eaLnBrk="0" fontAlgn="base" hangingPunct="0">
              <a:spcBef>
                <a:spcPct val="0"/>
              </a:spcBef>
              <a:spcAft>
                <a:spcPct val="0"/>
              </a:spcAft>
            </a:pPr>
            <a:r>
              <a:rPr lang="en-US" altLang="zh-CN" dirty="0">
                <a:solidFill>
                  <a:srgbClr val="FF0000"/>
                </a:solidFill>
                <a:latin typeface="Calibri" panose="020F0502020204030204" pitchFamily="34" charset="0"/>
                <a:ea typeface="宋体" panose="02010600030101010101" pitchFamily="2" charset="-122"/>
              </a:rPr>
              <a:t>This page CANNOT be deleted</a:t>
            </a:r>
            <a:endParaRPr lang="zh-CN" altLang="en-US" dirty="0">
              <a:solidFill>
                <a:srgbClr val="FF0000"/>
              </a:solidFill>
              <a:latin typeface="Calibri" panose="020F0502020204030204" pitchFamily="34" charset="0"/>
              <a:ea typeface="宋体" panose="02010600030101010101" pitchFamily="2" charset="-122"/>
            </a:endParaRPr>
          </a:p>
        </p:txBody>
      </p:sp>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474" y="294129"/>
            <a:ext cx="644388" cy="171837"/>
          </a:xfrm>
          <a:prstGeom prst="rect">
            <a:avLst/>
          </a:prstGeom>
        </p:spPr>
      </p:pic>
      <p:pic>
        <p:nvPicPr>
          <p:cNvPr id="21" name="图片 20" descr="未标题-15464646"/>
          <p:cNvPicPr>
            <a:picLocks noChangeAspect="1"/>
          </p:cNvPicPr>
          <p:nvPr/>
        </p:nvPicPr>
        <p:blipFill>
          <a:blip r:embed="rId5"/>
          <a:srcRect r="44315" b="-12355"/>
          <a:stretch>
            <a:fillRect/>
          </a:stretch>
        </p:blipFill>
        <p:spPr>
          <a:xfrm>
            <a:off x="11765915" y="305435"/>
            <a:ext cx="426085" cy="184785"/>
          </a:xfrm>
          <a:prstGeom prst="rect">
            <a:avLst/>
          </a:prstGeom>
        </p:spPr>
      </p:pic>
      <p:pic>
        <p:nvPicPr>
          <p:cNvPr id="22" name="图片 21" descr="未标题-15464646"/>
          <p:cNvPicPr>
            <a:picLocks noChangeAspect="1"/>
          </p:cNvPicPr>
          <p:nvPr/>
        </p:nvPicPr>
        <p:blipFill>
          <a:blip r:embed="rId5"/>
          <a:srcRect r="44315" b="-12355"/>
          <a:stretch>
            <a:fillRect/>
          </a:stretch>
        </p:blipFill>
        <p:spPr>
          <a:xfrm flipH="1">
            <a:off x="0" y="305435"/>
            <a:ext cx="426085" cy="184785"/>
          </a:xfrm>
          <a:prstGeom prst="rect">
            <a:avLst/>
          </a:prstGeom>
        </p:spPr>
      </p:pic>
      <p:sp>
        <p:nvSpPr>
          <p:cNvPr id="24" name="TextBox 48"/>
          <p:cNvSpPr txBox="1"/>
          <p:nvPr/>
        </p:nvSpPr>
        <p:spPr>
          <a:xfrm>
            <a:off x="9461594" y="328577"/>
            <a:ext cx="2226277" cy="138499"/>
          </a:xfrm>
          <a:prstGeom prst="rect">
            <a:avLst/>
          </a:prstGeom>
          <a:noFill/>
        </p:spPr>
        <p:txBody>
          <a:bodyPr wrap="square" lIns="0" tIns="0" rIns="0" bIns="0" rtlCol="0">
            <a:spAutoFit/>
          </a:bodyPr>
          <a:lstStyle/>
          <a:p>
            <a:pPr algn="dist">
              <a:lnSpc>
                <a:spcPct val="100000"/>
              </a:lnSpc>
              <a:buClrTx/>
              <a:buSzTx/>
              <a:buFontTx/>
              <a:defRPr/>
            </a:pPr>
            <a:r>
              <a:rPr lang="en-US" altLang="zh-CN" sz="900" dirty="0" err="1">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rPr>
              <a:t>ChangXin</a:t>
            </a:r>
            <a:r>
              <a:rPr lang="en-US" altLang="zh-CN" sz="900" dirty="0">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rPr>
              <a:t> Memory Technologies, Inc.</a:t>
            </a:r>
            <a:endParaRPr lang="zh-CN" altLang="en-US" sz="900" dirty="0">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endParaRPr>
          </a:p>
        </p:txBody>
      </p:sp>
      <p:sp>
        <p:nvSpPr>
          <p:cNvPr id="25"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extLst>
      <p:ext uri="{BB962C8B-B14F-4D97-AF65-F5344CB8AC3E}">
        <p14:creationId xmlns:p14="http://schemas.microsoft.com/office/powerpoint/2010/main" val="2210111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pic>
        <p:nvPicPr>
          <p:cNvPr id="27" name="图片 26"/>
          <p:cNvPicPr>
            <a:picLocks noChangeAspect="1"/>
          </p:cNvPicPr>
          <p:nvPr/>
        </p:nvPicPr>
        <p:blipFill>
          <a:blip r:embed="rId4"/>
          <a:stretch>
            <a:fillRect/>
          </a:stretch>
        </p:blipFill>
        <p:spPr>
          <a:xfrm>
            <a:off x="1492250" y="3236595"/>
            <a:ext cx="2475230" cy="2136775"/>
          </a:xfrm>
          <a:prstGeom prst="rect">
            <a:avLst/>
          </a:prstGeom>
        </p:spPr>
      </p:pic>
      <p:pic>
        <p:nvPicPr>
          <p:cNvPr id="126" name="图片 1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474" y="294129"/>
            <a:ext cx="644388" cy="171837"/>
          </a:xfrm>
          <a:prstGeom prst="rect">
            <a:avLst/>
          </a:prstGeom>
        </p:spPr>
      </p:pic>
      <p:sp>
        <p:nvSpPr>
          <p:cNvPr id="11" name="Rectangle 8"/>
          <p:cNvSpPr>
            <a:spLocks noChangeArrowheads="1"/>
          </p:cNvSpPr>
          <p:nvPr/>
        </p:nvSpPr>
        <p:spPr bwMode="auto">
          <a:xfrm>
            <a:off x="7054215" y="2051685"/>
            <a:ext cx="4987290" cy="344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822450">
              <a:lnSpc>
                <a:spcPct val="90000"/>
              </a:lnSpc>
              <a:spcBef>
                <a:spcPts val="2000"/>
              </a:spcBef>
              <a:buFont typeface="Arial" panose="020B0604020202020204" pitchFamily="34" charset="0"/>
              <a:buChar char="•"/>
              <a:defRPr sz="5500">
                <a:solidFill>
                  <a:schemeClr val="tx1"/>
                </a:solidFill>
                <a:latin typeface="Calibri" panose="020F0502020204030204" pitchFamily="34" charset="0"/>
              </a:defRPr>
            </a:lvl1pPr>
            <a:lvl2pPr marL="742950" indent="-285750" defTabSz="1822450">
              <a:lnSpc>
                <a:spcPct val="90000"/>
              </a:lnSpc>
              <a:spcBef>
                <a:spcPts val="1000"/>
              </a:spcBef>
              <a:buFont typeface="Arial" panose="020B0604020202020204" pitchFamily="34" charset="0"/>
              <a:buChar char="•"/>
              <a:defRPr sz="4700">
                <a:solidFill>
                  <a:schemeClr val="tx1"/>
                </a:solidFill>
                <a:latin typeface="Calibri" panose="020F0502020204030204" pitchFamily="34" charset="0"/>
              </a:defRPr>
            </a:lvl2pPr>
            <a:lvl3pPr marL="1143000" indent="-228600" defTabSz="1822450">
              <a:lnSpc>
                <a:spcPct val="90000"/>
              </a:lnSpc>
              <a:spcBef>
                <a:spcPts val="1000"/>
              </a:spcBef>
              <a:buFont typeface="Arial" panose="020B0604020202020204" pitchFamily="34" charset="0"/>
              <a:buChar char="•"/>
              <a:defRPr sz="3900">
                <a:solidFill>
                  <a:schemeClr val="tx1"/>
                </a:solidFill>
                <a:latin typeface="Calibri" panose="020F0502020204030204" pitchFamily="34" charset="0"/>
              </a:defRPr>
            </a:lvl3pPr>
            <a:lvl4pPr marL="1600200" indent="-228600" defTabSz="1822450">
              <a:lnSpc>
                <a:spcPct val="90000"/>
              </a:lnSpc>
              <a:spcBef>
                <a:spcPts val="1000"/>
              </a:spcBef>
              <a:buFont typeface="Arial" panose="020B0604020202020204" pitchFamily="34" charset="0"/>
              <a:buChar char="•"/>
              <a:defRPr sz="3500">
                <a:solidFill>
                  <a:schemeClr val="tx1"/>
                </a:solidFill>
                <a:latin typeface="Calibri" panose="020F0502020204030204" pitchFamily="34" charset="0"/>
              </a:defRPr>
            </a:lvl4pPr>
            <a:lvl5pPr marL="2057400" indent="-228600" defTabSz="1822450">
              <a:lnSpc>
                <a:spcPct val="90000"/>
              </a:lnSpc>
              <a:spcBef>
                <a:spcPts val="1000"/>
              </a:spcBef>
              <a:buFont typeface="Arial" panose="020B0604020202020204" pitchFamily="34" charset="0"/>
              <a:buChar char="•"/>
              <a:defRPr sz="3500">
                <a:solidFill>
                  <a:schemeClr val="tx1"/>
                </a:solidFill>
                <a:latin typeface="Calibri" panose="020F0502020204030204" pitchFamily="34" charset="0"/>
              </a:defRPr>
            </a:lvl5pPr>
            <a:lvl6pPr marL="2514600" indent="-228600" defTabSz="1822450" eaLnBrk="0" fontAlgn="base" hangingPunct="0">
              <a:lnSpc>
                <a:spcPct val="90000"/>
              </a:lnSpc>
              <a:spcBef>
                <a:spcPts val="1000"/>
              </a:spcBef>
              <a:spcAft>
                <a:spcPct val="0"/>
              </a:spcAft>
              <a:buFont typeface="Arial" panose="020B0604020202020204" pitchFamily="34" charset="0"/>
              <a:buChar char="•"/>
              <a:defRPr sz="3500">
                <a:solidFill>
                  <a:schemeClr val="tx1"/>
                </a:solidFill>
                <a:latin typeface="Calibri" panose="020F0502020204030204" pitchFamily="34" charset="0"/>
              </a:defRPr>
            </a:lvl6pPr>
            <a:lvl7pPr marL="2971800" indent="-228600" defTabSz="1822450" eaLnBrk="0" fontAlgn="base" hangingPunct="0">
              <a:lnSpc>
                <a:spcPct val="90000"/>
              </a:lnSpc>
              <a:spcBef>
                <a:spcPts val="1000"/>
              </a:spcBef>
              <a:spcAft>
                <a:spcPct val="0"/>
              </a:spcAft>
              <a:buFont typeface="Arial" panose="020B0604020202020204" pitchFamily="34" charset="0"/>
              <a:buChar char="•"/>
              <a:defRPr sz="3500">
                <a:solidFill>
                  <a:schemeClr val="tx1"/>
                </a:solidFill>
                <a:latin typeface="Calibri" panose="020F0502020204030204" pitchFamily="34" charset="0"/>
              </a:defRPr>
            </a:lvl7pPr>
            <a:lvl8pPr marL="3429000" indent="-228600" defTabSz="1822450" eaLnBrk="0" fontAlgn="base" hangingPunct="0">
              <a:lnSpc>
                <a:spcPct val="90000"/>
              </a:lnSpc>
              <a:spcBef>
                <a:spcPts val="1000"/>
              </a:spcBef>
              <a:spcAft>
                <a:spcPct val="0"/>
              </a:spcAft>
              <a:buFont typeface="Arial" panose="020B0604020202020204" pitchFamily="34" charset="0"/>
              <a:buChar char="•"/>
              <a:defRPr sz="3500">
                <a:solidFill>
                  <a:schemeClr val="tx1"/>
                </a:solidFill>
                <a:latin typeface="Calibri" panose="020F0502020204030204" pitchFamily="34" charset="0"/>
              </a:defRPr>
            </a:lvl8pPr>
            <a:lvl9pPr marL="3886200" indent="-228600" defTabSz="1822450" eaLnBrk="0" fontAlgn="base" hangingPunct="0">
              <a:lnSpc>
                <a:spcPct val="90000"/>
              </a:lnSpc>
              <a:spcBef>
                <a:spcPts val="1000"/>
              </a:spcBef>
              <a:spcAft>
                <a:spcPct val="0"/>
              </a:spcAft>
              <a:buFont typeface="Arial" panose="020B0604020202020204" pitchFamily="34" charset="0"/>
              <a:buChar char="•"/>
              <a:defRPr sz="3500">
                <a:solidFill>
                  <a:schemeClr val="tx1"/>
                </a:solidFill>
                <a:latin typeface="Calibri" panose="020F0502020204030204" pitchFamily="34" charset="0"/>
              </a:defRPr>
            </a:lvl9pPr>
          </a:lstStyle>
          <a:p>
            <a:pPr>
              <a:lnSpc>
                <a:spcPct val="170000"/>
              </a:lnSpc>
              <a:spcBef>
                <a:spcPct val="0"/>
              </a:spcBef>
              <a:buNone/>
            </a:pPr>
            <a:r>
              <a:rPr lang="en-US" altLang="zh-CN" sz="1600" dirty="0">
                <a:latin typeface="思源黑体 CN Regular" panose="020B0500000000000000" charset="-122"/>
                <a:ea typeface="思源黑体 CN Regular" panose="020B0500000000000000" charset="-122"/>
                <a:cs typeface="思源黑体 CN Regular" panose="020B0500000000000000" charset="-122"/>
              </a:rPr>
              <a:t>01.  </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技术领域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(Field) </a:t>
            </a:r>
            <a:r>
              <a:rPr lang="en-US" altLang="zh-CN" sz="1600" dirty="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a:latin typeface="思源黑体 CN Regular" panose="020B0500000000000000" charset="-122"/>
                <a:ea typeface="思源黑体 CN Regular" panose="020B0500000000000000" charset="-122"/>
                <a:cs typeface="思源黑体 CN Regular" panose="020B0500000000000000" charset="-122"/>
              </a:rPr>
              <a:t>02.  </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先前技术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(Related prior art) </a:t>
            </a:r>
            <a:r>
              <a:rPr lang="en-US" altLang="zh-CN" sz="1600" dirty="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a:latin typeface="思源黑体 CN Regular" panose="020B0500000000000000" charset="-122"/>
                <a:ea typeface="思源黑体 CN Regular" panose="020B0500000000000000" charset="-122"/>
                <a:cs typeface="思源黑体 CN Regular" panose="020B0500000000000000" charset="-122"/>
              </a:rPr>
              <a:t>03.  </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发明目的与技术问题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(Motivation &amp; challenge) </a:t>
            </a:r>
            <a:r>
              <a:rPr lang="en-US" altLang="zh-CN" sz="1600" dirty="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a:latin typeface="思源黑体 CN Regular" panose="020B0500000000000000" charset="-122"/>
                <a:ea typeface="思源黑体 CN Regular" panose="020B0500000000000000" charset="-122"/>
                <a:cs typeface="思源黑体 CN Regular" panose="020B0500000000000000" charset="-122"/>
              </a:rPr>
              <a:t>04.  </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技术方案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(Technical solution) </a:t>
            </a:r>
            <a:r>
              <a:rPr lang="en-US" altLang="zh-CN" sz="1600" dirty="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a:latin typeface="思源黑体 CN Regular" panose="020B0500000000000000" charset="-122"/>
                <a:ea typeface="思源黑体 CN Regular" panose="020B0500000000000000" charset="-122"/>
                <a:cs typeface="思源黑体 CN Regular" panose="020B0500000000000000" charset="-122"/>
              </a:rPr>
              <a:t>05.  </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有益效果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(Advantageous effects) </a:t>
            </a:r>
            <a:r>
              <a:rPr lang="en-US" altLang="zh-CN" sz="1600" dirty="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endParaRPr lang="en-US" altLang="zh-CN" sz="1600" dirty="0">
              <a:solidFill>
                <a:srgbClr val="FF0000"/>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nSpc>
                <a:spcPct val="170000"/>
              </a:lnSpc>
              <a:spcBef>
                <a:spcPct val="0"/>
              </a:spcBef>
              <a:buNone/>
            </a:pPr>
            <a:r>
              <a:rPr lang="en-US" altLang="zh-CN" sz="1600" dirty="0">
                <a:latin typeface="思源黑体 CN Regular" panose="020B0500000000000000" charset="-122"/>
                <a:ea typeface="思源黑体 CN Regular" panose="020B0500000000000000" charset="-122"/>
                <a:cs typeface="思源黑体 CN Regular" panose="020B0500000000000000" charset="-122"/>
              </a:rPr>
              <a:t>06.  </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具体实施方式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(Detailed embodiments) </a:t>
            </a:r>
            <a:r>
              <a:rPr lang="en-US" altLang="zh-CN" sz="1600" dirty="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a:latin typeface="思源黑体 CN Regular" panose="020B0500000000000000" charset="-122"/>
                <a:ea typeface="思源黑体 CN Regular" panose="020B0500000000000000" charset="-122"/>
                <a:cs typeface="思源黑体 CN Regular" panose="020B0500000000000000" charset="-122"/>
              </a:rPr>
              <a:t>07.  </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附图与说明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(Figures and description) </a:t>
            </a:r>
            <a:r>
              <a:rPr lang="en-US" altLang="zh-CN" sz="1600" dirty="0">
                <a:solidFill>
                  <a:srgbClr val="FF0000"/>
                </a:solidFill>
                <a:latin typeface="思源黑体 CN Regular" panose="020B0500000000000000" charset="-122"/>
                <a:ea typeface="思源黑体 CN Regular" panose="020B0500000000000000" charset="-122"/>
                <a:cs typeface="思源黑体 CN Regular" panose="020B0500000000000000" charset="-122"/>
              </a:rPr>
              <a:t>*</a:t>
            </a:r>
          </a:p>
          <a:p>
            <a:pPr>
              <a:lnSpc>
                <a:spcPct val="170000"/>
              </a:lnSpc>
              <a:spcBef>
                <a:spcPct val="0"/>
              </a:spcBef>
              <a:buNone/>
            </a:pPr>
            <a:r>
              <a:rPr lang="en-US" altLang="zh-CN" sz="1600" dirty="0">
                <a:latin typeface="思源黑体 CN Regular" panose="020B0500000000000000" charset="-122"/>
                <a:ea typeface="思源黑体 CN Regular" panose="020B0500000000000000" charset="-122"/>
                <a:cs typeface="思源黑体 CN Regular" panose="020B0500000000000000" charset="-122"/>
              </a:rPr>
              <a:t>08.  </a:t>
            </a:r>
            <a:r>
              <a:rPr lang="zh-CN" altLang="en-US" sz="1600" dirty="0">
                <a:latin typeface="思源黑体 CN Regular" panose="020B0500000000000000" charset="-122"/>
                <a:ea typeface="思源黑体 CN Regular" panose="020B0500000000000000" charset="-122"/>
                <a:cs typeface="思源黑体 CN Regular" panose="020B0500000000000000" charset="-122"/>
              </a:rPr>
              <a:t>缩略语 </a:t>
            </a:r>
            <a:r>
              <a:rPr lang="en-US" altLang="zh-CN" sz="1600" dirty="0">
                <a:latin typeface="思源黑体 CN Regular" panose="020B0500000000000000" charset="-122"/>
                <a:ea typeface="思源黑体 CN Regular" panose="020B0500000000000000" charset="-122"/>
                <a:cs typeface="思源黑体 CN Regular" panose="020B0500000000000000" charset="-122"/>
              </a:rPr>
              <a:t>(Description of the abbreviation) </a:t>
            </a:r>
          </a:p>
        </p:txBody>
      </p:sp>
      <p:sp>
        <p:nvSpPr>
          <p:cNvPr id="12" name="Freeform: Shape 3"/>
          <p:cNvSpPr/>
          <p:nvPr/>
        </p:nvSpPr>
        <p:spPr>
          <a:xfrm rot="5400000">
            <a:off x="0" y="1603844"/>
            <a:ext cx="5253946" cy="5253946"/>
          </a:xfrm>
          <a:custGeom>
            <a:avLst/>
            <a:gdLst>
              <a:gd name="connsiteX0" fmla="*/ 1220602 w 3879273"/>
              <a:gd name="connsiteY0" fmla="*/ 2641297 h 3879274"/>
              <a:gd name="connsiteX1" fmla="*/ 2768430 w 3879273"/>
              <a:gd name="connsiteY1" fmla="*/ 2641297 h 3879274"/>
              <a:gd name="connsiteX2" fmla="*/ 2768430 w 3879273"/>
              <a:gd name="connsiteY2" fmla="*/ 1093468 h 3879274"/>
              <a:gd name="connsiteX3" fmla="*/ 1220602 w 3879273"/>
              <a:gd name="connsiteY3" fmla="*/ 1093468 h 3879274"/>
              <a:gd name="connsiteX4" fmla="*/ 0 w 3879273"/>
              <a:gd name="connsiteY4" fmla="*/ 3879274 h 3879274"/>
              <a:gd name="connsiteX5" fmla="*/ 0 w 3879273"/>
              <a:gd name="connsiteY5" fmla="*/ 0 h 3879274"/>
              <a:gd name="connsiteX6" fmla="*/ 3879273 w 3879273"/>
              <a:gd name="connsiteY6" fmla="*/ 0 h 3879274"/>
              <a:gd name="connsiteX7" fmla="*/ 3879273 w 3879273"/>
              <a:gd name="connsiteY7" fmla="*/ 3879274 h 387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79273" h="3879274">
                <a:moveTo>
                  <a:pt x="1220602" y="2641297"/>
                </a:moveTo>
                <a:lnTo>
                  <a:pt x="2768430" y="2641297"/>
                </a:lnTo>
                <a:lnTo>
                  <a:pt x="2768430" y="1093468"/>
                </a:lnTo>
                <a:lnTo>
                  <a:pt x="1220602" y="1093468"/>
                </a:lnTo>
                <a:close/>
                <a:moveTo>
                  <a:pt x="0" y="3879274"/>
                </a:moveTo>
                <a:lnTo>
                  <a:pt x="0" y="0"/>
                </a:lnTo>
                <a:lnTo>
                  <a:pt x="3879273" y="0"/>
                </a:lnTo>
                <a:lnTo>
                  <a:pt x="3879273" y="3879274"/>
                </a:lnTo>
                <a:close/>
              </a:path>
            </a:pathLst>
          </a:custGeom>
          <a:solidFill>
            <a:srgbClr val="005C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D" sz="895"/>
          </a:p>
        </p:txBody>
      </p:sp>
      <p:sp>
        <p:nvSpPr>
          <p:cNvPr id="14" name="Rectangle 13"/>
          <p:cNvSpPr>
            <a:spLocks noChangeArrowheads="1"/>
          </p:cNvSpPr>
          <p:nvPr/>
        </p:nvSpPr>
        <p:spPr bwMode="auto">
          <a:xfrm>
            <a:off x="7391751" y="5952352"/>
            <a:ext cx="1735502" cy="22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dist" eaLnBrk="1" hangingPunct="1"/>
            <a:r>
              <a:rPr lang="zh-CN" altLang="en-US" sz="900" b="1">
                <a:solidFill>
                  <a:srgbClr val="005CB9"/>
                </a:solidFill>
                <a:latin typeface="思源黑体 CN Light" panose="020B0300000000000000" charset="-122"/>
                <a:ea typeface="思源黑体 CN Light" panose="020B0300000000000000" charset="-122"/>
                <a:cs typeface="Arial" panose="020B0604020202020204" pitchFamily="34" charset="0"/>
              </a:rPr>
              <a:t>NEW JOURNEY</a:t>
            </a:r>
          </a:p>
        </p:txBody>
      </p:sp>
      <p:cxnSp>
        <p:nvCxnSpPr>
          <p:cNvPr id="15" name="Straight Connector 14"/>
          <p:cNvCxnSpPr/>
          <p:nvPr/>
        </p:nvCxnSpPr>
        <p:spPr>
          <a:xfrm>
            <a:off x="9127396" y="6073367"/>
            <a:ext cx="3064604"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6" name="Rectangle 17"/>
          <p:cNvSpPr>
            <a:spLocks noChangeArrowheads="1"/>
          </p:cNvSpPr>
          <p:nvPr/>
        </p:nvSpPr>
        <p:spPr bwMode="auto">
          <a:xfrm>
            <a:off x="213360" y="2224405"/>
            <a:ext cx="401510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en-US" sz="3200" dirty="0">
                <a:solidFill>
                  <a:schemeClr val="bg1"/>
                </a:solidFill>
                <a:latin typeface="Arial" panose="020B0604020202020204" pitchFamily="34" charset="0"/>
                <a:ea typeface="宋体" panose="02010600030101010101" pitchFamily="2" charset="-122"/>
                <a:cs typeface="Arial" panose="020B0604020202020204" pitchFamily="34" charset="0"/>
              </a:rPr>
              <a:t>交底书目录</a:t>
            </a:r>
            <a:endParaRPr lang="en-US" altLang="zh-CN" sz="3200" dirty="0">
              <a:solidFill>
                <a:schemeClr val="bg1"/>
              </a:solidFill>
              <a:latin typeface="Arial" panose="020B0604020202020204" pitchFamily="34" charset="0"/>
              <a:ea typeface="宋体" panose="02010600030101010101" pitchFamily="2" charset="-122"/>
              <a:cs typeface="Arial" panose="020B0604020202020204" pitchFamily="34" charset="0"/>
            </a:endParaRPr>
          </a:p>
          <a:p>
            <a:pPr eaLnBrk="1" hangingPunct="1"/>
            <a:r>
              <a:rPr lang="en-US" altLang="zh-CN" sz="3200" dirty="0">
                <a:solidFill>
                  <a:schemeClr val="bg1"/>
                </a:solidFill>
                <a:latin typeface="Arial" panose="020B0604020202020204" pitchFamily="34" charset="0"/>
                <a:ea typeface="宋体" panose="02010600030101010101" pitchFamily="2" charset="-122"/>
                <a:cs typeface="Arial" panose="020B0604020202020204" pitchFamily="34" charset="0"/>
              </a:rPr>
              <a:t>Patent Content</a:t>
            </a:r>
            <a:endParaRPr lang="zh-CN" altLang="en-US" dirty="0">
              <a:solidFill>
                <a:schemeClr val="bg1"/>
              </a:solidFill>
              <a:latin typeface="思源黑体 CN ExtraLight" panose="020B0200000000000000" charset="-122"/>
              <a:ea typeface="思源黑体 CN ExtraLight" panose="020B0200000000000000" charset="-122"/>
              <a:cs typeface="Arial" panose="020B0604020202020204" pitchFamily="34" charset="0"/>
            </a:endParaRPr>
          </a:p>
        </p:txBody>
      </p:sp>
      <p:pic>
        <p:nvPicPr>
          <p:cNvPr id="19" name="图片 18" descr="未标题-15464646"/>
          <p:cNvPicPr>
            <a:picLocks noChangeAspect="1"/>
          </p:cNvPicPr>
          <p:nvPr/>
        </p:nvPicPr>
        <p:blipFill>
          <a:blip r:embed="rId6"/>
          <a:srcRect r="44315" b="-12355"/>
          <a:stretch>
            <a:fillRect/>
          </a:stretch>
        </p:blipFill>
        <p:spPr>
          <a:xfrm>
            <a:off x="11765915" y="305435"/>
            <a:ext cx="426085" cy="184785"/>
          </a:xfrm>
          <a:prstGeom prst="rect">
            <a:avLst/>
          </a:prstGeom>
        </p:spPr>
      </p:pic>
      <p:pic>
        <p:nvPicPr>
          <p:cNvPr id="20" name="图片 19" descr="未标题-15464646"/>
          <p:cNvPicPr>
            <a:picLocks noChangeAspect="1"/>
          </p:cNvPicPr>
          <p:nvPr/>
        </p:nvPicPr>
        <p:blipFill>
          <a:blip r:embed="rId6"/>
          <a:srcRect r="44315" b="-12355"/>
          <a:stretch>
            <a:fillRect/>
          </a:stretch>
        </p:blipFill>
        <p:spPr>
          <a:xfrm flipH="1">
            <a:off x="0" y="30543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3</a:t>
            </a:fld>
            <a:endParaRPr kumimoji="1" lang="zh-CN" altLang="en-US"/>
          </a:p>
        </p:txBody>
      </p:sp>
      <p:sp>
        <p:nvSpPr>
          <p:cNvPr id="28" name="矩形 27"/>
          <p:cNvSpPr/>
          <p:nvPr/>
        </p:nvSpPr>
        <p:spPr>
          <a:xfrm>
            <a:off x="1676400" y="3256280"/>
            <a:ext cx="2099310" cy="2097405"/>
          </a:xfrm>
          <a:prstGeom prst="rect">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777"/>
          <p:cNvPicPr>
            <a:picLocks noChangeAspect="1"/>
          </p:cNvPicPr>
          <p:nvPr/>
        </p:nvPicPr>
        <p:blipFill>
          <a:blip r:embed="rId7"/>
          <a:stretch>
            <a:fillRect/>
          </a:stretch>
        </p:blipFill>
        <p:spPr>
          <a:xfrm>
            <a:off x="11775440" y="6451600"/>
            <a:ext cx="266065" cy="269875"/>
          </a:xfrm>
          <a:prstGeom prst="rect">
            <a:avLst/>
          </a:prstGeom>
        </p:spPr>
      </p:pic>
      <p:sp>
        <p:nvSpPr>
          <p:cNvPr id="3" name="TextBox 48"/>
          <p:cNvSpPr txBox="1"/>
          <p:nvPr/>
        </p:nvSpPr>
        <p:spPr>
          <a:xfrm>
            <a:off x="9461594" y="328577"/>
            <a:ext cx="2226277" cy="138499"/>
          </a:xfrm>
          <a:prstGeom prst="rect">
            <a:avLst/>
          </a:prstGeom>
          <a:noFill/>
        </p:spPr>
        <p:txBody>
          <a:bodyPr wrap="square" lIns="0" tIns="0" rIns="0" bIns="0" rtlCol="0">
            <a:spAutoFit/>
          </a:bodyPr>
          <a:lstStyle/>
          <a:p>
            <a:pPr algn="dist">
              <a:lnSpc>
                <a:spcPct val="100000"/>
              </a:lnSpc>
              <a:buClrTx/>
              <a:buSzTx/>
              <a:buFontTx/>
              <a:defRPr/>
            </a:pPr>
            <a:r>
              <a:rPr lang="en-US" altLang="zh-CN" sz="900" dirty="0" err="1">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rPr>
              <a:t>ChangXin</a:t>
            </a:r>
            <a:r>
              <a:rPr lang="en-US" altLang="zh-CN" sz="900" dirty="0">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rPr>
              <a:t> Memory Technologies, Inc.</a:t>
            </a:r>
            <a:endParaRPr lang="zh-CN" altLang="en-US" sz="900" dirty="0">
              <a:solidFill>
                <a:srgbClr val="005CB9"/>
              </a:solidFill>
              <a:latin typeface="思源黑体 CN Regular" panose="020B0500000000000000" charset="-122"/>
              <a:ea typeface="思源黑体 CN Regular" panose="020B0500000000000000" charset="-122"/>
              <a:cs typeface="Arial" panose="020B0604020202020204" pitchFamily="34" charset="0"/>
              <a:sym typeface="+mn-ea"/>
            </a:endParaRPr>
          </a:p>
        </p:txBody>
      </p:sp>
      <p:sp>
        <p:nvSpPr>
          <p:cNvPr id="17"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1</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4</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
        <p:nvSpPr>
          <p:cNvPr id="17" name="内容占位符 2"/>
          <p:cNvSpPr txBox="1">
            <a:spLocks/>
          </p:cNvSpPr>
          <p:nvPr/>
        </p:nvSpPr>
        <p:spPr>
          <a:xfrm>
            <a:off x="228600" y="1050925"/>
            <a:ext cx="11706726" cy="516664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defRPr/>
            </a:pPr>
            <a:r>
              <a:rPr lang="zh-CN" altLang="en-US" sz="2000" dirty="0">
                <a:solidFill>
                  <a:sysClr val="windowText" lastClr="000000"/>
                </a:solidFill>
                <a:latin typeface="等线" panose="02010600030101010101" pitchFamily="2" charset="-122"/>
                <a:ea typeface="等线" panose="02010600030101010101" pitchFamily="2" charset="-122"/>
              </a:rPr>
              <a:t>本发明属于电子设计自动化与人工智能交叉技术领域，具体涉及一种基于理解</a:t>
            </a:r>
            <a:r>
              <a:rPr lang="en-US" altLang="zh-CN" sz="2000" dirty="0">
                <a:solidFill>
                  <a:sysClr val="windowText" lastClr="000000"/>
                </a:solidFill>
                <a:latin typeface="等线" panose="02010600030101010101" pitchFamily="2" charset="-122"/>
                <a:ea typeface="等线" panose="02010600030101010101" pitchFamily="2" charset="-122"/>
              </a:rPr>
              <a:t>-</a:t>
            </a:r>
            <a:r>
              <a:rPr lang="zh-CN" altLang="en-US" sz="2000" dirty="0">
                <a:solidFill>
                  <a:sysClr val="windowText" lastClr="000000"/>
                </a:solidFill>
                <a:latin typeface="等线" panose="02010600030101010101" pitchFamily="2" charset="-122"/>
                <a:ea typeface="等线" panose="02010600030101010101" pitchFamily="2" charset="-122"/>
              </a:rPr>
              <a:t>生成统一多模态大模型的交互式白板设计辅助系统及方法。通过构建高带宽双向多模态交互白板，并利用统一多模态大模型同时实现用户意图理解与</a:t>
            </a:r>
            <a:r>
              <a:rPr lang="en-US" altLang="zh-CN" sz="2000" dirty="0">
                <a:solidFill>
                  <a:sysClr val="windowText" lastClr="000000"/>
                </a:solidFill>
                <a:latin typeface="等线" panose="02010600030101010101" pitchFamily="2" charset="-122"/>
                <a:ea typeface="等线" panose="02010600030101010101" pitchFamily="2" charset="-122"/>
              </a:rPr>
              <a:t>Agent</a:t>
            </a:r>
            <a:r>
              <a:rPr lang="zh-CN" altLang="en-US" sz="2000" dirty="0">
                <a:solidFill>
                  <a:sysClr val="windowText" lastClr="000000"/>
                </a:solidFill>
                <a:latin typeface="等线" panose="02010600030101010101" pitchFamily="2" charset="-122"/>
                <a:ea typeface="等线" panose="02010600030101010101" pitchFamily="2" charset="-122"/>
              </a:rPr>
              <a:t>方案生成，本发明尤其适用于集成电路版图设计、</a:t>
            </a:r>
            <a:r>
              <a:rPr lang="en-US" altLang="zh-CN" sz="2000" dirty="0">
                <a:solidFill>
                  <a:sysClr val="windowText" lastClr="000000"/>
                </a:solidFill>
                <a:latin typeface="等线" panose="02010600030101010101" pitchFamily="2" charset="-122"/>
                <a:ea typeface="等线" panose="02010600030101010101" pitchFamily="2" charset="-122"/>
              </a:rPr>
              <a:t>PCB</a:t>
            </a:r>
            <a:r>
              <a:rPr lang="zh-CN" altLang="en-US" sz="2000" dirty="0">
                <a:solidFill>
                  <a:sysClr val="windowText" lastClr="000000"/>
                </a:solidFill>
                <a:latin typeface="等线" panose="02010600030101010101" pitchFamily="2" charset="-122"/>
                <a:ea typeface="等线" panose="02010600030101010101" pitchFamily="2" charset="-122"/>
              </a:rPr>
              <a:t>设计、系统级封装协同交互、以及跨信息源（如</a:t>
            </a:r>
            <a:r>
              <a:rPr lang="en-US" altLang="zh-CN" sz="2000" dirty="0">
                <a:solidFill>
                  <a:sysClr val="windowText" lastClr="000000"/>
                </a:solidFill>
                <a:latin typeface="等线" panose="02010600030101010101" pitchFamily="2" charset="-122"/>
                <a:ea typeface="等线" panose="02010600030101010101" pitchFamily="2" charset="-122"/>
              </a:rPr>
              <a:t>TCAD</a:t>
            </a:r>
            <a:r>
              <a:rPr lang="zh-CN" altLang="en-US" sz="2000" dirty="0">
                <a:solidFill>
                  <a:sysClr val="windowText" lastClr="000000"/>
                </a:solidFill>
                <a:latin typeface="等线" panose="02010600030101010101" pitchFamily="2" charset="-122"/>
                <a:ea typeface="等线" panose="02010600030101010101" pitchFamily="2" charset="-122"/>
              </a:rPr>
              <a:t>仿真结果、时序波形图）的芯片设计全流程协同分析与优化场景。</a:t>
            </a:r>
            <a:endParaRPr lang="en-US" altLang="zh-CN" sz="2000" dirty="0">
              <a:solidFill>
                <a:sysClr val="windowText" lastClr="000000"/>
              </a:solidFill>
              <a:latin typeface="等线" panose="02010600030101010101" pitchFamily="2" charset="-122"/>
              <a:ea typeface="等线" panose="02010600030101010101" pitchFamily="2" charset="-122"/>
            </a:endParaRPr>
          </a:p>
        </p:txBody>
      </p:sp>
      <p:sp>
        <p:nvSpPr>
          <p:cNvPr id="19" name="TextBox 48"/>
          <p:cNvSpPr txBox="1"/>
          <p:nvPr/>
        </p:nvSpPr>
        <p:spPr>
          <a:xfrm>
            <a:off x="980440" y="223520"/>
            <a:ext cx="5006474"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技术领域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(Field)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spTree>
    <p:extLst>
      <p:ext uri="{BB962C8B-B14F-4D97-AF65-F5344CB8AC3E}">
        <p14:creationId xmlns:p14="http://schemas.microsoft.com/office/powerpoint/2010/main" val="1527573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2</a:t>
            </a:r>
          </a:p>
        </p:txBody>
      </p:sp>
      <p:sp>
        <p:nvSpPr>
          <p:cNvPr id="7" name="TextBox 48"/>
          <p:cNvSpPr txBox="1"/>
          <p:nvPr/>
        </p:nvSpPr>
        <p:spPr>
          <a:xfrm>
            <a:off x="980440" y="223520"/>
            <a:ext cx="4186555"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先前技术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(Related prior art)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5</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41301"/>
            <a:ext cx="11716352" cy="5235382"/>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defRPr/>
            </a:pPr>
            <a:r>
              <a:rPr lang="zh-CN" altLang="en-US" sz="2000" dirty="0">
                <a:solidFill>
                  <a:sysClr val="windowText" lastClr="000000">
                    <a:lumMod val="95000"/>
                    <a:lumOff val="5000"/>
                  </a:sysClr>
                </a:solidFill>
                <a:latin typeface="arial" panose="020B0604020202020204" pitchFamily="34" charset="0"/>
                <a:ea typeface="等线" panose="02010600030101010101" pitchFamily="2" charset="-122"/>
                <a:cs typeface="arial" panose="020B0604020202020204" pitchFamily="34" charset="0"/>
              </a:rPr>
              <a:t>现有技术按交互范式可分为以下三类：</a:t>
            </a:r>
            <a:endParaRPr kumimoji="0" lang="en-US" altLang="zh-CN" sz="2000" b="0" i="0" u="none" strike="noStrike" kern="1200" cap="none" spc="0" normalizeH="0" baseline="0" noProof="0" dirty="0">
              <a:ln>
                <a:noFill/>
              </a:ln>
              <a:solidFill>
                <a:sysClr val="windowText" lastClr="000000">
                  <a:lumMod val="95000"/>
                  <a:lumOff val="5000"/>
                </a:sysClr>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graphicFrame>
        <p:nvGraphicFramePr>
          <p:cNvPr id="2" name="表格 2">
            <a:extLst>
              <a:ext uri="{FF2B5EF4-FFF2-40B4-BE49-F238E27FC236}">
                <a16:creationId xmlns:a16="http://schemas.microsoft.com/office/drawing/2014/main" id="{293ACA83-764E-4773-BC7B-EF0D693AEE3A}"/>
              </a:ext>
            </a:extLst>
          </p:cNvPr>
          <p:cNvGraphicFramePr>
            <a:graphicFrameLocks noGrp="1"/>
          </p:cNvGraphicFramePr>
          <p:nvPr>
            <p:extLst>
              <p:ext uri="{D42A27DB-BD31-4B8C-83A1-F6EECF244321}">
                <p14:modId xmlns:p14="http://schemas.microsoft.com/office/powerpoint/2010/main" val="1097866584"/>
              </p:ext>
            </p:extLst>
          </p:nvPr>
        </p:nvGraphicFramePr>
        <p:xfrm>
          <a:off x="714824" y="1783970"/>
          <a:ext cx="10789920" cy="3662680"/>
        </p:xfrm>
        <a:graphic>
          <a:graphicData uri="http://schemas.openxmlformats.org/drawingml/2006/table">
            <a:tbl>
              <a:tblPr firstRow="1" bandRow="1">
                <a:tableStyleId>{5C22544A-7EE6-4342-B048-85BDC9FD1C3A}</a:tableStyleId>
              </a:tblPr>
              <a:tblGrid>
                <a:gridCol w="1263267">
                  <a:extLst>
                    <a:ext uri="{9D8B030D-6E8A-4147-A177-3AD203B41FA5}">
                      <a16:colId xmlns:a16="http://schemas.microsoft.com/office/drawing/2014/main" val="2287836872"/>
                    </a:ext>
                  </a:extLst>
                </a:gridCol>
                <a:gridCol w="1614196">
                  <a:extLst>
                    <a:ext uri="{9D8B030D-6E8A-4147-A177-3AD203B41FA5}">
                      <a16:colId xmlns:a16="http://schemas.microsoft.com/office/drawing/2014/main" val="1984286243"/>
                    </a:ext>
                  </a:extLst>
                </a:gridCol>
                <a:gridCol w="2118049">
                  <a:extLst>
                    <a:ext uri="{9D8B030D-6E8A-4147-A177-3AD203B41FA5}">
                      <a16:colId xmlns:a16="http://schemas.microsoft.com/office/drawing/2014/main" val="2310255645"/>
                    </a:ext>
                  </a:extLst>
                </a:gridCol>
                <a:gridCol w="2127380">
                  <a:extLst>
                    <a:ext uri="{9D8B030D-6E8A-4147-A177-3AD203B41FA5}">
                      <a16:colId xmlns:a16="http://schemas.microsoft.com/office/drawing/2014/main" val="1797385394"/>
                    </a:ext>
                  </a:extLst>
                </a:gridCol>
                <a:gridCol w="3667028">
                  <a:extLst>
                    <a:ext uri="{9D8B030D-6E8A-4147-A177-3AD203B41FA5}">
                      <a16:colId xmlns:a16="http://schemas.microsoft.com/office/drawing/2014/main" val="1685580970"/>
                    </a:ext>
                  </a:extLst>
                </a:gridCol>
              </a:tblGrid>
              <a:tr h="370840">
                <a:tc>
                  <a:txBody>
                    <a:bodyPr/>
                    <a:lstStyle/>
                    <a:p>
                      <a:r>
                        <a:rPr lang="zh-CN" altLang="en-US"/>
                        <a:t>类别</a:t>
                      </a:r>
                      <a:endParaRPr lang="zh-CN" altLang="en-US" dirty="0"/>
                    </a:p>
                  </a:txBody>
                  <a:tcPr/>
                </a:tc>
                <a:tc>
                  <a:txBody>
                    <a:bodyPr/>
                    <a:lstStyle/>
                    <a:p>
                      <a:r>
                        <a:rPr lang="zh-CN" altLang="en-US"/>
                        <a:t>代表技术</a:t>
                      </a:r>
                      <a:endParaRPr lang="zh-CN" altLang="en-US" dirty="0"/>
                    </a:p>
                  </a:txBody>
                  <a:tcPr/>
                </a:tc>
                <a:tc>
                  <a:txBody>
                    <a:bodyPr/>
                    <a:lstStyle/>
                    <a:p>
                      <a:r>
                        <a:rPr lang="zh-CN" altLang="en-US" dirty="0"/>
                        <a:t>用户→</a:t>
                      </a:r>
                      <a:r>
                        <a:rPr lang="en-US" altLang="zh-CN" dirty="0"/>
                        <a:t>Agent</a:t>
                      </a:r>
                      <a:r>
                        <a:rPr lang="zh-CN" altLang="en-US" dirty="0"/>
                        <a:t>带宽</a:t>
                      </a:r>
                    </a:p>
                  </a:txBody>
                  <a:tcPr/>
                </a:tc>
                <a:tc>
                  <a:txBody>
                    <a:bodyPr/>
                    <a:lstStyle/>
                    <a:p>
                      <a:r>
                        <a:rPr lang="en-US" altLang="zh-CN" dirty="0"/>
                        <a:t>Agent→</a:t>
                      </a:r>
                      <a:r>
                        <a:rPr lang="zh-CN" altLang="en-US" dirty="0"/>
                        <a:t>用户带宽</a:t>
                      </a:r>
                    </a:p>
                  </a:txBody>
                  <a:tcPr/>
                </a:tc>
                <a:tc>
                  <a:txBody>
                    <a:bodyPr/>
                    <a:lstStyle/>
                    <a:p>
                      <a:r>
                        <a:rPr lang="zh-CN" altLang="en-US"/>
                        <a:t>局限性</a:t>
                      </a:r>
                      <a:endParaRPr lang="zh-CN" altLang="en-US" dirty="0"/>
                    </a:p>
                  </a:txBody>
                  <a:tcPr/>
                </a:tc>
                <a:extLst>
                  <a:ext uri="{0D108BD9-81ED-4DB2-BD59-A6C34878D82A}">
                    <a16:rowId xmlns:a16="http://schemas.microsoft.com/office/drawing/2014/main" val="3745238539"/>
                  </a:ext>
                </a:extLst>
              </a:tr>
              <a:tr h="370840">
                <a:tc>
                  <a:txBody>
                    <a:bodyPr/>
                    <a:lstStyle/>
                    <a:p>
                      <a:r>
                        <a:rPr lang="zh-CN" altLang="en-US"/>
                        <a:t>传统</a:t>
                      </a:r>
                      <a:r>
                        <a:rPr lang="en-US" altLang="zh-CN"/>
                        <a:t>EDA</a:t>
                      </a:r>
                      <a:r>
                        <a:rPr lang="zh-CN" altLang="en-US"/>
                        <a:t>交互</a:t>
                      </a:r>
                      <a:endParaRPr lang="zh-CN" altLang="en-US" dirty="0"/>
                    </a:p>
                  </a:txBody>
                  <a:tcPr/>
                </a:tc>
                <a:tc>
                  <a:txBody>
                    <a:bodyPr/>
                    <a:lstStyle/>
                    <a:p>
                      <a:r>
                        <a:rPr lang="en-US" altLang="zh-CN" dirty="0"/>
                        <a:t>Cadence Virtuoso, Synopsys ICC</a:t>
                      </a:r>
                    </a:p>
                    <a:p>
                      <a:endParaRPr lang="zh-CN" altLang="en-US" dirty="0"/>
                    </a:p>
                  </a:txBody>
                  <a:tcPr/>
                </a:tc>
                <a:tc>
                  <a:txBody>
                    <a:bodyPr/>
                    <a:lstStyle/>
                    <a:p>
                      <a:r>
                        <a:rPr lang="zh-CN" altLang="en-US" dirty="0"/>
                        <a:t>低（菜单</a:t>
                      </a:r>
                      <a:r>
                        <a:rPr lang="en-US" altLang="zh-CN" dirty="0"/>
                        <a:t>/</a:t>
                      </a:r>
                      <a:r>
                        <a:rPr lang="zh-CN" altLang="en-US" dirty="0"/>
                        <a:t>命令行）</a:t>
                      </a:r>
                    </a:p>
                  </a:txBody>
                  <a:tcPr/>
                </a:tc>
                <a:tc>
                  <a:txBody>
                    <a:bodyPr/>
                    <a:lstStyle/>
                    <a:p>
                      <a:r>
                        <a:rPr lang="zh-CN" altLang="en-US" dirty="0"/>
                        <a:t>极低（仅图形渲染）</a:t>
                      </a:r>
                    </a:p>
                  </a:txBody>
                  <a:tcPr/>
                </a:tc>
                <a:tc>
                  <a:txBody>
                    <a:bodyPr/>
                    <a:lstStyle/>
                    <a:p>
                      <a:r>
                        <a:rPr lang="zh-CN" altLang="en-US" dirty="0"/>
                        <a:t>用户需学习复杂命令，</a:t>
                      </a:r>
                      <a:r>
                        <a:rPr lang="en-US" altLang="zh-CN" dirty="0"/>
                        <a:t>Agent</a:t>
                      </a:r>
                      <a:r>
                        <a:rPr lang="zh-CN" altLang="en-US" dirty="0"/>
                        <a:t>无“解释”能力</a:t>
                      </a:r>
                    </a:p>
                  </a:txBody>
                  <a:tcPr/>
                </a:tc>
                <a:extLst>
                  <a:ext uri="{0D108BD9-81ED-4DB2-BD59-A6C34878D82A}">
                    <a16:rowId xmlns:a16="http://schemas.microsoft.com/office/drawing/2014/main" val="2527904053"/>
                  </a:ext>
                </a:extLst>
              </a:tr>
              <a:tr h="370840">
                <a:tc>
                  <a:txBody>
                    <a:bodyPr/>
                    <a:lstStyle/>
                    <a:p>
                      <a:r>
                        <a:rPr lang="zh-CN" altLang="en-US"/>
                        <a:t>单模态</a:t>
                      </a:r>
                      <a:r>
                        <a:rPr lang="en-US" altLang="zh-CN"/>
                        <a:t>AI</a:t>
                      </a:r>
                      <a:r>
                        <a:rPr lang="zh-CN" altLang="en-US"/>
                        <a:t>辅助</a:t>
                      </a:r>
                      <a:endParaRPr lang="zh-CN" altLang="en-US" dirty="0"/>
                    </a:p>
                  </a:txBody>
                  <a:tcPr/>
                </a:tc>
                <a:tc>
                  <a:txBody>
                    <a:bodyPr/>
                    <a:lstStyle/>
                    <a:p>
                      <a:r>
                        <a:rPr lang="en-US" altLang="zh-CN" dirty="0" err="1"/>
                        <a:t>ChipGPT</a:t>
                      </a:r>
                      <a:r>
                        <a:rPr lang="en-US" altLang="zh-CN" dirty="0"/>
                        <a:t>, LLM</a:t>
                      </a:r>
                      <a:r>
                        <a:rPr lang="zh-CN" altLang="en-US" dirty="0"/>
                        <a:t>编程助手</a:t>
                      </a:r>
                      <a:endParaRPr lang="en-US" altLang="zh-CN" dirty="0"/>
                    </a:p>
                    <a:p>
                      <a:endParaRPr lang="zh-CN" altLang="en-US" dirty="0"/>
                    </a:p>
                  </a:txBody>
                  <a:tcPr/>
                </a:tc>
                <a:tc>
                  <a:txBody>
                    <a:bodyPr/>
                    <a:lstStyle/>
                    <a:p>
                      <a:r>
                        <a:rPr lang="zh-CN" altLang="en-US" dirty="0"/>
                        <a:t>中（自然语言文本）</a:t>
                      </a:r>
                    </a:p>
                  </a:txBody>
                  <a:tcPr/>
                </a:tc>
                <a:tc>
                  <a:txBody>
                    <a:bodyPr/>
                    <a:lstStyle/>
                    <a:p>
                      <a:r>
                        <a:rPr lang="zh-CN" altLang="en-US" dirty="0"/>
                        <a:t>低（仅文本回复）</a:t>
                      </a:r>
                    </a:p>
                  </a:txBody>
                  <a:tcPr/>
                </a:tc>
                <a:tc>
                  <a:txBody>
                    <a:bodyPr/>
                    <a:lstStyle/>
                    <a:p>
                      <a:r>
                        <a:rPr lang="en-US" altLang="zh-CN" dirty="0"/>
                        <a:t>Agent</a:t>
                      </a:r>
                      <a:r>
                        <a:rPr lang="zh-CN" altLang="en-US" dirty="0"/>
                        <a:t>能听懂，但只能“说”不能“画”，复杂空间意图难以用文字描述</a:t>
                      </a:r>
                    </a:p>
                  </a:txBody>
                  <a:tcPr/>
                </a:tc>
                <a:extLst>
                  <a:ext uri="{0D108BD9-81ED-4DB2-BD59-A6C34878D82A}">
                    <a16:rowId xmlns:a16="http://schemas.microsoft.com/office/drawing/2014/main" val="41065281"/>
                  </a:ext>
                </a:extLst>
              </a:tr>
              <a:tr h="370840">
                <a:tc>
                  <a:txBody>
                    <a:bodyPr/>
                    <a:lstStyle/>
                    <a:p>
                      <a:r>
                        <a:rPr lang="zh-CN" altLang="en-US" dirty="0"/>
                        <a:t>通用多模态模型</a:t>
                      </a:r>
                    </a:p>
                  </a:txBody>
                  <a:tcPr/>
                </a:tc>
                <a:tc>
                  <a:txBody>
                    <a:bodyPr/>
                    <a:lstStyle/>
                    <a:p>
                      <a:r>
                        <a:rPr lang="en-US" altLang="zh-CN" dirty="0"/>
                        <a:t>GPT-4V, </a:t>
                      </a:r>
                      <a:r>
                        <a:rPr lang="en-US" altLang="zh-CN" dirty="0" err="1"/>
                        <a:t>LLaVA</a:t>
                      </a:r>
                      <a:endParaRPr lang="zh-CN" altLang="en-US" dirty="0"/>
                    </a:p>
                  </a:txBody>
                  <a:tcPr/>
                </a:tc>
                <a:tc>
                  <a:txBody>
                    <a:bodyPr/>
                    <a:lstStyle/>
                    <a:p>
                      <a:r>
                        <a:rPr lang="zh-CN" altLang="en-US" dirty="0"/>
                        <a:t>高（图文混合）</a:t>
                      </a:r>
                    </a:p>
                  </a:txBody>
                  <a:tcPr/>
                </a:tc>
                <a:tc>
                  <a:txBody>
                    <a:bodyPr/>
                    <a:lstStyle/>
                    <a:p>
                      <a:r>
                        <a:rPr lang="zh-CN" altLang="en-US" dirty="0"/>
                        <a:t>中（文本</a:t>
                      </a:r>
                      <a:r>
                        <a:rPr lang="en-US" altLang="zh-CN" dirty="0"/>
                        <a:t>+</a:t>
                      </a:r>
                      <a:r>
                        <a:rPr lang="zh-CN" altLang="en-US" dirty="0"/>
                        <a:t>简单标注）</a:t>
                      </a:r>
                    </a:p>
                  </a:txBody>
                  <a:tcPr/>
                </a:tc>
                <a:tc>
                  <a:txBody>
                    <a:bodyPr/>
                    <a:lstStyle/>
                    <a:p>
                      <a:r>
                        <a:rPr lang="en-US" altLang="zh-CN" dirty="0"/>
                        <a:t>Agent</a:t>
                      </a:r>
                      <a:r>
                        <a:rPr lang="zh-CN" altLang="en-US" dirty="0"/>
                        <a:t>能看图，但无法主动调用</a:t>
                      </a:r>
                      <a:r>
                        <a:rPr lang="en-US" altLang="zh-CN" dirty="0"/>
                        <a:t>TCAD</a:t>
                      </a:r>
                      <a:r>
                        <a:rPr lang="zh-CN" altLang="en-US" dirty="0"/>
                        <a:t>、时序报告等跨来源信息，也无法用草图</a:t>
                      </a:r>
                      <a:r>
                        <a:rPr lang="en-US" altLang="zh-CN" dirty="0"/>
                        <a:t>/</a:t>
                      </a:r>
                      <a:r>
                        <a:rPr lang="zh-CN" altLang="en-US" dirty="0"/>
                        <a:t>动效向用户解释思路</a:t>
                      </a:r>
                    </a:p>
                  </a:txBody>
                  <a:tcPr/>
                </a:tc>
                <a:extLst>
                  <a:ext uri="{0D108BD9-81ED-4DB2-BD59-A6C34878D82A}">
                    <a16:rowId xmlns:a16="http://schemas.microsoft.com/office/drawing/2014/main" val="1565571871"/>
                  </a:ext>
                </a:extLst>
              </a:tr>
            </a:tbl>
          </a:graphicData>
        </a:graphic>
      </p:graphicFrame>
      <p:sp>
        <p:nvSpPr>
          <p:cNvPr id="19" name="文本框 18">
            <a:extLst>
              <a:ext uri="{FF2B5EF4-FFF2-40B4-BE49-F238E27FC236}">
                <a16:creationId xmlns:a16="http://schemas.microsoft.com/office/drawing/2014/main" id="{8B030546-1DD9-4F2E-8218-6566D52CB321}"/>
              </a:ext>
            </a:extLst>
          </p:cNvPr>
          <p:cNvSpPr txBox="1"/>
          <p:nvPr/>
        </p:nvSpPr>
        <p:spPr>
          <a:xfrm>
            <a:off x="380558" y="5607531"/>
            <a:ext cx="11573511" cy="646331"/>
          </a:xfrm>
          <a:prstGeom prst="rect">
            <a:avLst/>
          </a:prstGeom>
          <a:noFill/>
        </p:spPr>
        <p:txBody>
          <a:bodyPr wrap="square">
            <a:spAutoFit/>
          </a:bodyPr>
          <a:lstStyle/>
          <a:p>
            <a:r>
              <a:rPr lang="zh-CN" altLang="en-US" dirty="0"/>
              <a:t>现有技术的共同特征：均未实现</a:t>
            </a:r>
            <a:r>
              <a:rPr lang="zh-CN" altLang="en-US" b="1" dirty="0"/>
              <a:t>双向高带宽多模态通信</a:t>
            </a:r>
            <a:r>
              <a:rPr lang="zh-CN" altLang="en-US" dirty="0"/>
              <a:t>。用户可以向Agent输入图文（带宽较高），但Agent向用户的输出仍局限于</a:t>
            </a:r>
            <a:r>
              <a:rPr lang="zh-CN" altLang="en-US" b="1" dirty="0"/>
              <a:t>文本或简单的视觉标注</a:t>
            </a:r>
            <a:r>
              <a:rPr lang="zh-CN" altLang="en-US" dirty="0"/>
              <a:t>，缺乏以图示、草图、动效、视频等方式主动解释复杂推理过程的能力。</a:t>
            </a:r>
          </a:p>
        </p:txBody>
      </p:sp>
    </p:spTree>
    <p:extLst>
      <p:ext uri="{BB962C8B-B14F-4D97-AF65-F5344CB8AC3E}">
        <p14:creationId xmlns:p14="http://schemas.microsoft.com/office/powerpoint/2010/main" val="434282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3</a:t>
            </a:r>
          </a:p>
        </p:txBody>
      </p:sp>
      <p:sp>
        <p:nvSpPr>
          <p:cNvPr id="7" name="TextBox 48"/>
          <p:cNvSpPr txBox="1"/>
          <p:nvPr/>
        </p:nvSpPr>
        <p:spPr>
          <a:xfrm>
            <a:off x="980440" y="223520"/>
            <a:ext cx="6575392"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发明目的与技术问题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(Motivation &amp; challenge)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6</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599" y="800859"/>
            <a:ext cx="11810365" cy="5485449"/>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50000"/>
              </a:lnSpc>
              <a:buNone/>
              <a:defRPr/>
            </a:pPr>
            <a:r>
              <a:rPr lang="zh-CN" altLang="en-US"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发明目的</a:t>
            </a:r>
            <a:endParaRPr lang="en-US" altLang="zh-CN"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endParaRPr>
          </a:p>
          <a:p>
            <a:pPr>
              <a:lnSpc>
                <a:spcPct val="150000"/>
              </a:lnSpc>
              <a:defRPr/>
            </a:pPr>
            <a:r>
              <a:rPr lang="zh-CN" altLang="en-US"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在芯片设计的人机协作中，沟通效率决定了协作上限。人类工程师之间之所以能够高效协作，是因为沟通是</a:t>
            </a:r>
            <a:r>
              <a:rPr lang="zh-CN" altLang="en-US" sz="1800" b="1"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双向高带宽</a:t>
            </a:r>
            <a:r>
              <a:rPr lang="zh-CN" altLang="en-US"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的</a:t>
            </a:r>
            <a:r>
              <a:rPr lang="en-US" altLang="zh-CN"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——A</a:t>
            </a:r>
            <a:r>
              <a:rPr lang="zh-CN" altLang="en-US"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可以“画图</a:t>
            </a:r>
            <a:r>
              <a:rPr lang="en-US" altLang="zh-CN"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a:t>
            </a:r>
            <a:r>
              <a:rPr lang="zh-CN" altLang="en-US"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说话”向</a:t>
            </a:r>
            <a:r>
              <a:rPr lang="en-US" altLang="zh-CN"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B</a:t>
            </a:r>
            <a:r>
              <a:rPr lang="zh-CN" altLang="en-US"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解释思路，</a:t>
            </a:r>
            <a:r>
              <a:rPr lang="en-US" altLang="zh-CN"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B</a:t>
            </a:r>
            <a:r>
              <a:rPr lang="zh-CN" altLang="en-US"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也可以“圈选</a:t>
            </a:r>
            <a:r>
              <a:rPr lang="en-US" altLang="zh-CN"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a:t>
            </a:r>
            <a:r>
              <a:rPr lang="zh-CN" altLang="en-US"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追问”来确认理解。</a:t>
            </a:r>
            <a:endParaRPr lang="en-US" altLang="zh-CN"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endParaRPr>
          </a:p>
          <a:p>
            <a:pPr>
              <a:lnSpc>
                <a:spcPct val="150000"/>
              </a:lnSpc>
              <a:defRPr/>
            </a:pPr>
            <a:r>
              <a:rPr kumimoji="0" lang="zh-CN" altLang="en-US" sz="1800" b="0" i="0" u="none" strike="noStrike" kern="1200" cap="none" spc="0" normalizeH="0" baseline="0" noProof="0" dirty="0">
                <a:ln>
                  <a:noFill/>
                </a:ln>
                <a:solidFill>
                  <a:sysClr val="windowText" lastClr="000000">
                    <a:lumMod val="95000"/>
                    <a:lumOff val="5000"/>
                  </a:sysClr>
                </a:solidFill>
                <a:effectLst/>
                <a:uLnTx/>
                <a:uFillTx/>
                <a:latin typeface="等线" panose="02010600030101010101" pitchFamily="2" charset="-122"/>
                <a:ea typeface="等线" panose="02010600030101010101" pitchFamily="2" charset="-122"/>
                <a:cs typeface="Arial" panose="020B0604020202020204" pitchFamily="34" charset="0"/>
              </a:rPr>
              <a:t>然而，现有</a:t>
            </a:r>
            <a:r>
              <a:rPr kumimoji="0" lang="en-US" altLang="zh-CN" sz="1800" b="0" i="0" u="none" strike="noStrike" kern="1200" cap="none" spc="0" normalizeH="0" baseline="0" noProof="0" dirty="0">
                <a:ln>
                  <a:noFill/>
                </a:ln>
                <a:solidFill>
                  <a:sysClr val="windowText" lastClr="000000">
                    <a:lumMod val="95000"/>
                    <a:lumOff val="5000"/>
                  </a:sysClr>
                </a:solidFill>
                <a:effectLst/>
                <a:uLnTx/>
                <a:uFillTx/>
                <a:latin typeface="等线" panose="02010600030101010101" pitchFamily="2" charset="-122"/>
                <a:ea typeface="等线" panose="02010600030101010101" pitchFamily="2" charset="-122"/>
                <a:cs typeface="Arial" panose="020B0604020202020204" pitchFamily="34" charset="0"/>
              </a:rPr>
              <a:t>AI</a:t>
            </a:r>
            <a:r>
              <a:rPr kumimoji="0" lang="zh-CN" altLang="en-US" sz="1800" b="0" i="0" u="none" strike="noStrike" kern="1200" cap="none" spc="0" normalizeH="0" baseline="0" noProof="0" dirty="0">
                <a:ln>
                  <a:noFill/>
                </a:ln>
                <a:solidFill>
                  <a:sysClr val="windowText" lastClr="000000">
                    <a:lumMod val="95000"/>
                    <a:lumOff val="5000"/>
                  </a:sysClr>
                </a:solidFill>
                <a:effectLst/>
                <a:uLnTx/>
                <a:uFillTx/>
                <a:latin typeface="等线" panose="02010600030101010101" pitchFamily="2" charset="-122"/>
                <a:ea typeface="等线" panose="02010600030101010101" pitchFamily="2" charset="-122"/>
                <a:cs typeface="Arial" panose="020B0604020202020204" pitchFamily="34" charset="0"/>
              </a:rPr>
              <a:t>辅助设计系统中，用户与</a:t>
            </a:r>
            <a:r>
              <a:rPr kumimoji="0" lang="en-US" altLang="zh-CN" sz="1800" b="0" i="0" u="none" strike="noStrike" kern="1200" cap="none" spc="0" normalizeH="0" baseline="0" noProof="0" dirty="0">
                <a:ln>
                  <a:noFill/>
                </a:ln>
                <a:solidFill>
                  <a:sysClr val="windowText" lastClr="000000">
                    <a:lumMod val="95000"/>
                    <a:lumOff val="5000"/>
                  </a:sysClr>
                </a:solidFill>
                <a:effectLst/>
                <a:uLnTx/>
                <a:uFillTx/>
                <a:latin typeface="等线" panose="02010600030101010101" pitchFamily="2" charset="-122"/>
                <a:ea typeface="等线" panose="02010600030101010101" pitchFamily="2" charset="-122"/>
                <a:cs typeface="Arial" panose="020B0604020202020204" pitchFamily="34" charset="0"/>
              </a:rPr>
              <a:t>Agent</a:t>
            </a:r>
            <a:r>
              <a:rPr kumimoji="0" lang="zh-CN" altLang="en-US" sz="1800" b="0" i="0" u="none" strike="noStrike" kern="1200" cap="none" spc="0" normalizeH="0" baseline="0" noProof="0" dirty="0">
                <a:ln>
                  <a:noFill/>
                </a:ln>
                <a:solidFill>
                  <a:sysClr val="windowText" lastClr="000000">
                    <a:lumMod val="95000"/>
                    <a:lumOff val="5000"/>
                  </a:sysClr>
                </a:solidFill>
                <a:effectLst/>
                <a:uLnTx/>
                <a:uFillTx/>
                <a:latin typeface="等线" panose="02010600030101010101" pitchFamily="2" charset="-122"/>
                <a:ea typeface="等线" panose="02010600030101010101" pitchFamily="2" charset="-122"/>
                <a:cs typeface="Arial" panose="020B0604020202020204" pitchFamily="34" charset="0"/>
              </a:rPr>
              <a:t>之间的沟通存在</a:t>
            </a:r>
            <a:r>
              <a:rPr kumimoji="0" lang="zh-CN" altLang="en-US" sz="1800" b="1" i="0" u="none" strike="noStrike" kern="1200" cap="none" spc="0" normalizeH="0" baseline="0" noProof="0" dirty="0">
                <a:ln>
                  <a:noFill/>
                </a:ln>
                <a:solidFill>
                  <a:sysClr val="windowText" lastClr="000000">
                    <a:lumMod val="95000"/>
                    <a:lumOff val="5000"/>
                  </a:sysClr>
                </a:solidFill>
                <a:effectLst/>
                <a:uLnTx/>
                <a:uFillTx/>
                <a:latin typeface="等线" panose="02010600030101010101" pitchFamily="2" charset="-122"/>
                <a:ea typeface="等线" panose="02010600030101010101" pitchFamily="2" charset="-122"/>
                <a:cs typeface="Arial" panose="020B0604020202020204" pitchFamily="34" charset="0"/>
              </a:rPr>
              <a:t>严重的带宽不对称</a:t>
            </a:r>
            <a:r>
              <a:rPr kumimoji="0" lang="zh-CN" altLang="en-US" sz="1800" b="0" i="0" u="none" strike="noStrike" kern="1200" cap="none" spc="0" normalizeH="0" baseline="0" noProof="0" dirty="0">
                <a:ln>
                  <a:noFill/>
                </a:ln>
                <a:solidFill>
                  <a:sysClr val="windowText" lastClr="000000">
                    <a:lumMod val="95000"/>
                    <a:lumOff val="5000"/>
                  </a:sysClr>
                </a:solidFill>
                <a:effectLst/>
                <a:uLnTx/>
                <a:uFillTx/>
                <a:latin typeface="等线" panose="02010600030101010101" pitchFamily="2" charset="-122"/>
                <a:ea typeface="等线" panose="02010600030101010101" pitchFamily="2" charset="-122"/>
                <a:cs typeface="Arial" panose="020B0604020202020204" pitchFamily="34" charset="0"/>
              </a:rPr>
              <a:t>：</a:t>
            </a:r>
            <a:endParaRPr kumimoji="0" lang="en-US" altLang="zh-CN" sz="1800" b="0" i="0" u="none" strike="noStrike" kern="1200" cap="none" spc="0" normalizeH="0" baseline="0" noProof="0" dirty="0">
              <a:ln>
                <a:noFill/>
              </a:ln>
              <a:solidFill>
                <a:sysClr val="windowText" lastClr="000000">
                  <a:lumMod val="95000"/>
                  <a:lumOff val="5000"/>
                </a:sysClr>
              </a:solidFill>
              <a:effectLst/>
              <a:uLnTx/>
              <a:uFillTx/>
              <a:latin typeface="等线" panose="02010600030101010101" pitchFamily="2" charset="-122"/>
              <a:ea typeface="等线" panose="02010600030101010101" pitchFamily="2" charset="-122"/>
              <a:cs typeface="Arial" panose="020B0604020202020204" pitchFamily="34" charset="0"/>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
        <p:nvSpPr>
          <p:cNvPr id="2" name="矩形 1">
            <a:extLst>
              <a:ext uri="{FF2B5EF4-FFF2-40B4-BE49-F238E27FC236}">
                <a16:creationId xmlns:a16="http://schemas.microsoft.com/office/drawing/2014/main" id="{32437248-D94D-4ECD-8B70-79AE3EDAF086}"/>
              </a:ext>
            </a:extLst>
          </p:cNvPr>
          <p:cNvSpPr/>
          <p:nvPr/>
        </p:nvSpPr>
        <p:spPr>
          <a:xfrm>
            <a:off x="3442995" y="3410338"/>
            <a:ext cx="970384" cy="2393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用户</a:t>
            </a:r>
          </a:p>
        </p:txBody>
      </p:sp>
      <p:sp>
        <p:nvSpPr>
          <p:cNvPr id="17" name="矩形 16">
            <a:extLst>
              <a:ext uri="{FF2B5EF4-FFF2-40B4-BE49-F238E27FC236}">
                <a16:creationId xmlns:a16="http://schemas.microsoft.com/office/drawing/2014/main" id="{2F653313-76B8-4A9B-A62A-7690E609567D}"/>
              </a:ext>
            </a:extLst>
          </p:cNvPr>
          <p:cNvSpPr/>
          <p:nvPr/>
        </p:nvSpPr>
        <p:spPr>
          <a:xfrm>
            <a:off x="7269783" y="3410338"/>
            <a:ext cx="970384" cy="2393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Agent</a:t>
            </a:r>
            <a:endParaRPr lang="zh-CN" altLang="en-US" dirty="0"/>
          </a:p>
        </p:txBody>
      </p:sp>
      <p:cxnSp>
        <p:nvCxnSpPr>
          <p:cNvPr id="4" name="直接箭头连接符 3">
            <a:extLst>
              <a:ext uri="{FF2B5EF4-FFF2-40B4-BE49-F238E27FC236}">
                <a16:creationId xmlns:a16="http://schemas.microsoft.com/office/drawing/2014/main" id="{5C28A698-4AC9-442F-BAB6-51DC65B3A694}"/>
              </a:ext>
            </a:extLst>
          </p:cNvPr>
          <p:cNvCxnSpPr/>
          <p:nvPr/>
        </p:nvCxnSpPr>
        <p:spPr>
          <a:xfrm>
            <a:off x="4413379" y="3834881"/>
            <a:ext cx="27187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64E17B56-B38A-4361-AF83-769942608A11}"/>
              </a:ext>
            </a:extLst>
          </p:cNvPr>
          <p:cNvCxnSpPr>
            <a:cxnSpLocks/>
          </p:cNvCxnSpPr>
          <p:nvPr/>
        </p:nvCxnSpPr>
        <p:spPr>
          <a:xfrm flipH="1">
            <a:off x="4544009" y="4945224"/>
            <a:ext cx="27257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EE35F5A6-DA13-4ABC-B2EC-6920338BE1DA}"/>
              </a:ext>
            </a:extLst>
          </p:cNvPr>
          <p:cNvSpPr txBox="1"/>
          <p:nvPr/>
        </p:nvSpPr>
        <p:spPr>
          <a:xfrm>
            <a:off x="4638871" y="3955089"/>
            <a:ext cx="2107161" cy="523220"/>
          </a:xfrm>
          <a:prstGeom prst="rect">
            <a:avLst/>
          </a:prstGeom>
          <a:noFill/>
        </p:spPr>
        <p:txBody>
          <a:bodyPr wrap="square">
            <a:spAutoFit/>
          </a:bodyPr>
          <a:lstStyle/>
          <a:p>
            <a:r>
              <a:rPr lang="zh-CN" altLang="en-US" sz="1400" dirty="0"/>
              <a:t>高带宽（多模态）</a:t>
            </a:r>
            <a:br>
              <a:rPr lang="en-US" altLang="zh-CN" sz="1400" dirty="0"/>
            </a:br>
            <a:r>
              <a:rPr lang="zh-CN" altLang="en-US" sz="1400" dirty="0"/>
              <a:t>圈选</a:t>
            </a:r>
            <a:r>
              <a:rPr lang="en-US" altLang="zh-CN" sz="1400" dirty="0"/>
              <a:t>/</a:t>
            </a:r>
            <a:r>
              <a:rPr lang="zh-CN" altLang="en-US" sz="1400" dirty="0"/>
              <a:t>语音</a:t>
            </a:r>
            <a:r>
              <a:rPr lang="en-US" altLang="zh-CN" sz="1400" dirty="0"/>
              <a:t>/</a:t>
            </a:r>
            <a:r>
              <a:rPr lang="zh-CN" altLang="en-US" sz="1400" dirty="0"/>
              <a:t>草图</a:t>
            </a:r>
          </a:p>
        </p:txBody>
      </p:sp>
      <p:sp>
        <p:nvSpPr>
          <p:cNvPr id="24" name="文本框 23">
            <a:extLst>
              <a:ext uri="{FF2B5EF4-FFF2-40B4-BE49-F238E27FC236}">
                <a16:creationId xmlns:a16="http://schemas.microsoft.com/office/drawing/2014/main" id="{95268603-ED18-412A-8A01-985912382A52}"/>
              </a:ext>
            </a:extLst>
          </p:cNvPr>
          <p:cNvSpPr txBox="1"/>
          <p:nvPr/>
        </p:nvSpPr>
        <p:spPr>
          <a:xfrm>
            <a:off x="4638871" y="5086039"/>
            <a:ext cx="2349757" cy="523220"/>
          </a:xfrm>
          <a:prstGeom prst="rect">
            <a:avLst/>
          </a:prstGeom>
          <a:noFill/>
        </p:spPr>
        <p:txBody>
          <a:bodyPr wrap="square">
            <a:spAutoFit/>
          </a:bodyPr>
          <a:lstStyle/>
          <a:p>
            <a:r>
              <a:rPr lang="zh-CN" altLang="en-US" sz="1400" dirty="0"/>
              <a:t>低带宽（单模态）</a:t>
            </a:r>
            <a:br>
              <a:rPr lang="en-US" altLang="zh-CN" sz="1400" dirty="0"/>
            </a:br>
            <a:r>
              <a:rPr lang="zh-CN" altLang="en-US" sz="1400" dirty="0"/>
              <a:t>纯文本</a:t>
            </a:r>
            <a:r>
              <a:rPr lang="en-US" altLang="zh-CN" sz="1400" dirty="0"/>
              <a:t>/</a:t>
            </a:r>
            <a:r>
              <a:rPr lang="zh-CN" altLang="en-US" sz="1400" dirty="0"/>
              <a:t>简单标注</a:t>
            </a:r>
          </a:p>
        </p:txBody>
      </p:sp>
    </p:spTree>
    <p:extLst>
      <p:ext uri="{BB962C8B-B14F-4D97-AF65-F5344CB8AC3E}">
        <p14:creationId xmlns:p14="http://schemas.microsoft.com/office/powerpoint/2010/main" val="2527786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3</a:t>
            </a:r>
          </a:p>
        </p:txBody>
      </p:sp>
      <p:sp>
        <p:nvSpPr>
          <p:cNvPr id="7" name="TextBox 48"/>
          <p:cNvSpPr txBox="1"/>
          <p:nvPr/>
        </p:nvSpPr>
        <p:spPr>
          <a:xfrm>
            <a:off x="980440" y="223520"/>
            <a:ext cx="6575392"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发明目的与技术问题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(Motivation &amp; challenge)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7</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599" y="800859"/>
            <a:ext cx="11810365" cy="5485449"/>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50000"/>
              </a:lnSpc>
              <a:buNone/>
              <a:defRPr/>
            </a:pPr>
            <a:r>
              <a:rPr lang="zh-CN" altLang="en-US"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这种不对称导致以下问题：</a:t>
            </a:r>
            <a:endParaRPr lang="en-US" altLang="zh-CN" sz="1800" dirty="0">
              <a:solidFill>
                <a:sysClr val="windowText" lastClr="000000"/>
              </a:solidFill>
              <a:latin typeface="arial" panose="020B0604020202020204" pitchFamily="34" charset="0"/>
              <a:ea typeface="等线" panose="02010600030101010101" pitchFamily="2" charset="-122"/>
              <a:cs typeface="arial" panose="020B0604020202020204" pitchFamily="34" charset="0"/>
            </a:endParaRPr>
          </a:p>
          <a:p>
            <a:pPr marL="0" lvl="0" indent="0">
              <a:lnSpc>
                <a:spcPct val="150000"/>
              </a:lnSpc>
              <a:buNone/>
              <a:defRPr/>
            </a:pPr>
            <a:endParaRPr kumimoji="0" lang="en-US" altLang="zh-CN" sz="1800" b="0" i="0" u="none" strike="noStrike" kern="1200" cap="none" spc="0" normalizeH="0" baseline="0" noProof="0" dirty="0">
              <a:ln>
                <a:noFill/>
              </a:ln>
              <a:solidFill>
                <a:sysClr val="windowText" lastClr="000000">
                  <a:lumMod val="95000"/>
                  <a:lumOff val="5000"/>
                </a:sysClr>
              </a:solidFill>
              <a:effectLst/>
              <a:uLnTx/>
              <a:uFillTx/>
              <a:latin typeface="等线" panose="02010600030101010101" pitchFamily="2" charset="-122"/>
              <a:ea typeface="等线" panose="02010600030101010101" pitchFamily="2" charset="-122"/>
              <a:cs typeface="Arial" panose="020B0604020202020204" pitchFamily="34" charset="0"/>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graphicFrame>
        <p:nvGraphicFramePr>
          <p:cNvPr id="3" name="表格 5">
            <a:extLst>
              <a:ext uri="{FF2B5EF4-FFF2-40B4-BE49-F238E27FC236}">
                <a16:creationId xmlns:a16="http://schemas.microsoft.com/office/drawing/2014/main" id="{BDCA6F49-DA84-4DDA-AC31-940510D31BC7}"/>
              </a:ext>
            </a:extLst>
          </p:cNvPr>
          <p:cNvGraphicFramePr>
            <a:graphicFrameLocks noGrp="1"/>
          </p:cNvGraphicFramePr>
          <p:nvPr>
            <p:extLst>
              <p:ext uri="{D42A27DB-BD31-4B8C-83A1-F6EECF244321}">
                <p14:modId xmlns:p14="http://schemas.microsoft.com/office/powerpoint/2010/main" val="2810718103"/>
              </p:ext>
            </p:extLst>
          </p:nvPr>
        </p:nvGraphicFramePr>
        <p:xfrm>
          <a:off x="528760" y="1494106"/>
          <a:ext cx="10723958" cy="2565400"/>
        </p:xfrm>
        <a:graphic>
          <a:graphicData uri="http://schemas.openxmlformats.org/drawingml/2006/table">
            <a:tbl>
              <a:tblPr firstRow="1" bandRow="1">
                <a:tableStyleId>{5C22544A-7EE6-4342-B048-85BDC9FD1C3A}</a:tableStyleId>
              </a:tblPr>
              <a:tblGrid>
                <a:gridCol w="2401052">
                  <a:extLst>
                    <a:ext uri="{9D8B030D-6E8A-4147-A177-3AD203B41FA5}">
                      <a16:colId xmlns:a16="http://schemas.microsoft.com/office/drawing/2014/main" val="311395632"/>
                    </a:ext>
                  </a:extLst>
                </a:gridCol>
                <a:gridCol w="8322906">
                  <a:extLst>
                    <a:ext uri="{9D8B030D-6E8A-4147-A177-3AD203B41FA5}">
                      <a16:colId xmlns:a16="http://schemas.microsoft.com/office/drawing/2014/main" val="2074223754"/>
                    </a:ext>
                  </a:extLst>
                </a:gridCol>
              </a:tblGrid>
              <a:tr h="370840">
                <a:tc>
                  <a:txBody>
                    <a:bodyPr/>
                    <a:lstStyle/>
                    <a:p>
                      <a:r>
                        <a:rPr lang="zh-CN" altLang="en-US" dirty="0"/>
                        <a:t>问题</a:t>
                      </a:r>
                    </a:p>
                  </a:txBody>
                  <a:tcPr/>
                </a:tc>
                <a:tc>
                  <a:txBody>
                    <a:bodyPr/>
                    <a:lstStyle/>
                    <a:p>
                      <a:r>
                        <a:rPr lang="zh-CN" altLang="en-US" dirty="0"/>
                        <a:t>具体表现</a:t>
                      </a:r>
                    </a:p>
                  </a:txBody>
                  <a:tcPr/>
                </a:tc>
                <a:extLst>
                  <a:ext uri="{0D108BD9-81ED-4DB2-BD59-A6C34878D82A}">
                    <a16:rowId xmlns:a16="http://schemas.microsoft.com/office/drawing/2014/main" val="2813422133"/>
                  </a:ext>
                </a:extLst>
              </a:tr>
              <a:tr h="370840">
                <a:tc>
                  <a:txBody>
                    <a:bodyPr/>
                    <a:lstStyle/>
                    <a:p>
                      <a:r>
                        <a:rPr lang="zh-CN" altLang="en-US" dirty="0"/>
                        <a:t>复杂思路难以传达</a:t>
                      </a:r>
                    </a:p>
                  </a:txBody>
                  <a:tcPr/>
                </a:tc>
                <a:tc>
                  <a:txBody>
                    <a:bodyPr/>
                    <a:lstStyle/>
                    <a:p>
                      <a:r>
                        <a:rPr lang="en-US" altLang="zh-CN" dirty="0"/>
                        <a:t>Agent</a:t>
                      </a:r>
                      <a:r>
                        <a:rPr lang="zh-CN" altLang="en-US" dirty="0"/>
                        <a:t>只能输出文字解释（如“掺杂浓度偏高导致迁移率下降</a:t>
                      </a:r>
                      <a:r>
                        <a:rPr lang="en-US" altLang="zh-CN" dirty="0"/>
                        <a:t>……”</a:t>
                      </a:r>
                      <a:r>
                        <a:rPr lang="zh-CN" altLang="en-US" dirty="0"/>
                        <a:t>），用户难以直观理解。而人类工程师会直接调出</a:t>
                      </a:r>
                      <a:r>
                        <a:rPr lang="en-US" altLang="zh-CN" dirty="0"/>
                        <a:t>TCAD</a:t>
                      </a:r>
                      <a:r>
                        <a:rPr lang="zh-CN" altLang="en-US" dirty="0"/>
                        <a:t>截面图，用红笔圈出问题区域。</a:t>
                      </a:r>
                      <a:endParaRPr lang="en-US" altLang="zh-CN" dirty="0"/>
                    </a:p>
                    <a:p>
                      <a:endParaRPr lang="zh-CN" altLang="en-US" dirty="0"/>
                    </a:p>
                  </a:txBody>
                  <a:tcPr/>
                </a:tc>
                <a:extLst>
                  <a:ext uri="{0D108BD9-81ED-4DB2-BD59-A6C34878D82A}">
                    <a16:rowId xmlns:a16="http://schemas.microsoft.com/office/drawing/2014/main" val="3597374761"/>
                  </a:ext>
                </a:extLst>
              </a:tr>
              <a:tr h="370840">
                <a:tc>
                  <a:txBody>
                    <a:bodyPr/>
                    <a:lstStyle/>
                    <a:p>
                      <a:r>
                        <a:rPr lang="zh-CN" altLang="en-US" dirty="0"/>
                        <a:t>用户难以建立信任</a:t>
                      </a:r>
                    </a:p>
                  </a:txBody>
                  <a:tcPr/>
                </a:tc>
                <a:tc>
                  <a:txBody>
                    <a:bodyPr/>
                    <a:lstStyle/>
                    <a:p>
                      <a:r>
                        <a:rPr lang="zh-CN" altLang="en-US" dirty="0"/>
                        <a:t>用户无法在执行前充分理解</a:t>
                      </a:r>
                      <a:r>
                        <a:rPr lang="en-US" altLang="zh-CN" dirty="0"/>
                        <a:t>Agent</a:t>
                      </a:r>
                      <a:r>
                        <a:rPr lang="zh-CN" altLang="en-US" dirty="0"/>
                        <a:t>意图，只能“盲确认”或“拒绝”。</a:t>
                      </a:r>
                      <a:endParaRPr lang="en-US" altLang="zh-CN" dirty="0"/>
                    </a:p>
                    <a:p>
                      <a:endParaRPr lang="zh-CN" altLang="en-US" dirty="0"/>
                    </a:p>
                  </a:txBody>
                  <a:tcPr/>
                </a:tc>
                <a:extLst>
                  <a:ext uri="{0D108BD9-81ED-4DB2-BD59-A6C34878D82A}">
                    <a16:rowId xmlns:a16="http://schemas.microsoft.com/office/drawing/2014/main" val="1784590562"/>
                  </a:ext>
                </a:extLst>
              </a:tr>
              <a:tr h="370840">
                <a:tc>
                  <a:txBody>
                    <a:bodyPr/>
                    <a:lstStyle/>
                    <a:p>
                      <a:r>
                        <a:rPr lang="zh-CN" altLang="en-US" dirty="0"/>
                        <a:t>沟通效率低</a:t>
                      </a:r>
                    </a:p>
                  </a:txBody>
                  <a:tcPr/>
                </a:tc>
                <a:tc>
                  <a:txBody>
                    <a:bodyPr/>
                    <a:lstStyle/>
                    <a:p>
                      <a:r>
                        <a:rPr lang="zh-CN" altLang="en-US" dirty="0"/>
                        <a:t>用户需反复追问，</a:t>
                      </a:r>
                      <a:r>
                        <a:rPr lang="en-US" altLang="zh-CN" dirty="0"/>
                        <a:t>Agent</a:t>
                      </a:r>
                      <a:r>
                        <a:rPr lang="zh-CN" altLang="en-US" dirty="0"/>
                        <a:t>需反复解释，形成低效的多轮文本对话。</a:t>
                      </a:r>
                      <a:endParaRPr lang="en-US" altLang="zh-CN" dirty="0"/>
                    </a:p>
                    <a:p>
                      <a:endParaRPr lang="zh-CN" altLang="en-US" dirty="0"/>
                    </a:p>
                  </a:txBody>
                  <a:tcPr/>
                </a:tc>
                <a:extLst>
                  <a:ext uri="{0D108BD9-81ED-4DB2-BD59-A6C34878D82A}">
                    <a16:rowId xmlns:a16="http://schemas.microsoft.com/office/drawing/2014/main" val="2370486808"/>
                  </a:ext>
                </a:extLst>
              </a:tr>
            </a:tbl>
          </a:graphicData>
        </a:graphic>
      </p:graphicFrame>
      <p:sp>
        <p:nvSpPr>
          <p:cNvPr id="25" name="文本框 24">
            <a:extLst>
              <a:ext uri="{FF2B5EF4-FFF2-40B4-BE49-F238E27FC236}">
                <a16:creationId xmlns:a16="http://schemas.microsoft.com/office/drawing/2014/main" id="{7D081865-EFC6-47C0-B3FE-E7126C4054AD}"/>
              </a:ext>
            </a:extLst>
          </p:cNvPr>
          <p:cNvSpPr txBox="1"/>
          <p:nvPr/>
        </p:nvSpPr>
        <p:spPr>
          <a:xfrm>
            <a:off x="477777" y="4469108"/>
            <a:ext cx="11120782" cy="1200329"/>
          </a:xfrm>
          <a:prstGeom prst="rect">
            <a:avLst/>
          </a:prstGeom>
          <a:noFill/>
        </p:spPr>
        <p:txBody>
          <a:bodyPr wrap="square">
            <a:spAutoFit/>
          </a:bodyPr>
          <a:lstStyle/>
          <a:p>
            <a:r>
              <a:rPr lang="zh-CN" altLang="en-US" b="1" dirty="0"/>
              <a:t>本发明要解决的技术问题</a:t>
            </a:r>
            <a:r>
              <a:rPr lang="zh-CN" altLang="en-US" dirty="0"/>
              <a:t>：</a:t>
            </a:r>
          </a:p>
          <a:p>
            <a:endParaRPr lang="zh-CN" altLang="en-US" dirty="0"/>
          </a:p>
          <a:p>
            <a:r>
              <a:rPr lang="zh-CN" altLang="en-US" dirty="0"/>
              <a:t>如何构建一个</a:t>
            </a:r>
            <a:r>
              <a:rPr lang="zh-CN" altLang="en-US" b="1" dirty="0"/>
              <a:t>Agent→用户方向高带宽</a:t>
            </a:r>
            <a:r>
              <a:rPr lang="zh-CN" altLang="en-US" dirty="0"/>
              <a:t>的交互系统，使Agent能够以</a:t>
            </a:r>
            <a:r>
              <a:rPr lang="zh-CN" altLang="en-US" b="1" dirty="0"/>
              <a:t>图文、高亮、动效、视频</a:t>
            </a:r>
            <a:r>
              <a:rPr lang="zh-CN" altLang="en-US" dirty="0"/>
              <a:t>等多种方式向用户直观地解释自己的理解、推理过程和修改方案，从而实现真正双向对等的人机协同设计。</a:t>
            </a:r>
          </a:p>
        </p:txBody>
      </p:sp>
    </p:spTree>
    <p:extLst>
      <p:ext uri="{BB962C8B-B14F-4D97-AF65-F5344CB8AC3E}">
        <p14:creationId xmlns:p14="http://schemas.microsoft.com/office/powerpoint/2010/main" val="1361916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4</a:t>
            </a:r>
          </a:p>
        </p:txBody>
      </p:sp>
      <p:sp>
        <p:nvSpPr>
          <p:cNvPr id="7" name="TextBox 48"/>
          <p:cNvSpPr txBox="1"/>
          <p:nvPr/>
        </p:nvSpPr>
        <p:spPr>
          <a:xfrm>
            <a:off x="980440" y="223520"/>
            <a:ext cx="4621463"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技术方案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(Technical solution)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8</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50926"/>
            <a:ext cx="11735602" cy="5235382"/>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50000"/>
              </a:lnSpc>
              <a:buNone/>
              <a:defRPr/>
            </a:pPr>
            <a:r>
              <a:rPr lang="zh-CN" altLang="en-US" sz="20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本发明采取的技术方法：</a:t>
            </a:r>
            <a:endParaRPr lang="en-US" altLang="zh-CN" sz="2000" dirty="0">
              <a:solidFill>
                <a:sysClr val="windowText" lastClr="000000"/>
              </a:solidFill>
              <a:latin typeface="arial" panose="020B0604020202020204" pitchFamily="34" charset="0"/>
              <a:ea typeface="等线" panose="02010600030101010101" pitchFamily="2" charset="-122"/>
              <a:cs typeface="arial" panose="020B0604020202020204" pitchFamily="34" charset="0"/>
            </a:endParaRPr>
          </a:p>
          <a:p>
            <a:pPr>
              <a:lnSpc>
                <a:spcPct val="150000"/>
              </a:lnSpc>
              <a:defRPr/>
            </a:pPr>
            <a:r>
              <a:rPr kumimoji="0" lang="zh-CN" altLang="en-US"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针对上述“</a:t>
            </a:r>
            <a:r>
              <a:rPr kumimoji="0" lang="en-US" altLang="zh-CN"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Agent→</a:t>
            </a:r>
            <a:r>
              <a:rPr kumimoji="0" lang="zh-CN" altLang="en-US"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用户方向带宽低”的技术问题，本发明提出高带宽双向多模态交互白板架构。核心思路是：将白板从“指令输入板”升级为“</a:t>
            </a:r>
            <a:r>
              <a:rPr kumimoji="0" lang="en-US" altLang="zh-CN"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Agent</a:t>
            </a:r>
            <a:r>
              <a:rPr kumimoji="0" lang="zh-CN" altLang="en-US"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与用户之间的高带宽沟通界面”，使</a:t>
            </a:r>
            <a:r>
              <a:rPr kumimoji="0" lang="en-US" altLang="zh-CN"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Agent</a:t>
            </a:r>
            <a:r>
              <a:rPr kumimoji="0" lang="zh-CN" altLang="en-US"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能够以图文、高亮、动效、视频等多种方式向用户输出信息。</a:t>
            </a:r>
            <a:endParaRPr lang="en-US" altLang="zh-CN" sz="2000" dirty="0">
              <a:solidFill>
                <a:sysClr val="windowText" lastClr="000000"/>
              </a:solidFill>
              <a:latin typeface="等线" panose="02010600030101010101" pitchFamily="2" charset="-122"/>
              <a:ea typeface="等线" panose="02010600030101010101" pitchFamily="2" charset="-122"/>
            </a:endParaRPr>
          </a:p>
          <a:p>
            <a:pPr marL="0" indent="0">
              <a:lnSpc>
                <a:spcPct val="150000"/>
              </a:lnSpc>
              <a:buNone/>
              <a:defRPr/>
            </a:pPr>
            <a:endParaRPr kumimoji="0" lang="en-US" altLang="zh-CN"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endParaRPr>
          </a:p>
          <a:p>
            <a:pPr marL="0" indent="0">
              <a:lnSpc>
                <a:spcPct val="150000"/>
              </a:lnSpc>
              <a:buNone/>
              <a:defRPr/>
            </a:pPr>
            <a:r>
              <a:rPr kumimoji="0" lang="zh-CN" altLang="en-US"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与先前技术的差异点：</a:t>
            </a:r>
            <a:endParaRPr kumimoji="0" lang="en-US" altLang="zh-CN"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endParaRPr>
          </a:p>
          <a:p>
            <a:pPr marL="0" indent="0">
              <a:lnSpc>
                <a:spcPct val="150000"/>
              </a:lnSpc>
              <a:buNone/>
              <a:defRPr/>
            </a:pPr>
            <a:endParaRPr kumimoji="0" lang="en-US" altLang="zh-CN"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graphicFrame>
        <p:nvGraphicFramePr>
          <p:cNvPr id="2" name="表格 2">
            <a:extLst>
              <a:ext uri="{FF2B5EF4-FFF2-40B4-BE49-F238E27FC236}">
                <a16:creationId xmlns:a16="http://schemas.microsoft.com/office/drawing/2014/main" id="{49D1BF4C-4C7A-48A2-BEF4-80B97CC63B66}"/>
              </a:ext>
            </a:extLst>
          </p:cNvPr>
          <p:cNvGraphicFramePr>
            <a:graphicFrameLocks noGrp="1"/>
          </p:cNvGraphicFramePr>
          <p:nvPr>
            <p:extLst>
              <p:ext uri="{D42A27DB-BD31-4B8C-83A1-F6EECF244321}">
                <p14:modId xmlns:p14="http://schemas.microsoft.com/office/powerpoint/2010/main" val="3051431867"/>
              </p:ext>
            </p:extLst>
          </p:nvPr>
        </p:nvGraphicFramePr>
        <p:xfrm>
          <a:off x="528762" y="4432108"/>
          <a:ext cx="11069796" cy="1854200"/>
        </p:xfrm>
        <a:graphic>
          <a:graphicData uri="http://schemas.openxmlformats.org/drawingml/2006/table">
            <a:tbl>
              <a:tblPr firstRow="1" bandRow="1">
                <a:tableStyleId>{5C22544A-7EE6-4342-B048-85BDC9FD1C3A}</a:tableStyleId>
              </a:tblPr>
              <a:tblGrid>
                <a:gridCol w="2783605">
                  <a:extLst>
                    <a:ext uri="{9D8B030D-6E8A-4147-A177-3AD203B41FA5}">
                      <a16:colId xmlns:a16="http://schemas.microsoft.com/office/drawing/2014/main" val="3419241474"/>
                    </a:ext>
                  </a:extLst>
                </a:gridCol>
                <a:gridCol w="3582955">
                  <a:extLst>
                    <a:ext uri="{9D8B030D-6E8A-4147-A177-3AD203B41FA5}">
                      <a16:colId xmlns:a16="http://schemas.microsoft.com/office/drawing/2014/main" val="3414452328"/>
                    </a:ext>
                  </a:extLst>
                </a:gridCol>
                <a:gridCol w="4703236">
                  <a:extLst>
                    <a:ext uri="{9D8B030D-6E8A-4147-A177-3AD203B41FA5}">
                      <a16:colId xmlns:a16="http://schemas.microsoft.com/office/drawing/2014/main" val="1172644737"/>
                    </a:ext>
                  </a:extLst>
                </a:gridCol>
              </a:tblGrid>
              <a:tr h="370840">
                <a:tc>
                  <a:txBody>
                    <a:bodyPr/>
                    <a:lstStyle/>
                    <a:p>
                      <a:r>
                        <a:rPr lang="zh-CN" altLang="en-US" dirty="0"/>
                        <a:t>对比维度</a:t>
                      </a:r>
                    </a:p>
                  </a:txBody>
                  <a:tcPr/>
                </a:tc>
                <a:tc>
                  <a:txBody>
                    <a:bodyPr/>
                    <a:lstStyle/>
                    <a:p>
                      <a:r>
                        <a:rPr lang="zh-CN" altLang="en-US" dirty="0"/>
                        <a:t>先前技术</a:t>
                      </a:r>
                    </a:p>
                  </a:txBody>
                  <a:tcPr/>
                </a:tc>
                <a:tc>
                  <a:txBody>
                    <a:bodyPr/>
                    <a:lstStyle/>
                    <a:p>
                      <a:r>
                        <a:rPr lang="zh-CN" altLang="en-US" dirty="0"/>
                        <a:t>本发明</a:t>
                      </a:r>
                    </a:p>
                  </a:txBody>
                  <a:tcPr/>
                </a:tc>
                <a:extLst>
                  <a:ext uri="{0D108BD9-81ED-4DB2-BD59-A6C34878D82A}">
                    <a16:rowId xmlns:a16="http://schemas.microsoft.com/office/drawing/2014/main" val="1896863194"/>
                  </a:ext>
                </a:extLst>
              </a:tr>
              <a:tr h="370840">
                <a:tc>
                  <a:txBody>
                    <a:bodyPr/>
                    <a:lstStyle/>
                    <a:p>
                      <a:r>
                        <a:rPr lang="en-US" altLang="zh-CN" dirty="0"/>
                        <a:t>Agent</a:t>
                      </a:r>
                      <a:r>
                        <a:rPr lang="zh-CN" altLang="en-US" dirty="0"/>
                        <a:t>输出模态</a:t>
                      </a:r>
                    </a:p>
                  </a:txBody>
                  <a:tcPr/>
                </a:tc>
                <a:tc>
                  <a:txBody>
                    <a:bodyPr/>
                    <a:lstStyle/>
                    <a:p>
                      <a:r>
                        <a:rPr lang="zh-CN" altLang="en-US" dirty="0"/>
                        <a:t>纯文本或简单标注</a:t>
                      </a:r>
                    </a:p>
                  </a:txBody>
                  <a:tcPr/>
                </a:tc>
                <a:tc>
                  <a:txBody>
                    <a:bodyPr/>
                    <a:lstStyle/>
                    <a:p>
                      <a:r>
                        <a:rPr lang="zh-CN" altLang="en-US" dirty="0"/>
                        <a:t>图文、高亮、动效、视频</a:t>
                      </a:r>
                    </a:p>
                  </a:txBody>
                  <a:tcPr/>
                </a:tc>
                <a:extLst>
                  <a:ext uri="{0D108BD9-81ED-4DB2-BD59-A6C34878D82A}">
                    <a16:rowId xmlns:a16="http://schemas.microsoft.com/office/drawing/2014/main" val="628992405"/>
                  </a:ext>
                </a:extLst>
              </a:tr>
              <a:tr h="370840">
                <a:tc>
                  <a:txBody>
                    <a:bodyPr/>
                    <a:lstStyle/>
                    <a:p>
                      <a:r>
                        <a:rPr lang="en-US" altLang="zh-CN" dirty="0"/>
                        <a:t>Agent</a:t>
                      </a:r>
                      <a:r>
                        <a:rPr lang="zh-CN" altLang="en-US" dirty="0"/>
                        <a:t>输出带宽</a:t>
                      </a:r>
                    </a:p>
                  </a:txBody>
                  <a:tcPr/>
                </a:tc>
                <a:tc>
                  <a:txBody>
                    <a:bodyPr/>
                    <a:lstStyle/>
                    <a:p>
                      <a:r>
                        <a:rPr lang="zh-CN" altLang="en-US" dirty="0"/>
                        <a:t>低（单模态）</a:t>
                      </a:r>
                    </a:p>
                  </a:txBody>
                  <a:tcPr/>
                </a:tc>
                <a:tc>
                  <a:txBody>
                    <a:bodyPr/>
                    <a:lstStyle/>
                    <a:p>
                      <a:r>
                        <a:rPr lang="zh-CN" altLang="en-US" dirty="0"/>
                        <a:t>高（多模态）</a:t>
                      </a:r>
                    </a:p>
                  </a:txBody>
                  <a:tcPr/>
                </a:tc>
                <a:extLst>
                  <a:ext uri="{0D108BD9-81ED-4DB2-BD59-A6C34878D82A}">
                    <a16:rowId xmlns:a16="http://schemas.microsoft.com/office/drawing/2014/main" val="857823792"/>
                  </a:ext>
                </a:extLst>
              </a:tr>
              <a:tr h="370840">
                <a:tc>
                  <a:txBody>
                    <a:bodyPr/>
                    <a:lstStyle/>
                    <a:p>
                      <a:r>
                        <a:rPr lang="zh-CN" altLang="en-US" dirty="0"/>
                        <a:t>信息聚合能力</a:t>
                      </a:r>
                    </a:p>
                  </a:txBody>
                  <a:tcPr/>
                </a:tc>
                <a:tc>
                  <a:txBody>
                    <a:bodyPr/>
                    <a:lstStyle/>
                    <a:p>
                      <a:r>
                        <a:rPr lang="zh-CN" altLang="en-US" dirty="0"/>
                        <a:t>仅当前</a:t>
                      </a:r>
                      <a:r>
                        <a:rPr lang="en-US" altLang="zh-CN" dirty="0" err="1"/>
                        <a:t>cellview</a:t>
                      </a:r>
                      <a:endParaRPr lang="zh-CN" altLang="en-US" dirty="0"/>
                    </a:p>
                  </a:txBody>
                  <a:tcPr/>
                </a:tc>
                <a:tc>
                  <a:txBody>
                    <a:bodyPr/>
                    <a:lstStyle/>
                    <a:p>
                      <a:r>
                        <a:rPr lang="zh-CN" altLang="en-US" dirty="0"/>
                        <a:t>可调取</a:t>
                      </a:r>
                      <a:r>
                        <a:rPr lang="en-US" altLang="zh-CN" dirty="0"/>
                        <a:t>TCAD</a:t>
                      </a:r>
                      <a:r>
                        <a:rPr lang="zh-CN" altLang="en-US" dirty="0"/>
                        <a:t>、时序报告等多源信息</a:t>
                      </a:r>
                    </a:p>
                  </a:txBody>
                  <a:tcPr/>
                </a:tc>
                <a:extLst>
                  <a:ext uri="{0D108BD9-81ED-4DB2-BD59-A6C34878D82A}">
                    <a16:rowId xmlns:a16="http://schemas.microsoft.com/office/drawing/2014/main" val="2522762232"/>
                  </a:ext>
                </a:extLst>
              </a:tr>
              <a:tr h="370840">
                <a:tc>
                  <a:txBody>
                    <a:bodyPr/>
                    <a:lstStyle/>
                    <a:p>
                      <a:r>
                        <a:rPr lang="zh-CN" altLang="en-US" dirty="0"/>
                        <a:t>执行前确认</a:t>
                      </a:r>
                    </a:p>
                  </a:txBody>
                  <a:tcPr/>
                </a:tc>
                <a:tc>
                  <a:txBody>
                    <a:bodyPr/>
                    <a:lstStyle/>
                    <a:p>
                      <a:r>
                        <a:rPr lang="zh-CN" altLang="en-US" dirty="0"/>
                        <a:t>直接执行或纯文本描述</a:t>
                      </a:r>
                    </a:p>
                  </a:txBody>
                  <a:tcPr/>
                </a:tc>
                <a:tc>
                  <a:txBody>
                    <a:bodyPr/>
                    <a:lstStyle/>
                    <a:p>
                      <a:r>
                        <a:rPr lang="zh-CN" altLang="en-US" dirty="0"/>
                        <a:t>图文预览 → 用户确认 → 执行</a:t>
                      </a:r>
                    </a:p>
                  </a:txBody>
                  <a:tcPr/>
                </a:tc>
                <a:extLst>
                  <a:ext uri="{0D108BD9-81ED-4DB2-BD59-A6C34878D82A}">
                    <a16:rowId xmlns:a16="http://schemas.microsoft.com/office/drawing/2014/main" val="2499589986"/>
                  </a:ext>
                </a:extLst>
              </a:tr>
            </a:tbl>
          </a:graphicData>
        </a:graphic>
      </p:graphicFrame>
    </p:spTree>
    <p:extLst>
      <p:ext uri="{BB962C8B-B14F-4D97-AF65-F5344CB8AC3E}">
        <p14:creationId xmlns:p14="http://schemas.microsoft.com/office/powerpoint/2010/main" val="3799653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4</a:t>
            </a:r>
          </a:p>
        </p:txBody>
      </p:sp>
      <p:sp>
        <p:nvSpPr>
          <p:cNvPr id="7" name="TextBox 48"/>
          <p:cNvSpPr txBox="1"/>
          <p:nvPr/>
        </p:nvSpPr>
        <p:spPr>
          <a:xfrm>
            <a:off x="980440" y="223520"/>
            <a:ext cx="4621463"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技术方案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(Technical solution)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9</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50926"/>
            <a:ext cx="11735602" cy="5235382"/>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50000"/>
              </a:lnSpc>
              <a:buNone/>
              <a:defRPr/>
            </a:pPr>
            <a:r>
              <a:rPr lang="zh-CN" altLang="en-US" sz="20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基本运作原理：</a:t>
            </a:r>
            <a:endParaRPr lang="en-US" altLang="zh-CN" sz="2000" dirty="0">
              <a:solidFill>
                <a:sysClr val="windowText" lastClr="000000"/>
              </a:solidFill>
              <a:latin typeface="arial" panose="020B0604020202020204" pitchFamily="34" charset="0"/>
              <a:ea typeface="等线" panose="02010600030101010101" pitchFamily="2" charset="-122"/>
              <a:cs typeface="arial" panose="020B0604020202020204" pitchFamily="34" charset="0"/>
            </a:endParaRPr>
          </a:p>
          <a:p>
            <a:pPr>
              <a:lnSpc>
                <a:spcPct val="150000"/>
              </a:lnSpc>
              <a:defRPr/>
            </a:pPr>
            <a:r>
              <a:rPr kumimoji="0" lang="zh-CN" altLang="en-US"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系统采用四层架构，数据在用户与</a:t>
            </a:r>
            <a:r>
              <a:rPr kumimoji="0" lang="en-US" altLang="zh-CN"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Agent</a:t>
            </a:r>
            <a:r>
              <a:rPr kumimoji="0" lang="zh-CN" altLang="en-US"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之间双向流动：</a:t>
            </a:r>
            <a:endParaRPr kumimoji="0" lang="en-US" altLang="zh-CN" sz="20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
        <p:nvSpPr>
          <p:cNvPr id="19" name="矩形 18">
            <a:extLst>
              <a:ext uri="{FF2B5EF4-FFF2-40B4-BE49-F238E27FC236}">
                <a16:creationId xmlns:a16="http://schemas.microsoft.com/office/drawing/2014/main" id="{50EF770D-2982-4634-ACAD-58A0EF065260}"/>
              </a:ext>
            </a:extLst>
          </p:cNvPr>
          <p:cNvSpPr/>
          <p:nvPr/>
        </p:nvSpPr>
        <p:spPr>
          <a:xfrm>
            <a:off x="980440" y="2267339"/>
            <a:ext cx="923005" cy="633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用户</a:t>
            </a:r>
          </a:p>
        </p:txBody>
      </p:sp>
      <p:sp>
        <p:nvSpPr>
          <p:cNvPr id="25" name="矩形 24">
            <a:extLst>
              <a:ext uri="{FF2B5EF4-FFF2-40B4-BE49-F238E27FC236}">
                <a16:creationId xmlns:a16="http://schemas.microsoft.com/office/drawing/2014/main" id="{C195B87F-BA0C-454A-9611-6DEB360E4F52}"/>
              </a:ext>
            </a:extLst>
          </p:cNvPr>
          <p:cNvSpPr/>
          <p:nvPr/>
        </p:nvSpPr>
        <p:spPr>
          <a:xfrm>
            <a:off x="2815995" y="2267339"/>
            <a:ext cx="1177902" cy="633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交互白板</a:t>
            </a:r>
          </a:p>
        </p:txBody>
      </p:sp>
      <p:sp>
        <p:nvSpPr>
          <p:cNvPr id="26" name="矩形 25">
            <a:extLst>
              <a:ext uri="{FF2B5EF4-FFF2-40B4-BE49-F238E27FC236}">
                <a16:creationId xmlns:a16="http://schemas.microsoft.com/office/drawing/2014/main" id="{8E7FF86F-2C10-4A06-B7C4-395FD05342D2}"/>
              </a:ext>
            </a:extLst>
          </p:cNvPr>
          <p:cNvSpPr/>
          <p:nvPr/>
        </p:nvSpPr>
        <p:spPr>
          <a:xfrm>
            <a:off x="4906447" y="2280108"/>
            <a:ext cx="1401815" cy="633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统一多模态大模型</a:t>
            </a:r>
          </a:p>
        </p:txBody>
      </p:sp>
      <p:sp>
        <p:nvSpPr>
          <p:cNvPr id="27" name="矩形 26">
            <a:extLst>
              <a:ext uri="{FF2B5EF4-FFF2-40B4-BE49-F238E27FC236}">
                <a16:creationId xmlns:a16="http://schemas.microsoft.com/office/drawing/2014/main" id="{E9D29896-D9E3-4ABD-AED1-1DBC605A7324}"/>
              </a:ext>
            </a:extLst>
          </p:cNvPr>
          <p:cNvSpPr/>
          <p:nvPr/>
        </p:nvSpPr>
        <p:spPr>
          <a:xfrm>
            <a:off x="7220812" y="2267339"/>
            <a:ext cx="1313258" cy="633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EDA</a:t>
            </a:r>
            <a:r>
              <a:rPr lang="zh-CN" altLang="en-US" dirty="0"/>
              <a:t>映射层</a:t>
            </a:r>
          </a:p>
        </p:txBody>
      </p:sp>
      <p:sp>
        <p:nvSpPr>
          <p:cNvPr id="28" name="矩形 27">
            <a:extLst>
              <a:ext uri="{FF2B5EF4-FFF2-40B4-BE49-F238E27FC236}">
                <a16:creationId xmlns:a16="http://schemas.microsoft.com/office/drawing/2014/main" id="{2A49055F-D17D-48BA-929B-CDF8AC6AC5ED}"/>
              </a:ext>
            </a:extLst>
          </p:cNvPr>
          <p:cNvSpPr/>
          <p:nvPr/>
        </p:nvSpPr>
        <p:spPr>
          <a:xfrm>
            <a:off x="9446619" y="2280108"/>
            <a:ext cx="923005" cy="633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渲染层</a:t>
            </a:r>
          </a:p>
        </p:txBody>
      </p:sp>
      <p:cxnSp>
        <p:nvCxnSpPr>
          <p:cNvPr id="22" name="直接箭头连接符 21">
            <a:extLst>
              <a:ext uri="{FF2B5EF4-FFF2-40B4-BE49-F238E27FC236}">
                <a16:creationId xmlns:a16="http://schemas.microsoft.com/office/drawing/2014/main" id="{6B07E7CE-0B07-4D5F-B1DE-EABE52BEF509}"/>
              </a:ext>
            </a:extLst>
          </p:cNvPr>
          <p:cNvCxnSpPr>
            <a:cxnSpLocks/>
            <a:stCxn id="19" idx="3"/>
            <a:endCxn id="25" idx="1"/>
          </p:cNvCxnSpPr>
          <p:nvPr/>
        </p:nvCxnSpPr>
        <p:spPr>
          <a:xfrm>
            <a:off x="1903445" y="2583898"/>
            <a:ext cx="91255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1FC88CBF-2F9E-4C3F-A4B1-CA9F5D3506DE}"/>
              </a:ext>
            </a:extLst>
          </p:cNvPr>
          <p:cNvCxnSpPr>
            <a:stCxn id="25" idx="3"/>
            <a:endCxn id="26" idx="1"/>
          </p:cNvCxnSpPr>
          <p:nvPr/>
        </p:nvCxnSpPr>
        <p:spPr>
          <a:xfrm>
            <a:off x="3993897" y="2583898"/>
            <a:ext cx="912550" cy="127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4E51E7DB-3DB5-4A2A-92B2-DBEF00F6896C}"/>
              </a:ext>
            </a:extLst>
          </p:cNvPr>
          <p:cNvCxnSpPr>
            <a:cxnSpLocks/>
            <a:stCxn id="26" idx="3"/>
            <a:endCxn id="27" idx="1"/>
          </p:cNvCxnSpPr>
          <p:nvPr/>
        </p:nvCxnSpPr>
        <p:spPr>
          <a:xfrm flipV="1">
            <a:off x="6308262" y="2583898"/>
            <a:ext cx="912550" cy="127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030A61A7-0678-47BD-8515-C06AF4450D13}"/>
              </a:ext>
            </a:extLst>
          </p:cNvPr>
          <p:cNvCxnSpPr>
            <a:cxnSpLocks/>
            <a:stCxn id="27" idx="3"/>
            <a:endCxn id="28" idx="1"/>
          </p:cNvCxnSpPr>
          <p:nvPr/>
        </p:nvCxnSpPr>
        <p:spPr>
          <a:xfrm>
            <a:off x="8534070" y="2583898"/>
            <a:ext cx="912549" cy="127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aphicFrame>
        <p:nvGraphicFramePr>
          <p:cNvPr id="40" name="表格 40">
            <a:extLst>
              <a:ext uri="{FF2B5EF4-FFF2-40B4-BE49-F238E27FC236}">
                <a16:creationId xmlns:a16="http://schemas.microsoft.com/office/drawing/2014/main" id="{491FC9A5-3BD3-4279-A60B-587FE2FABE42}"/>
              </a:ext>
            </a:extLst>
          </p:cNvPr>
          <p:cNvGraphicFramePr>
            <a:graphicFrameLocks noGrp="1"/>
          </p:cNvGraphicFramePr>
          <p:nvPr>
            <p:extLst>
              <p:ext uri="{D42A27DB-BD31-4B8C-83A1-F6EECF244321}">
                <p14:modId xmlns:p14="http://schemas.microsoft.com/office/powerpoint/2010/main" val="1276959678"/>
              </p:ext>
            </p:extLst>
          </p:nvPr>
        </p:nvGraphicFramePr>
        <p:xfrm>
          <a:off x="980440" y="3426163"/>
          <a:ext cx="9992360" cy="2865120"/>
        </p:xfrm>
        <a:graphic>
          <a:graphicData uri="http://schemas.openxmlformats.org/drawingml/2006/table">
            <a:tbl>
              <a:tblPr firstRow="1" bandRow="1">
                <a:tableStyleId>{5C22544A-7EE6-4342-B048-85BDC9FD1C3A}</a:tableStyleId>
              </a:tblPr>
              <a:tblGrid>
                <a:gridCol w="1861952">
                  <a:extLst>
                    <a:ext uri="{9D8B030D-6E8A-4147-A177-3AD203B41FA5}">
                      <a16:colId xmlns:a16="http://schemas.microsoft.com/office/drawing/2014/main" val="3506676029"/>
                    </a:ext>
                  </a:extLst>
                </a:gridCol>
                <a:gridCol w="2643766">
                  <a:extLst>
                    <a:ext uri="{9D8B030D-6E8A-4147-A177-3AD203B41FA5}">
                      <a16:colId xmlns:a16="http://schemas.microsoft.com/office/drawing/2014/main" val="1050543052"/>
                    </a:ext>
                  </a:extLst>
                </a:gridCol>
                <a:gridCol w="5486642">
                  <a:extLst>
                    <a:ext uri="{9D8B030D-6E8A-4147-A177-3AD203B41FA5}">
                      <a16:colId xmlns:a16="http://schemas.microsoft.com/office/drawing/2014/main" val="3847723336"/>
                    </a:ext>
                  </a:extLst>
                </a:gridCol>
              </a:tblGrid>
              <a:tr h="370840">
                <a:tc>
                  <a:txBody>
                    <a:bodyPr/>
                    <a:lstStyle/>
                    <a:p>
                      <a:r>
                        <a:rPr lang="zh-CN" altLang="en-US" dirty="0"/>
                        <a:t>步骤</a:t>
                      </a:r>
                    </a:p>
                  </a:txBody>
                  <a:tcPr/>
                </a:tc>
                <a:tc>
                  <a:txBody>
                    <a:bodyPr/>
                    <a:lstStyle/>
                    <a:p>
                      <a:r>
                        <a:rPr lang="zh-CN" altLang="en-US" dirty="0"/>
                        <a:t>方向</a:t>
                      </a:r>
                    </a:p>
                  </a:txBody>
                  <a:tcPr/>
                </a:tc>
                <a:tc>
                  <a:txBody>
                    <a:bodyPr/>
                    <a:lstStyle/>
                    <a:p>
                      <a:r>
                        <a:rPr lang="zh-CN" altLang="en-US" dirty="0"/>
                        <a:t>说明</a:t>
                      </a:r>
                    </a:p>
                  </a:txBody>
                  <a:tcPr/>
                </a:tc>
                <a:extLst>
                  <a:ext uri="{0D108BD9-81ED-4DB2-BD59-A6C34878D82A}">
                    <a16:rowId xmlns:a16="http://schemas.microsoft.com/office/drawing/2014/main" val="4056126862"/>
                  </a:ext>
                </a:extLst>
              </a:tr>
              <a:tr h="370840">
                <a:tc>
                  <a:txBody>
                    <a:bodyPr/>
                    <a:lstStyle/>
                    <a:p>
                      <a:r>
                        <a:rPr lang="zh-CN" altLang="en-US" dirty="0"/>
                        <a:t>① 用户输入</a:t>
                      </a:r>
                    </a:p>
                  </a:txBody>
                  <a:tcPr/>
                </a:tc>
                <a:tc>
                  <a:txBody>
                    <a:bodyPr/>
                    <a:lstStyle/>
                    <a:p>
                      <a:r>
                        <a:rPr lang="en-US" altLang="zh-CN" dirty="0" err="1"/>
                        <a:t>User→Agent</a:t>
                      </a:r>
                      <a:endParaRPr lang="zh-CN" altLang="en-US" dirty="0"/>
                    </a:p>
                  </a:txBody>
                  <a:tcPr/>
                </a:tc>
                <a:tc>
                  <a:txBody>
                    <a:bodyPr/>
                    <a:lstStyle/>
                    <a:p>
                      <a:r>
                        <a:rPr lang="zh-CN" altLang="en-US" dirty="0"/>
                        <a:t>用户通过圈选、语音、草图、文字表达意图</a:t>
                      </a:r>
                    </a:p>
                  </a:txBody>
                  <a:tcPr/>
                </a:tc>
                <a:extLst>
                  <a:ext uri="{0D108BD9-81ED-4DB2-BD59-A6C34878D82A}">
                    <a16:rowId xmlns:a16="http://schemas.microsoft.com/office/drawing/2014/main" val="1517064410"/>
                  </a:ext>
                </a:extLst>
              </a:tr>
              <a:tr h="370840">
                <a:tc>
                  <a:txBody>
                    <a:bodyPr/>
                    <a:lstStyle/>
                    <a:p>
                      <a:r>
                        <a:rPr lang="en-US" altLang="zh-CN" dirty="0"/>
                        <a:t>② Agent</a:t>
                      </a:r>
                      <a:r>
                        <a:rPr lang="zh-CN" altLang="en-US" dirty="0"/>
                        <a:t>理解</a:t>
                      </a:r>
                    </a:p>
                  </a:txBody>
                  <a:tcPr/>
                </a:tc>
                <a:tc>
                  <a:txBody>
                    <a:bodyPr/>
                    <a:lstStyle/>
                    <a:p>
                      <a:r>
                        <a:rPr lang="en-US" altLang="zh-CN" dirty="0"/>
                        <a:t>—</a:t>
                      </a:r>
                      <a:endParaRPr lang="zh-CN" altLang="en-US" dirty="0"/>
                    </a:p>
                  </a:txBody>
                  <a:tcPr/>
                </a:tc>
                <a:tc>
                  <a:txBody>
                    <a:bodyPr/>
                    <a:lstStyle/>
                    <a:p>
                      <a:r>
                        <a:rPr lang="zh-CN" altLang="en-US" dirty="0"/>
                        <a:t>统一多模态模型融合视觉</a:t>
                      </a:r>
                      <a:r>
                        <a:rPr lang="en-US" altLang="zh-CN" dirty="0"/>
                        <a:t>+</a:t>
                      </a:r>
                      <a:r>
                        <a:rPr lang="zh-CN" altLang="en-US" dirty="0"/>
                        <a:t>语音</a:t>
                      </a:r>
                      <a:r>
                        <a:rPr lang="en-US" altLang="zh-CN" dirty="0"/>
                        <a:t>+</a:t>
                      </a:r>
                      <a:r>
                        <a:rPr lang="zh-CN" altLang="en-US" dirty="0"/>
                        <a:t>拓扑特征，理解用户意图</a:t>
                      </a:r>
                    </a:p>
                  </a:txBody>
                  <a:tcPr/>
                </a:tc>
                <a:extLst>
                  <a:ext uri="{0D108BD9-81ED-4DB2-BD59-A6C34878D82A}">
                    <a16:rowId xmlns:a16="http://schemas.microsoft.com/office/drawing/2014/main" val="2510791696"/>
                  </a:ext>
                </a:extLst>
              </a:tr>
              <a:tr h="370840">
                <a:tc>
                  <a:txBody>
                    <a:bodyPr/>
                    <a:lstStyle/>
                    <a:p>
                      <a:r>
                        <a:rPr lang="en-US" altLang="zh-CN" dirty="0"/>
                        <a:t>③ Agent</a:t>
                      </a:r>
                      <a:r>
                        <a:rPr lang="zh-CN" altLang="en-US" dirty="0"/>
                        <a:t>输出</a:t>
                      </a:r>
                    </a:p>
                  </a:txBody>
                  <a:tcPr/>
                </a:tc>
                <a:tc>
                  <a:txBody>
                    <a:bodyPr/>
                    <a:lstStyle/>
                    <a:p>
                      <a:r>
                        <a:rPr lang="en-US" altLang="zh-CN" dirty="0" err="1"/>
                        <a:t>Agent→User</a:t>
                      </a:r>
                      <a:endParaRPr lang="zh-CN" altLang="en-US" dirty="0"/>
                    </a:p>
                  </a:txBody>
                  <a:tcPr/>
                </a:tc>
                <a:tc>
                  <a:txBody>
                    <a:bodyPr/>
                    <a:lstStyle/>
                    <a:p>
                      <a:r>
                        <a:rPr lang="en-US" altLang="zh-CN" dirty="0"/>
                        <a:t>Agent</a:t>
                      </a:r>
                      <a:r>
                        <a:rPr lang="zh-CN" altLang="en-US" dirty="0"/>
                        <a:t>生成图文</a:t>
                      </a:r>
                      <a:r>
                        <a:rPr lang="en-US" altLang="zh-CN" dirty="0"/>
                        <a:t>/</a:t>
                      </a:r>
                      <a:r>
                        <a:rPr lang="zh-CN" altLang="en-US" dirty="0"/>
                        <a:t>高亮</a:t>
                      </a:r>
                      <a:r>
                        <a:rPr lang="en-US" altLang="zh-CN" dirty="0"/>
                        <a:t>/</a:t>
                      </a:r>
                      <a:r>
                        <a:rPr lang="zh-CN" altLang="en-US" dirty="0"/>
                        <a:t>动效预览，向用户解释方案</a:t>
                      </a:r>
                    </a:p>
                  </a:txBody>
                  <a:tcPr/>
                </a:tc>
                <a:extLst>
                  <a:ext uri="{0D108BD9-81ED-4DB2-BD59-A6C34878D82A}">
                    <a16:rowId xmlns:a16="http://schemas.microsoft.com/office/drawing/2014/main" val="3348074954"/>
                  </a:ext>
                </a:extLst>
              </a:tr>
              <a:tr h="370840">
                <a:tc>
                  <a:txBody>
                    <a:bodyPr/>
                    <a:lstStyle/>
                    <a:p>
                      <a:r>
                        <a:rPr lang="zh-CN" altLang="en-US" dirty="0"/>
                        <a:t>④ 用户确认</a:t>
                      </a:r>
                    </a:p>
                  </a:txBody>
                  <a:tcPr/>
                </a:tc>
                <a:tc>
                  <a:txBody>
                    <a:bodyPr/>
                    <a:lstStyle/>
                    <a:p>
                      <a:r>
                        <a:rPr lang="en-US" altLang="zh-CN" dirty="0" err="1"/>
                        <a:t>User→Agent</a:t>
                      </a:r>
                      <a:endParaRPr lang="zh-CN" altLang="en-US" dirty="0"/>
                    </a:p>
                  </a:txBody>
                  <a:tcPr/>
                </a:tc>
                <a:tc>
                  <a:txBody>
                    <a:bodyPr/>
                    <a:lstStyle/>
                    <a:p>
                      <a:r>
                        <a:rPr lang="zh-CN" altLang="en-US" dirty="0"/>
                        <a:t>用户确认或提出修改</a:t>
                      </a:r>
                    </a:p>
                  </a:txBody>
                  <a:tcPr/>
                </a:tc>
                <a:extLst>
                  <a:ext uri="{0D108BD9-81ED-4DB2-BD59-A6C34878D82A}">
                    <a16:rowId xmlns:a16="http://schemas.microsoft.com/office/drawing/2014/main" val="1402249879"/>
                  </a:ext>
                </a:extLst>
              </a:tr>
              <a:tr h="370840">
                <a:tc>
                  <a:txBody>
                    <a:bodyPr/>
                    <a:lstStyle/>
                    <a:p>
                      <a:r>
                        <a:rPr lang="zh-CN" altLang="en-US" dirty="0"/>
                        <a:t>⑤ 执行</a:t>
                      </a:r>
                    </a:p>
                  </a:txBody>
                  <a:tcPr/>
                </a:tc>
                <a:tc>
                  <a:txBody>
                    <a:bodyPr/>
                    <a:lstStyle/>
                    <a:p>
                      <a:r>
                        <a:rPr lang="en-US" altLang="zh-CN" dirty="0" err="1"/>
                        <a:t>Agent→EDA</a:t>
                      </a:r>
                      <a:endParaRPr lang="zh-CN" altLang="en-US" dirty="0"/>
                    </a:p>
                  </a:txBody>
                  <a:tcPr/>
                </a:tc>
                <a:tc>
                  <a:txBody>
                    <a:bodyPr/>
                    <a:lstStyle/>
                    <a:p>
                      <a:r>
                        <a:rPr lang="zh-CN" altLang="en-US" dirty="0"/>
                        <a:t>确认后，</a:t>
                      </a:r>
                      <a:r>
                        <a:rPr lang="en-US" altLang="zh-CN" dirty="0"/>
                        <a:t>Agent</a:t>
                      </a:r>
                      <a:r>
                        <a:rPr lang="zh-CN" altLang="en-US" dirty="0"/>
                        <a:t>将命令下发至</a:t>
                      </a:r>
                      <a:r>
                        <a:rPr lang="en-US" altLang="zh-CN" dirty="0"/>
                        <a:t>EDA</a:t>
                      </a:r>
                      <a:r>
                        <a:rPr lang="zh-CN" altLang="en-US" dirty="0"/>
                        <a:t>工具执行</a:t>
                      </a:r>
                    </a:p>
                  </a:txBody>
                  <a:tcPr/>
                </a:tc>
                <a:extLst>
                  <a:ext uri="{0D108BD9-81ED-4DB2-BD59-A6C34878D82A}">
                    <a16:rowId xmlns:a16="http://schemas.microsoft.com/office/drawing/2014/main" val="2755811903"/>
                  </a:ext>
                </a:extLst>
              </a:tr>
              <a:tr h="370840">
                <a:tc>
                  <a:txBody>
                    <a:bodyPr/>
                    <a:lstStyle/>
                    <a:p>
                      <a:r>
                        <a:rPr lang="zh-CN" altLang="en-US" dirty="0"/>
                        <a:t>⑥ 更新</a:t>
                      </a:r>
                    </a:p>
                  </a:txBody>
                  <a:tcPr/>
                </a:tc>
                <a:tc>
                  <a:txBody>
                    <a:bodyPr/>
                    <a:lstStyle/>
                    <a:p>
                      <a:r>
                        <a:rPr lang="en-US" altLang="zh-CN" dirty="0" err="1"/>
                        <a:t>EDA→Agent→User</a:t>
                      </a:r>
                      <a:endParaRPr lang="zh-CN" altLang="en-US" dirty="0"/>
                    </a:p>
                  </a:txBody>
                  <a:tcPr/>
                </a:tc>
                <a:tc>
                  <a:txBody>
                    <a:bodyPr/>
                    <a:lstStyle/>
                    <a:p>
                      <a:r>
                        <a:rPr lang="zh-CN" altLang="en-US" dirty="0"/>
                        <a:t>执行结果渲染至白板，完成闭环</a:t>
                      </a:r>
                    </a:p>
                  </a:txBody>
                  <a:tcPr/>
                </a:tc>
                <a:extLst>
                  <a:ext uri="{0D108BD9-81ED-4DB2-BD59-A6C34878D82A}">
                    <a16:rowId xmlns:a16="http://schemas.microsoft.com/office/drawing/2014/main" val="2246379762"/>
                  </a:ext>
                </a:extLst>
              </a:tr>
            </a:tbl>
          </a:graphicData>
        </a:graphic>
      </p:graphicFrame>
    </p:spTree>
    <p:extLst>
      <p:ext uri="{BB962C8B-B14F-4D97-AF65-F5344CB8AC3E}">
        <p14:creationId xmlns:p14="http://schemas.microsoft.com/office/powerpoint/2010/main" val="4241643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4</a:t>
            </a:r>
          </a:p>
        </p:txBody>
      </p:sp>
      <p:sp>
        <p:nvSpPr>
          <p:cNvPr id="7" name="TextBox 48"/>
          <p:cNvSpPr txBox="1"/>
          <p:nvPr/>
        </p:nvSpPr>
        <p:spPr>
          <a:xfrm>
            <a:off x="980440" y="223520"/>
            <a:ext cx="4621463"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技术方案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(Technical solution)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10</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50926"/>
            <a:ext cx="11735602" cy="5235382"/>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50000"/>
              </a:lnSpc>
              <a:buNone/>
              <a:defRPr/>
            </a:pPr>
            <a:r>
              <a:rPr lang="zh-CN" altLang="en-US" sz="16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本发明的最重要技术特征：</a:t>
            </a:r>
          </a:p>
          <a:p>
            <a:pPr marL="457200" lvl="0" indent="-457200">
              <a:lnSpc>
                <a:spcPct val="150000"/>
              </a:lnSpc>
              <a:buFont typeface="+mj-lt"/>
              <a:buAutoNum type="arabicPeriod"/>
              <a:defRPr/>
            </a:pP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双向多模态通信：</a:t>
            </a:r>
            <a:r>
              <a:rPr lang="en-US" altLang="zh-CN"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Agent</a:t>
            </a: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不仅能“听懂”用户的圈选和语音，还能“画出”自己的理解向用户解释</a:t>
            </a:r>
            <a:r>
              <a:rPr lang="en-US" altLang="zh-CN"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a:t>
            </a: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实现了</a:t>
            </a:r>
            <a:r>
              <a:rPr lang="en-US" altLang="zh-CN" sz="1400" dirty="0" err="1">
                <a:solidFill>
                  <a:sysClr val="windowText" lastClr="000000"/>
                </a:solidFill>
                <a:latin typeface="arial" panose="020B0604020202020204" pitchFamily="34" charset="0"/>
                <a:ea typeface="等线" panose="02010600030101010101" pitchFamily="2" charset="-122"/>
                <a:cs typeface="arial" panose="020B0604020202020204" pitchFamily="34" charset="0"/>
              </a:rPr>
              <a:t>Agent→User</a:t>
            </a: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方向的高带宽输出。</a:t>
            </a:r>
          </a:p>
          <a:p>
            <a:pPr marL="457200" lvl="0" indent="-457200">
              <a:lnSpc>
                <a:spcPct val="150000"/>
              </a:lnSpc>
              <a:buFont typeface="+mj-lt"/>
              <a:buAutoNum type="arabicPeriod"/>
              <a:defRPr/>
            </a:pP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跨来源信息聚合：白板可同时展示当前版图、</a:t>
            </a:r>
            <a:r>
              <a:rPr lang="en-US" altLang="zh-CN"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TCAD</a:t>
            </a: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仿真图、时序波形图、历史参考设计等多源信息，</a:t>
            </a:r>
            <a:r>
              <a:rPr lang="en-US" altLang="zh-CN"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Agent</a:t>
            </a: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能主动调取相关内容辅助解释。</a:t>
            </a:r>
          </a:p>
          <a:p>
            <a:pPr marL="457200" lvl="0" indent="-457200">
              <a:lnSpc>
                <a:spcPct val="150000"/>
              </a:lnSpc>
              <a:buFont typeface="+mj-lt"/>
              <a:buAutoNum type="arabicPeriod"/>
              <a:defRPr/>
            </a:pP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执行前图文预览：</a:t>
            </a:r>
            <a:r>
              <a:rPr lang="en-US" altLang="zh-CN"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Agent</a:t>
            </a: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的所有修改建议均以“预览”形式呈现在白板上（半透明</a:t>
            </a:r>
            <a:r>
              <a:rPr lang="en-US" altLang="zh-CN"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a:t>
            </a: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虚线），用户确认后方可执行。</a:t>
            </a:r>
          </a:p>
          <a:p>
            <a:pPr marL="457200" lvl="0" indent="-457200">
              <a:lnSpc>
                <a:spcPct val="150000"/>
              </a:lnSpc>
              <a:buFont typeface="+mj-lt"/>
              <a:buAutoNum type="arabicPeriod"/>
              <a:defRPr/>
            </a:pP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统一理解</a:t>
            </a:r>
            <a:r>
              <a:rPr lang="en-US" altLang="zh-CN"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a:t>
            </a: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生成模型：单一多模态</a:t>
            </a:r>
            <a:r>
              <a:rPr lang="en-US" altLang="zh-CN"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LLM</a:t>
            </a:r>
            <a:r>
              <a:rPr lang="zh-CN" altLang="en-US"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rPr>
              <a:t>同时承担“理解用户意图”和“生成多模态输出”两个任务，无需多模型串联。</a:t>
            </a:r>
            <a:endParaRPr lang="en-US" altLang="zh-CN" sz="1400" dirty="0">
              <a:solidFill>
                <a:sysClr val="windowText" lastClr="000000"/>
              </a:solidFill>
              <a:latin typeface="arial" panose="020B0604020202020204" pitchFamily="34" charset="0"/>
              <a:ea typeface="等线" panose="02010600030101010101" pitchFamily="2" charset="-122"/>
              <a:cs typeface="arial" panose="020B0604020202020204" pitchFamily="34" charset="0"/>
            </a:endParaRPr>
          </a:p>
          <a:p>
            <a:pPr marL="0" lvl="0" indent="0">
              <a:lnSpc>
                <a:spcPct val="150000"/>
              </a:lnSpc>
              <a:buNone/>
              <a:defRPr/>
            </a:pPr>
            <a:r>
              <a:rPr kumimoji="0" lang="zh-CN" altLang="en-US" sz="16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克服技术挑战的具体技术手段：</a:t>
            </a:r>
            <a:endParaRPr kumimoji="0" lang="en-US" altLang="zh-CN" sz="16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graphicFrame>
        <p:nvGraphicFramePr>
          <p:cNvPr id="2" name="表格 2">
            <a:extLst>
              <a:ext uri="{FF2B5EF4-FFF2-40B4-BE49-F238E27FC236}">
                <a16:creationId xmlns:a16="http://schemas.microsoft.com/office/drawing/2014/main" id="{6E66CCF3-E373-442F-ACB5-E31D9A600F9A}"/>
              </a:ext>
            </a:extLst>
          </p:cNvPr>
          <p:cNvGraphicFramePr>
            <a:graphicFrameLocks noGrp="1"/>
          </p:cNvGraphicFramePr>
          <p:nvPr>
            <p:extLst>
              <p:ext uri="{D42A27DB-BD31-4B8C-83A1-F6EECF244321}">
                <p14:modId xmlns:p14="http://schemas.microsoft.com/office/powerpoint/2010/main" val="795477755"/>
              </p:ext>
            </p:extLst>
          </p:nvPr>
        </p:nvGraphicFramePr>
        <p:xfrm>
          <a:off x="593441" y="3840480"/>
          <a:ext cx="10982739" cy="2931160"/>
        </p:xfrm>
        <a:graphic>
          <a:graphicData uri="http://schemas.openxmlformats.org/drawingml/2006/table">
            <a:tbl>
              <a:tblPr firstRow="1" bandRow="1">
                <a:tableStyleId>{5C22544A-7EE6-4342-B048-85BDC9FD1C3A}</a:tableStyleId>
              </a:tblPr>
              <a:tblGrid>
                <a:gridCol w="3181739">
                  <a:extLst>
                    <a:ext uri="{9D8B030D-6E8A-4147-A177-3AD203B41FA5}">
                      <a16:colId xmlns:a16="http://schemas.microsoft.com/office/drawing/2014/main" val="2713375813"/>
                    </a:ext>
                  </a:extLst>
                </a:gridCol>
                <a:gridCol w="5561045">
                  <a:extLst>
                    <a:ext uri="{9D8B030D-6E8A-4147-A177-3AD203B41FA5}">
                      <a16:colId xmlns:a16="http://schemas.microsoft.com/office/drawing/2014/main" val="2640570730"/>
                    </a:ext>
                  </a:extLst>
                </a:gridCol>
                <a:gridCol w="2239955">
                  <a:extLst>
                    <a:ext uri="{9D8B030D-6E8A-4147-A177-3AD203B41FA5}">
                      <a16:colId xmlns:a16="http://schemas.microsoft.com/office/drawing/2014/main" val="4075870017"/>
                    </a:ext>
                  </a:extLst>
                </a:gridCol>
              </a:tblGrid>
              <a:tr h="370840">
                <a:tc>
                  <a:txBody>
                    <a:bodyPr/>
                    <a:lstStyle/>
                    <a:p>
                      <a:r>
                        <a:rPr lang="zh-CN" altLang="en-US" dirty="0"/>
                        <a:t>挑战</a:t>
                      </a:r>
                    </a:p>
                  </a:txBody>
                  <a:tcPr/>
                </a:tc>
                <a:tc>
                  <a:txBody>
                    <a:bodyPr/>
                    <a:lstStyle/>
                    <a:p>
                      <a:r>
                        <a:rPr lang="zh-CN" altLang="en-US" dirty="0"/>
                        <a:t>技术手段</a:t>
                      </a:r>
                    </a:p>
                  </a:txBody>
                  <a:tcPr/>
                </a:tc>
                <a:tc>
                  <a:txBody>
                    <a:bodyPr/>
                    <a:lstStyle/>
                    <a:p>
                      <a:r>
                        <a:rPr lang="zh-CN" altLang="en-US" dirty="0"/>
                        <a:t>对应特征</a:t>
                      </a:r>
                    </a:p>
                  </a:txBody>
                  <a:tcPr/>
                </a:tc>
                <a:extLst>
                  <a:ext uri="{0D108BD9-81ED-4DB2-BD59-A6C34878D82A}">
                    <a16:rowId xmlns:a16="http://schemas.microsoft.com/office/drawing/2014/main" val="2866293321"/>
                  </a:ext>
                </a:extLst>
              </a:tr>
              <a:tr h="370840">
                <a:tc>
                  <a:txBody>
                    <a:bodyPr/>
                    <a:lstStyle/>
                    <a:p>
                      <a:r>
                        <a:rPr lang="zh-CN" altLang="en-US" dirty="0"/>
                        <a:t>挑战</a:t>
                      </a:r>
                      <a:r>
                        <a:rPr lang="en-US" altLang="zh-CN" dirty="0"/>
                        <a:t>1</a:t>
                      </a:r>
                      <a:r>
                        <a:rPr lang="zh-CN" altLang="en-US" dirty="0"/>
                        <a:t>：多模态输出生成</a:t>
                      </a:r>
                    </a:p>
                  </a:txBody>
                  <a:tcPr/>
                </a:tc>
                <a:tc>
                  <a:txBody>
                    <a:bodyPr/>
                    <a:lstStyle/>
                    <a:p>
                      <a:r>
                        <a:rPr lang="zh-CN" altLang="en-US" dirty="0"/>
                        <a:t>在</a:t>
                      </a:r>
                      <a:r>
                        <a:rPr lang="en-US" altLang="zh-CN" dirty="0"/>
                        <a:t>LLM</a:t>
                      </a:r>
                      <a:r>
                        <a:rPr lang="zh-CN" altLang="en-US" dirty="0"/>
                        <a:t>输出端扩展视觉解码器，将隐空间向量解码为图像</a:t>
                      </a:r>
                      <a:r>
                        <a:rPr lang="en-US" altLang="zh-CN" dirty="0"/>
                        <a:t>/</a:t>
                      </a:r>
                      <a:r>
                        <a:rPr lang="zh-CN" altLang="en-US" dirty="0"/>
                        <a:t>动效</a:t>
                      </a:r>
                      <a:r>
                        <a:rPr lang="en-US" altLang="zh-CN" dirty="0"/>
                        <a:t>/</a:t>
                      </a:r>
                      <a:r>
                        <a:rPr lang="zh-CN" altLang="en-US" dirty="0"/>
                        <a:t>视频</a:t>
                      </a:r>
                    </a:p>
                  </a:txBody>
                  <a:tcPr/>
                </a:tc>
                <a:tc>
                  <a:txBody>
                    <a:bodyPr/>
                    <a:lstStyle/>
                    <a:p>
                      <a:r>
                        <a:rPr lang="zh-CN" altLang="en-US" dirty="0"/>
                        <a:t>特征</a:t>
                      </a:r>
                      <a:r>
                        <a:rPr lang="en-US" altLang="zh-CN" dirty="0"/>
                        <a:t>1</a:t>
                      </a:r>
                      <a:r>
                        <a:rPr lang="zh-CN" altLang="en-US" dirty="0"/>
                        <a:t>、</a:t>
                      </a:r>
                      <a:r>
                        <a:rPr lang="en-US" altLang="zh-CN" dirty="0"/>
                        <a:t>4</a:t>
                      </a:r>
                      <a:endParaRPr lang="zh-CN" altLang="en-US" dirty="0"/>
                    </a:p>
                  </a:txBody>
                  <a:tcPr/>
                </a:tc>
                <a:extLst>
                  <a:ext uri="{0D108BD9-81ED-4DB2-BD59-A6C34878D82A}">
                    <a16:rowId xmlns:a16="http://schemas.microsoft.com/office/drawing/2014/main" val="2571951006"/>
                  </a:ext>
                </a:extLst>
              </a:tr>
              <a:tr h="370840">
                <a:tc>
                  <a:txBody>
                    <a:bodyPr/>
                    <a:lstStyle/>
                    <a:p>
                      <a:r>
                        <a:rPr lang="zh-CN" altLang="en-US" dirty="0"/>
                        <a:t>挑战</a:t>
                      </a:r>
                      <a:r>
                        <a:rPr lang="en-US" altLang="zh-CN" dirty="0"/>
                        <a:t>2</a:t>
                      </a:r>
                      <a:r>
                        <a:rPr lang="zh-CN" altLang="en-US" dirty="0"/>
                        <a:t>：跨来源信息聚合</a:t>
                      </a:r>
                    </a:p>
                  </a:txBody>
                  <a:tcPr/>
                </a:tc>
                <a:tc>
                  <a:txBody>
                    <a:bodyPr/>
                    <a:lstStyle/>
                    <a:p>
                      <a:r>
                        <a:rPr lang="zh-CN" altLang="en-US" dirty="0"/>
                        <a:t>构建多源数据接口，</a:t>
                      </a:r>
                      <a:r>
                        <a:rPr lang="en-US" altLang="zh-CN" dirty="0"/>
                        <a:t>Agent</a:t>
                      </a:r>
                      <a:r>
                        <a:rPr lang="zh-CN" altLang="en-US" dirty="0"/>
                        <a:t>可根据用户问题自动检索并贴入白板</a:t>
                      </a:r>
                    </a:p>
                  </a:txBody>
                  <a:tcPr/>
                </a:tc>
                <a:tc>
                  <a:txBody>
                    <a:bodyPr/>
                    <a:lstStyle/>
                    <a:p>
                      <a:r>
                        <a:rPr lang="zh-CN" altLang="en-US" dirty="0"/>
                        <a:t>特征</a:t>
                      </a:r>
                      <a:r>
                        <a:rPr lang="en-US" altLang="zh-CN" dirty="0"/>
                        <a:t>2</a:t>
                      </a:r>
                      <a:endParaRPr lang="zh-CN" altLang="en-US" dirty="0"/>
                    </a:p>
                  </a:txBody>
                  <a:tcPr/>
                </a:tc>
                <a:extLst>
                  <a:ext uri="{0D108BD9-81ED-4DB2-BD59-A6C34878D82A}">
                    <a16:rowId xmlns:a16="http://schemas.microsoft.com/office/drawing/2014/main" val="2998831945"/>
                  </a:ext>
                </a:extLst>
              </a:tr>
              <a:tr h="370840">
                <a:tc>
                  <a:txBody>
                    <a:bodyPr/>
                    <a:lstStyle/>
                    <a:p>
                      <a:r>
                        <a:rPr lang="zh-CN" altLang="en-US" dirty="0"/>
                        <a:t>挑战</a:t>
                      </a:r>
                      <a:r>
                        <a:rPr lang="en-US" altLang="zh-CN" dirty="0"/>
                        <a:t>3</a:t>
                      </a:r>
                      <a:r>
                        <a:rPr lang="zh-CN" altLang="en-US" dirty="0"/>
                        <a:t>：执行前确认机制</a:t>
                      </a:r>
                    </a:p>
                  </a:txBody>
                  <a:tcPr/>
                </a:tc>
                <a:tc>
                  <a:txBody>
                    <a:bodyPr/>
                    <a:lstStyle/>
                    <a:p>
                      <a:r>
                        <a:rPr lang="zh-CN" altLang="en-US" dirty="0"/>
                        <a:t>设计“预览→确认→执行”交互流程，预览状态与实体状态分离</a:t>
                      </a:r>
                    </a:p>
                  </a:txBody>
                  <a:tcPr/>
                </a:tc>
                <a:tc>
                  <a:txBody>
                    <a:bodyPr/>
                    <a:lstStyle/>
                    <a:p>
                      <a:r>
                        <a:rPr lang="zh-CN" altLang="en-US" dirty="0"/>
                        <a:t>特征</a:t>
                      </a:r>
                      <a:r>
                        <a:rPr lang="en-US" altLang="zh-CN" dirty="0"/>
                        <a:t>3</a:t>
                      </a:r>
                      <a:endParaRPr lang="zh-CN" altLang="en-US" dirty="0"/>
                    </a:p>
                  </a:txBody>
                  <a:tcPr/>
                </a:tc>
                <a:extLst>
                  <a:ext uri="{0D108BD9-81ED-4DB2-BD59-A6C34878D82A}">
                    <a16:rowId xmlns:a16="http://schemas.microsoft.com/office/drawing/2014/main" val="2405323995"/>
                  </a:ext>
                </a:extLst>
              </a:tr>
              <a:tr h="370840">
                <a:tc>
                  <a:txBody>
                    <a:bodyPr/>
                    <a:lstStyle/>
                    <a:p>
                      <a:r>
                        <a:rPr lang="zh-CN" altLang="en-US" dirty="0"/>
                        <a:t>挑战</a:t>
                      </a:r>
                      <a:r>
                        <a:rPr lang="en-US" altLang="zh-CN" dirty="0"/>
                        <a:t>4</a:t>
                      </a:r>
                      <a:r>
                        <a:rPr lang="zh-CN" altLang="en-US" dirty="0"/>
                        <a:t>：保持设计连续性</a:t>
                      </a:r>
                    </a:p>
                  </a:txBody>
                  <a:tcPr/>
                </a:tc>
                <a:tc>
                  <a:txBody>
                    <a:bodyPr/>
                    <a:lstStyle/>
                    <a:p>
                      <a:r>
                        <a:rPr lang="zh-CN" altLang="en-US" dirty="0"/>
                        <a:t>采用局部扩散生成，仅修改受影响区域，区域外保持不变</a:t>
                      </a:r>
                    </a:p>
                  </a:txBody>
                  <a:tcPr/>
                </a:tc>
                <a:tc>
                  <a:txBody>
                    <a:bodyPr/>
                    <a:lstStyle/>
                    <a:p>
                      <a:r>
                        <a:rPr lang="zh-CN" altLang="en-US" dirty="0"/>
                        <a:t>特征</a:t>
                      </a:r>
                      <a:r>
                        <a:rPr lang="en-US" altLang="zh-CN" dirty="0"/>
                        <a:t>4</a:t>
                      </a:r>
                      <a:endParaRPr lang="zh-CN" altLang="en-US" dirty="0"/>
                    </a:p>
                  </a:txBody>
                  <a:tcPr/>
                </a:tc>
                <a:extLst>
                  <a:ext uri="{0D108BD9-81ED-4DB2-BD59-A6C34878D82A}">
                    <a16:rowId xmlns:a16="http://schemas.microsoft.com/office/drawing/2014/main" val="2719211802"/>
                  </a:ext>
                </a:extLst>
              </a:tr>
            </a:tbl>
          </a:graphicData>
        </a:graphic>
      </p:graphicFrame>
    </p:spTree>
    <p:extLst>
      <p:ext uri="{BB962C8B-B14F-4D97-AF65-F5344CB8AC3E}">
        <p14:creationId xmlns:p14="http://schemas.microsoft.com/office/powerpoint/2010/main" val="1508556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5</a:t>
            </a:r>
          </a:p>
        </p:txBody>
      </p:sp>
      <p:sp>
        <p:nvSpPr>
          <p:cNvPr id="7" name="TextBox 48"/>
          <p:cNvSpPr txBox="1"/>
          <p:nvPr/>
        </p:nvSpPr>
        <p:spPr>
          <a:xfrm>
            <a:off x="980440" y="223520"/>
            <a:ext cx="5458861"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有益效果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(Advantageous effects)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11</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50926"/>
            <a:ext cx="11735602" cy="5235382"/>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50000"/>
              </a:lnSpc>
              <a:buNone/>
              <a:defRPr/>
            </a:pPr>
            <a:r>
              <a:rPr kumimoji="0" lang="zh-CN" altLang="en-US" sz="14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本发明实施后，与现有技术相比具有以下有益效果：</a:t>
            </a:r>
          </a:p>
          <a:p>
            <a:pPr lvl="0">
              <a:lnSpc>
                <a:spcPct val="150000"/>
              </a:lnSpc>
              <a:defRPr/>
            </a:pPr>
            <a:r>
              <a:rPr kumimoji="0" lang="zh-CN" altLang="en-US" sz="14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一、</a:t>
            </a:r>
            <a:r>
              <a:rPr kumimoji="0" lang="en-US" altLang="zh-CN" sz="14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Agent→</a:t>
            </a:r>
            <a:r>
              <a:rPr kumimoji="0" lang="zh-CN" altLang="en-US" sz="14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用户通信带宽大幅提升</a:t>
            </a:r>
          </a:p>
          <a:p>
            <a:pPr lvl="1">
              <a:lnSpc>
                <a:spcPct val="150000"/>
              </a:lnSpc>
              <a:defRPr/>
            </a:pP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Agent</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能以图文、高亮、动效、视频等形式输出信息，替代纯文本回复。源于模型输出端的视觉解码器扩展。以解释时序违因为例：传统需</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500</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字文字描述，本发明一张</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TCAD</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图加红圈标注即可，理解时间从</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60</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秒降至</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5</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秒。</a:t>
            </a:r>
          </a:p>
          <a:p>
            <a:pPr lvl="0">
              <a:lnSpc>
                <a:spcPct val="150000"/>
              </a:lnSpc>
              <a:defRPr/>
            </a:pPr>
            <a:r>
              <a:rPr kumimoji="0" lang="zh-CN" altLang="en-US" sz="14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二、用户信任度提升，沟通轮次减少</a:t>
            </a:r>
          </a:p>
          <a:p>
            <a:pPr lvl="1">
              <a:lnSpc>
                <a:spcPct val="150000"/>
              </a:lnSpc>
              <a:defRPr/>
            </a:pP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用户执行前可通过图文预览充分理解</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Agent</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意图，敢确认、少追问。源于“预览→确认→执行”的交互流程。以局部布局修改为例：传统需</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4-5</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轮文本对话，本发明</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1</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轮预览加确认即可，沟通轮次减少七成。</a:t>
            </a:r>
          </a:p>
          <a:p>
            <a:pPr lvl="0">
              <a:lnSpc>
                <a:spcPct val="150000"/>
              </a:lnSpc>
              <a:defRPr/>
            </a:pPr>
            <a:r>
              <a:rPr kumimoji="0" lang="zh-CN" altLang="en-US" sz="14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三、跨来源信息聚合，根因定位更准</a:t>
            </a:r>
          </a:p>
          <a:p>
            <a:pPr lvl="1">
              <a:lnSpc>
                <a:spcPct val="150000"/>
              </a:lnSpc>
              <a:defRPr/>
            </a:pP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Agent</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可主动调取</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TCAD</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仿真图、时序波形图等信息，在同一白板内完成定位→解释→展示全流程。源于多源数据接口。传统需在</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3-4</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个窗口间手动切换，本发明操作步骤减少八成</a:t>
            </a:r>
            <a:endParaRPr kumimoji="0" lang="zh-CN" altLang="en-US" sz="14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endParaRPr>
          </a:p>
          <a:p>
            <a:pPr lvl="0">
              <a:lnSpc>
                <a:spcPct val="150000"/>
              </a:lnSpc>
              <a:defRPr/>
            </a:pPr>
            <a:r>
              <a:rPr kumimoji="0" lang="zh-CN" altLang="en-US" sz="14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四、设计连续性保持，支持增量迭代</a:t>
            </a:r>
          </a:p>
          <a:p>
            <a:pPr lvl="1">
              <a:lnSpc>
                <a:spcPct val="150000"/>
              </a:lnSpc>
              <a:defRPr/>
            </a:pP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用户可通过手绘草图局部修改</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AI</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生成结果，系统仅重绘受影响区域。源于局部扩散生成机制。以微调布局为例：传统全量重生成需</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30</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秒，本发明仅需</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5</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秒，时间减少八成。</a:t>
            </a:r>
            <a:endParaRPr kumimoji="0" lang="zh-CN" altLang="en-US" sz="14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endParaRPr>
          </a:p>
          <a:p>
            <a:pPr lvl="0">
              <a:lnSpc>
                <a:spcPct val="150000"/>
              </a:lnSpc>
              <a:defRPr/>
            </a:pPr>
            <a:r>
              <a:rPr kumimoji="0" lang="zh-CN" altLang="en-US" sz="14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五、物理规则天然合规，无需事后修复</a:t>
            </a:r>
          </a:p>
          <a:p>
            <a:pPr lvl="1">
              <a:lnSpc>
                <a:spcPct val="150000"/>
              </a:lnSpc>
              <a:defRPr/>
            </a:pP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Agent</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生成布局自动满足设计规则。源于实时</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DRC</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约束解码器。传统</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AI</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方案违规率</a:t>
            </a:r>
            <a:r>
              <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15%-20%</a:t>
            </a:r>
            <a:r>
              <a:rPr kumimoji="0" lang="zh-CN" altLang="en-US"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rPr>
              <a:t>，本发明零违规。</a:t>
            </a:r>
            <a:endParaRPr kumimoji="0" lang="en-US" altLang="zh-CN" sz="1100" b="0" i="0" u="none" strike="noStrike" kern="1200" cap="none" spc="0" normalizeH="0" baseline="0" noProof="0" dirty="0">
              <a:ln>
                <a:noFill/>
              </a:ln>
              <a:solidFill>
                <a:sysClr val="windowText" lastClr="000000"/>
              </a:solidFill>
              <a:effectLst/>
              <a:uLnTx/>
              <a:uFillTx/>
              <a:latin typeface="等线" panose="02010600030101010101" pitchFamily="2" charset="-122"/>
              <a:ea typeface="等线" panose="02010600030101010101" pitchFamily="2" charset="-122"/>
              <a:cs typeface="+mn-cs"/>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Tree>
    <p:extLst>
      <p:ext uri="{BB962C8B-B14F-4D97-AF65-F5344CB8AC3E}">
        <p14:creationId xmlns:p14="http://schemas.microsoft.com/office/powerpoint/2010/main" val="3979941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6</a:t>
            </a:r>
          </a:p>
        </p:txBody>
      </p:sp>
      <p:sp>
        <p:nvSpPr>
          <p:cNvPr id="7" name="TextBox 48"/>
          <p:cNvSpPr txBox="1"/>
          <p:nvPr/>
        </p:nvSpPr>
        <p:spPr>
          <a:xfrm>
            <a:off x="980440" y="223520"/>
            <a:ext cx="6171131"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具体实施方式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(Detailed embodiments)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12</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50926"/>
            <a:ext cx="11716352" cy="871180"/>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arial" panose="020B0604020202020204" pitchFamily="34" charset="0"/>
                <a:ea typeface="等线" panose="02010600030101010101" pitchFamily="2" charset="-122"/>
                <a:cs typeface="arial" panose="020B0604020202020204" pitchFamily="34" charset="0"/>
              </a:rPr>
              <a:t>本发明提供两个最佳实施例，分别对应交互式时序违例分析修复和交互式版图局部微调两个典型场景。两个实施例均基于同一套系统架构（见图</a:t>
            </a:r>
            <a:r>
              <a:rPr lang="en-US" altLang="zh-CN" sz="1800" dirty="0">
                <a:latin typeface="arial" panose="020B0604020202020204" pitchFamily="34" charset="0"/>
                <a:ea typeface="等线" panose="02010600030101010101" pitchFamily="2" charset="-122"/>
                <a:cs typeface="arial" panose="020B0604020202020204" pitchFamily="34" charset="0"/>
              </a:rPr>
              <a:t>1</a:t>
            </a:r>
            <a:r>
              <a:rPr lang="zh-CN" altLang="en-US" sz="1800" dirty="0">
                <a:latin typeface="arial" panose="020B0604020202020204" pitchFamily="34" charset="0"/>
                <a:ea typeface="等线" panose="02010600030101010101" pitchFamily="2" charset="-122"/>
                <a:cs typeface="arial" panose="020B0604020202020204" pitchFamily="34" charset="0"/>
              </a:rPr>
              <a:t>），技术人员按照以下描述无需创造性劳动即可实现。</a:t>
            </a:r>
            <a:endParaRPr lang="en-US" altLang="zh-CN" sz="1800" dirty="0">
              <a:latin typeface="arial" panose="020B0604020202020204" pitchFamily="34" charset="0"/>
              <a:ea typeface="等线" panose="02010600030101010101" pitchFamily="2" charset="-122"/>
              <a:cs typeface="arial" panose="020B0604020202020204" pitchFamily="34" charset="0"/>
            </a:endParaRPr>
          </a:p>
          <a:p>
            <a:pPr marL="0" indent="0">
              <a:lnSpc>
                <a:spcPct val="100000"/>
              </a:lnSpc>
              <a:buNone/>
            </a:pPr>
            <a:endParaRPr lang="en-US" altLang="zh-CN" sz="1800" dirty="0">
              <a:latin typeface="arial" panose="020B0604020202020204" pitchFamily="34" charset="0"/>
              <a:ea typeface="等线" panose="02010600030101010101" pitchFamily="2" charset="-122"/>
              <a:cs typeface="arial" panose="020B0604020202020204" pitchFamily="34" charset="0"/>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
        <p:nvSpPr>
          <p:cNvPr id="17" name="文本框 16">
            <a:extLst>
              <a:ext uri="{FF2B5EF4-FFF2-40B4-BE49-F238E27FC236}">
                <a16:creationId xmlns:a16="http://schemas.microsoft.com/office/drawing/2014/main" id="{F4BB983E-261B-4B8D-A3BC-A80E6FE26F6B}"/>
              </a:ext>
            </a:extLst>
          </p:cNvPr>
          <p:cNvSpPr txBox="1"/>
          <p:nvPr/>
        </p:nvSpPr>
        <p:spPr>
          <a:xfrm>
            <a:off x="228599" y="1928151"/>
            <a:ext cx="11369959" cy="3970318"/>
          </a:xfrm>
          <a:prstGeom prst="rect">
            <a:avLst/>
          </a:prstGeom>
          <a:noFill/>
        </p:spPr>
        <p:txBody>
          <a:bodyPr wrap="square">
            <a:spAutoFit/>
          </a:bodyPr>
          <a:lstStyle/>
          <a:p>
            <a:pPr marL="0" indent="0">
              <a:lnSpc>
                <a:spcPct val="100000"/>
              </a:lnSpc>
              <a:buNone/>
            </a:pPr>
            <a:r>
              <a:rPr lang="zh-CN" altLang="en-US" sz="1800" dirty="0">
                <a:latin typeface="等线" panose="02010600030101010101" pitchFamily="2" charset="-122"/>
                <a:ea typeface="等线" panose="02010600030101010101" pitchFamily="2" charset="-122"/>
              </a:rPr>
              <a:t>第一最佳实施例：交互式时序违例分析修复</a:t>
            </a:r>
            <a:endParaRPr lang="en-US" altLang="zh-CN" sz="1800" dirty="0">
              <a:latin typeface="等线" panose="02010600030101010101" pitchFamily="2" charset="-122"/>
              <a:ea typeface="等线" panose="02010600030101010101" pitchFamily="2" charset="-122"/>
            </a:endParaRPr>
          </a:p>
          <a:p>
            <a:pPr marL="0" indent="0">
              <a:lnSpc>
                <a:spcPct val="100000"/>
              </a:lnSpc>
              <a:buNone/>
            </a:pPr>
            <a:endParaRPr lang="zh-CN" altLang="en-US" sz="1800" dirty="0">
              <a:latin typeface="等线" panose="02010600030101010101" pitchFamily="2" charset="-122"/>
              <a:ea typeface="等线" panose="02010600030101010101" pitchFamily="2" charset="-122"/>
            </a:endParaRPr>
          </a:p>
          <a:p>
            <a:pPr marL="285750" indent="-285750">
              <a:lnSpc>
                <a:spcPct val="100000"/>
              </a:lnSpc>
              <a:buFont typeface="Arial" panose="020B0604020202020204" pitchFamily="34" charset="0"/>
              <a:buChar char="•"/>
            </a:pPr>
            <a:r>
              <a:rPr lang="zh-CN" altLang="en-US" sz="1800" dirty="0">
                <a:latin typeface="等线" panose="02010600030101010101" pitchFamily="2" charset="-122"/>
                <a:ea typeface="等线" panose="02010600030101010101" pitchFamily="2" charset="-122"/>
              </a:rPr>
              <a:t>场景：用户发现某路径时序违例（建立时间</a:t>
            </a:r>
            <a:r>
              <a:rPr lang="en-US" altLang="zh-CN" sz="1800" dirty="0">
                <a:latin typeface="等线" panose="02010600030101010101" pitchFamily="2" charset="-122"/>
                <a:ea typeface="等线" panose="02010600030101010101" pitchFamily="2" charset="-122"/>
              </a:rPr>
              <a:t>-15ps</a:t>
            </a:r>
            <a:r>
              <a:rPr lang="zh-CN" altLang="en-US" sz="1800" dirty="0">
                <a:latin typeface="等线" panose="02010600030101010101" pitchFamily="2" charset="-122"/>
                <a:ea typeface="等线" panose="02010600030101010101" pitchFamily="2" charset="-122"/>
              </a:rPr>
              <a:t>），圈选后语音问原因。</a:t>
            </a:r>
            <a:endParaRPr lang="en-US" altLang="zh-CN" sz="1800" dirty="0">
              <a:latin typeface="等线" panose="02010600030101010101" pitchFamily="2" charset="-122"/>
              <a:ea typeface="等线" panose="02010600030101010101" pitchFamily="2" charset="-122"/>
            </a:endParaRPr>
          </a:p>
          <a:p>
            <a:pPr marL="0" indent="0">
              <a:lnSpc>
                <a:spcPct val="100000"/>
              </a:lnSpc>
              <a:buNone/>
            </a:pPr>
            <a:endParaRPr lang="zh-CN" altLang="en-US" sz="1800" dirty="0">
              <a:latin typeface="等线" panose="02010600030101010101" pitchFamily="2" charset="-122"/>
              <a:ea typeface="等线" panose="02010600030101010101" pitchFamily="2" charset="-122"/>
            </a:endParaRPr>
          </a:p>
          <a:p>
            <a:pPr marL="285750" indent="-285750">
              <a:lnSpc>
                <a:spcPct val="100000"/>
              </a:lnSpc>
              <a:buFont typeface="Arial" panose="020B0604020202020204" pitchFamily="34" charset="0"/>
              <a:buChar char="•"/>
            </a:pPr>
            <a:r>
              <a:rPr lang="zh-CN" altLang="en-US" sz="1800" dirty="0">
                <a:latin typeface="等线" panose="02010600030101010101" pitchFamily="2" charset="-122"/>
                <a:ea typeface="等线" panose="02010600030101010101" pitchFamily="2" charset="-122"/>
              </a:rPr>
              <a:t>步骤：</a:t>
            </a:r>
          </a:p>
          <a:p>
            <a:pPr marL="800100" lvl="1" indent="-342900">
              <a:buFont typeface="+mj-lt"/>
              <a:buAutoNum type="arabicPeriod"/>
            </a:pPr>
            <a:r>
              <a:rPr lang="zh-CN" altLang="en-US" dirty="0">
                <a:latin typeface="等线" panose="02010600030101010101" pitchFamily="2" charset="-122"/>
                <a:ea typeface="等线" panose="02010600030101010101" pitchFamily="2" charset="-122"/>
              </a:rPr>
              <a:t>用户输入：红笔圈选路径 </a:t>
            </a:r>
            <a:r>
              <a:rPr lang="en-US" altLang="zh-CN" dirty="0">
                <a:latin typeface="等线" panose="02010600030101010101" pitchFamily="2" charset="-122"/>
                <a:ea typeface="等线" panose="02010600030101010101" pitchFamily="2" charset="-122"/>
              </a:rPr>
              <a:t>+ </a:t>
            </a:r>
            <a:r>
              <a:rPr lang="zh-CN" altLang="en-US" dirty="0">
                <a:latin typeface="等线" panose="02010600030101010101" pitchFamily="2" charset="-122"/>
                <a:ea typeface="等线" panose="02010600030101010101" pitchFamily="2" charset="-122"/>
              </a:rPr>
              <a:t>语音“分析为什么时序过不去”</a:t>
            </a:r>
          </a:p>
          <a:p>
            <a:pPr marL="800100" lvl="1" indent="-342900">
              <a:buFont typeface="+mj-lt"/>
              <a:buAutoNum type="arabicPeriod"/>
            </a:pPr>
            <a:r>
              <a:rPr lang="en-US" altLang="zh-CN" dirty="0">
                <a:latin typeface="等线" panose="02010600030101010101" pitchFamily="2" charset="-122"/>
                <a:ea typeface="等线" panose="02010600030101010101" pitchFamily="2" charset="-122"/>
              </a:rPr>
              <a:t>Agent</a:t>
            </a:r>
            <a:r>
              <a:rPr lang="zh-CN" altLang="en-US" dirty="0">
                <a:latin typeface="等线" panose="02010600030101010101" pitchFamily="2" charset="-122"/>
                <a:ea typeface="等线" panose="02010600030101010101" pitchFamily="2" charset="-122"/>
              </a:rPr>
              <a:t>理解：模型（</a:t>
            </a:r>
            <a:r>
              <a:rPr lang="en-US" altLang="zh-CN" dirty="0">
                <a:latin typeface="等线" panose="02010600030101010101" pitchFamily="2" charset="-122"/>
                <a:ea typeface="等线" panose="02010600030101010101" pitchFamily="2" charset="-122"/>
              </a:rPr>
              <a:t>7B</a:t>
            </a:r>
            <a:r>
              <a:rPr lang="zh-CN" altLang="en-US" dirty="0">
                <a:latin typeface="等线" panose="02010600030101010101" pitchFamily="2" charset="-122"/>
                <a:ea typeface="等线" panose="02010600030101010101" pitchFamily="2" charset="-122"/>
              </a:rPr>
              <a:t>参数）识别圈选区域为路径</a:t>
            </a:r>
            <a:r>
              <a:rPr lang="en-US" altLang="zh-CN" dirty="0">
                <a:latin typeface="等线" panose="02010600030101010101" pitchFamily="2" charset="-122"/>
                <a:ea typeface="等线" panose="02010600030101010101" pitchFamily="2" charset="-122"/>
              </a:rPr>
              <a:t>PATH_001</a:t>
            </a:r>
            <a:r>
              <a:rPr lang="zh-CN" altLang="en-US" dirty="0">
                <a:latin typeface="等线" panose="02010600030101010101" pitchFamily="2" charset="-122"/>
                <a:ea typeface="等线" panose="02010600030101010101" pitchFamily="2" charset="-122"/>
              </a:rPr>
              <a:t>，语音转文字</a:t>
            </a:r>
          </a:p>
          <a:p>
            <a:pPr marL="800100" lvl="1" indent="-342900">
              <a:buFont typeface="+mj-lt"/>
              <a:buAutoNum type="arabicPeriod"/>
            </a:pPr>
            <a:r>
              <a:rPr lang="en-US" altLang="zh-CN" dirty="0">
                <a:latin typeface="等线" panose="02010600030101010101" pitchFamily="2" charset="-122"/>
                <a:ea typeface="等线" panose="02010600030101010101" pitchFamily="2" charset="-122"/>
              </a:rPr>
              <a:t>Agent</a:t>
            </a:r>
            <a:r>
              <a:rPr lang="zh-CN" altLang="en-US" dirty="0">
                <a:latin typeface="等线" panose="02010600030101010101" pitchFamily="2" charset="-122"/>
                <a:ea typeface="等线" panose="02010600030101010101" pitchFamily="2" charset="-122"/>
              </a:rPr>
              <a:t>输出：自动调取</a:t>
            </a:r>
            <a:r>
              <a:rPr lang="en-US" altLang="zh-CN" dirty="0">
                <a:latin typeface="等线" panose="02010600030101010101" pitchFamily="2" charset="-122"/>
                <a:ea typeface="等线" panose="02010600030101010101" pitchFamily="2" charset="-122"/>
              </a:rPr>
              <a:t>TCAD</a:t>
            </a:r>
            <a:r>
              <a:rPr lang="zh-CN" altLang="en-US" dirty="0">
                <a:latin typeface="等线" panose="02010600030101010101" pitchFamily="2" charset="-122"/>
                <a:ea typeface="等线" panose="02010600030101010101" pitchFamily="2" charset="-122"/>
              </a:rPr>
              <a:t>仿真图，在白板上高亮问题单元（氧化层偏厚</a:t>
            </a:r>
            <a:r>
              <a:rPr lang="en-US" altLang="zh-CN" dirty="0">
                <a:latin typeface="等线" panose="02010600030101010101" pitchFamily="2" charset="-122"/>
                <a:ea typeface="等线" panose="02010600030101010101" pitchFamily="2" charset="-122"/>
              </a:rPr>
              <a:t>3.2nm</a:t>
            </a:r>
            <a:r>
              <a:rPr lang="zh-CN" altLang="en-US" dirty="0">
                <a:latin typeface="等线" panose="02010600030101010101" pitchFamily="2" charset="-122"/>
                <a:ea typeface="等线" panose="02010600030101010101" pitchFamily="2" charset="-122"/>
              </a:rPr>
              <a:t>），文字说明“驱动能力下降</a:t>
            </a:r>
            <a:r>
              <a:rPr lang="en-US" altLang="zh-CN" dirty="0">
                <a:latin typeface="等线" panose="02010600030101010101" pitchFamily="2" charset="-122"/>
                <a:ea typeface="等线" panose="02010600030101010101" pitchFamily="2" charset="-122"/>
              </a:rPr>
              <a:t>18%”</a:t>
            </a:r>
          </a:p>
          <a:p>
            <a:pPr marL="800100" lvl="1" indent="-342900">
              <a:buFont typeface="+mj-lt"/>
              <a:buAutoNum type="arabicPeriod"/>
            </a:pPr>
            <a:r>
              <a:rPr lang="zh-CN" altLang="en-US" dirty="0">
                <a:latin typeface="等线" panose="02010600030101010101" pitchFamily="2" charset="-122"/>
                <a:ea typeface="等线" panose="02010600030101010101" pitchFamily="2" charset="-122"/>
              </a:rPr>
              <a:t>用户确认：语音“按方案优化”</a:t>
            </a:r>
          </a:p>
          <a:p>
            <a:pPr marL="800100" lvl="1" indent="-342900">
              <a:buFont typeface="+mj-lt"/>
              <a:buAutoNum type="arabicPeriod"/>
            </a:pPr>
            <a:r>
              <a:rPr lang="zh-CN" altLang="en-US" dirty="0">
                <a:latin typeface="等线" panose="02010600030101010101" pitchFamily="2" charset="-122"/>
                <a:ea typeface="等线" panose="02010600030101010101" pitchFamily="2" charset="-122"/>
              </a:rPr>
              <a:t>执行：生成替换命令（</a:t>
            </a:r>
            <a:r>
              <a:rPr lang="en-US" altLang="zh-CN" dirty="0">
                <a:latin typeface="等线" panose="02010600030101010101" pitchFamily="2" charset="-122"/>
                <a:ea typeface="等线" panose="02010600030101010101" pitchFamily="2" charset="-122"/>
              </a:rPr>
              <a:t>INV_08→INV_08_HD</a:t>
            </a:r>
            <a:r>
              <a:rPr lang="zh-CN" altLang="en-US" dirty="0">
                <a:latin typeface="等线" panose="02010600030101010101" pitchFamily="2" charset="-122"/>
                <a:ea typeface="等线" panose="02010600030101010101" pitchFamily="2" charset="-122"/>
              </a:rPr>
              <a:t>），</a:t>
            </a:r>
            <a:r>
              <a:rPr lang="en-US" altLang="zh-CN" dirty="0">
                <a:latin typeface="等线" panose="02010600030101010101" pitchFamily="2" charset="-122"/>
                <a:ea typeface="等线" panose="02010600030101010101" pitchFamily="2" charset="-122"/>
              </a:rPr>
              <a:t>DRC</a:t>
            </a:r>
            <a:r>
              <a:rPr lang="zh-CN" altLang="en-US" dirty="0">
                <a:latin typeface="等线" panose="02010600030101010101" pitchFamily="2" charset="-122"/>
                <a:ea typeface="等线" panose="02010600030101010101" pitchFamily="2" charset="-122"/>
              </a:rPr>
              <a:t>校验间距合规后下发</a:t>
            </a:r>
            <a:r>
              <a:rPr lang="en-US" altLang="zh-CN" dirty="0">
                <a:latin typeface="等线" panose="02010600030101010101" pitchFamily="2" charset="-122"/>
                <a:ea typeface="等线" panose="02010600030101010101" pitchFamily="2" charset="-122"/>
              </a:rPr>
              <a:t>EDA</a:t>
            </a:r>
          </a:p>
          <a:p>
            <a:pPr marL="800100" lvl="1" indent="-342900">
              <a:buFont typeface="+mj-lt"/>
              <a:buAutoNum type="arabicPeriod"/>
            </a:pPr>
            <a:r>
              <a:rPr lang="zh-CN" altLang="en-US" dirty="0">
                <a:latin typeface="等线" panose="02010600030101010101" pitchFamily="2" charset="-122"/>
                <a:ea typeface="等线" panose="02010600030101010101" pitchFamily="2" charset="-122"/>
              </a:rPr>
              <a:t>渲染：修改区域绿色闪烁，时序提升至</a:t>
            </a:r>
            <a:r>
              <a:rPr lang="en-US" altLang="zh-CN" dirty="0">
                <a:latin typeface="等线" panose="02010600030101010101" pitchFamily="2" charset="-122"/>
                <a:ea typeface="等线" panose="02010600030101010101" pitchFamily="2" charset="-122"/>
              </a:rPr>
              <a:t>+10ps</a:t>
            </a:r>
          </a:p>
          <a:p>
            <a:pPr marL="0" indent="0">
              <a:lnSpc>
                <a:spcPct val="100000"/>
              </a:lnSpc>
              <a:buNone/>
            </a:pPr>
            <a:endParaRPr lang="en-US" altLang="zh-CN" sz="1800" dirty="0">
              <a:latin typeface="等线" panose="02010600030101010101" pitchFamily="2" charset="-122"/>
              <a:ea typeface="等线" panose="02010600030101010101" pitchFamily="2" charset="-122"/>
            </a:endParaRPr>
          </a:p>
          <a:p>
            <a:pPr marL="285750" indent="-285750">
              <a:lnSpc>
                <a:spcPct val="100000"/>
              </a:lnSpc>
              <a:buFont typeface="Arial" panose="020B0604020202020204" pitchFamily="34" charset="0"/>
              <a:buChar char="•"/>
            </a:pPr>
            <a:r>
              <a:rPr lang="zh-CN" altLang="en-US" sz="1800" dirty="0">
                <a:latin typeface="等线" panose="02010600030101010101" pitchFamily="2" charset="-122"/>
                <a:ea typeface="等线" panose="02010600030101010101" pitchFamily="2" charset="-122"/>
              </a:rPr>
              <a:t>关键参数：圈选采样率</a:t>
            </a:r>
            <a:r>
              <a:rPr lang="en-US" altLang="zh-CN" sz="1800" dirty="0">
                <a:latin typeface="等线" panose="02010600030101010101" pitchFamily="2" charset="-122"/>
                <a:ea typeface="等线" panose="02010600030101010101" pitchFamily="2" charset="-122"/>
              </a:rPr>
              <a:t>100Hz / </a:t>
            </a:r>
            <a:r>
              <a:rPr lang="zh-CN" altLang="en-US" sz="1800" dirty="0">
                <a:latin typeface="等线" panose="02010600030101010101" pitchFamily="2" charset="-122"/>
                <a:ea typeface="等线" panose="02010600030101010101" pitchFamily="2" charset="-122"/>
              </a:rPr>
              <a:t>模型</a:t>
            </a:r>
            <a:r>
              <a:rPr lang="en-US" altLang="zh-CN" sz="1800" dirty="0">
                <a:latin typeface="等线" panose="02010600030101010101" pitchFamily="2" charset="-122"/>
                <a:ea typeface="等线" panose="02010600030101010101" pitchFamily="2" charset="-122"/>
              </a:rPr>
              <a:t>7B / DRC</a:t>
            </a:r>
            <a:r>
              <a:rPr lang="zh-CN" altLang="en-US" sz="1800" dirty="0">
                <a:latin typeface="等线" panose="02010600030101010101" pitchFamily="2" charset="-122"/>
                <a:ea typeface="等线" panose="02010600030101010101" pitchFamily="2" charset="-122"/>
              </a:rPr>
              <a:t>最小间距</a:t>
            </a:r>
            <a:r>
              <a:rPr lang="en-US" altLang="zh-CN" sz="1800" dirty="0">
                <a:latin typeface="等线" panose="02010600030101010101" pitchFamily="2" charset="-122"/>
                <a:ea typeface="等线" panose="02010600030101010101" pitchFamily="2" charset="-122"/>
              </a:rPr>
              <a:t>0.15μm</a:t>
            </a:r>
          </a:p>
        </p:txBody>
      </p:sp>
    </p:spTree>
    <p:extLst>
      <p:ext uri="{BB962C8B-B14F-4D97-AF65-F5344CB8AC3E}">
        <p14:creationId xmlns:p14="http://schemas.microsoft.com/office/powerpoint/2010/main" val="4007307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6</a:t>
            </a:r>
          </a:p>
        </p:txBody>
      </p:sp>
      <p:sp>
        <p:nvSpPr>
          <p:cNvPr id="7" name="TextBox 48"/>
          <p:cNvSpPr txBox="1"/>
          <p:nvPr/>
        </p:nvSpPr>
        <p:spPr>
          <a:xfrm>
            <a:off x="980440" y="223520"/>
            <a:ext cx="6171131"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具体实施方式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(Detailed embodiments)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13</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12" name="内容占位符 2"/>
          <p:cNvSpPr txBox="1">
            <a:spLocks/>
          </p:cNvSpPr>
          <p:nvPr/>
        </p:nvSpPr>
        <p:spPr>
          <a:xfrm>
            <a:off x="228600" y="1050926"/>
            <a:ext cx="11716352" cy="871180"/>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1800" dirty="0">
                <a:latin typeface="arial" panose="020B0604020202020204" pitchFamily="34" charset="0"/>
                <a:ea typeface="等线" panose="02010600030101010101" pitchFamily="2" charset="-122"/>
                <a:cs typeface="arial" panose="020B0604020202020204" pitchFamily="34" charset="0"/>
              </a:rPr>
              <a:t>本发明提供两个最佳实施例，分别对应交互式时序违例分析修复和交互式版图局部微调两个典型场景。两个实施例均基于同一套系统架构（见图</a:t>
            </a:r>
            <a:r>
              <a:rPr lang="en-US" altLang="zh-CN" sz="1800" dirty="0">
                <a:latin typeface="arial" panose="020B0604020202020204" pitchFamily="34" charset="0"/>
                <a:ea typeface="等线" panose="02010600030101010101" pitchFamily="2" charset="-122"/>
                <a:cs typeface="arial" panose="020B0604020202020204" pitchFamily="34" charset="0"/>
              </a:rPr>
              <a:t>1</a:t>
            </a:r>
            <a:r>
              <a:rPr lang="zh-CN" altLang="en-US" sz="1800" dirty="0">
                <a:latin typeface="arial" panose="020B0604020202020204" pitchFamily="34" charset="0"/>
                <a:ea typeface="等线" panose="02010600030101010101" pitchFamily="2" charset="-122"/>
                <a:cs typeface="arial" panose="020B0604020202020204" pitchFamily="34" charset="0"/>
              </a:rPr>
              <a:t>），技术人员按照以下描述无需创造性劳动即可实现。</a:t>
            </a:r>
            <a:endParaRPr lang="en-US" altLang="zh-CN" sz="1800" dirty="0">
              <a:latin typeface="arial" panose="020B0604020202020204" pitchFamily="34" charset="0"/>
              <a:ea typeface="等线" panose="02010600030101010101" pitchFamily="2" charset="-122"/>
              <a:cs typeface="arial" panose="020B0604020202020204" pitchFamily="34" charset="0"/>
            </a:endParaRPr>
          </a:p>
          <a:p>
            <a:pPr marL="0" indent="0">
              <a:lnSpc>
                <a:spcPct val="100000"/>
              </a:lnSpc>
              <a:buNone/>
            </a:pPr>
            <a:endParaRPr lang="en-US" altLang="zh-CN" sz="1800" dirty="0">
              <a:latin typeface="arial" panose="020B0604020202020204" pitchFamily="34" charset="0"/>
              <a:ea typeface="等线" panose="02010600030101010101" pitchFamily="2" charset="-122"/>
              <a:cs typeface="arial" panose="020B0604020202020204" pitchFamily="34" charset="0"/>
            </a:endParaRPr>
          </a:p>
        </p:txBody>
      </p:sp>
      <p:sp>
        <p:nvSpPr>
          <p:cNvPr id="13"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
        <p:nvSpPr>
          <p:cNvPr id="17" name="文本框 16">
            <a:extLst>
              <a:ext uri="{FF2B5EF4-FFF2-40B4-BE49-F238E27FC236}">
                <a16:creationId xmlns:a16="http://schemas.microsoft.com/office/drawing/2014/main" id="{F4BB983E-261B-4B8D-A3BC-A80E6FE26F6B}"/>
              </a:ext>
            </a:extLst>
          </p:cNvPr>
          <p:cNvSpPr txBox="1"/>
          <p:nvPr/>
        </p:nvSpPr>
        <p:spPr>
          <a:xfrm>
            <a:off x="228599" y="1928151"/>
            <a:ext cx="11369959" cy="3416320"/>
          </a:xfrm>
          <a:prstGeom prst="rect">
            <a:avLst/>
          </a:prstGeom>
          <a:noFill/>
        </p:spPr>
        <p:txBody>
          <a:bodyPr wrap="square">
            <a:spAutoFit/>
          </a:bodyPr>
          <a:lstStyle/>
          <a:p>
            <a:pPr marL="0" indent="0">
              <a:lnSpc>
                <a:spcPct val="100000"/>
              </a:lnSpc>
              <a:buNone/>
            </a:pPr>
            <a:r>
              <a:rPr lang="zh-CN" altLang="en-US" sz="1800" dirty="0">
                <a:latin typeface="等线" panose="02010600030101010101" pitchFamily="2" charset="-122"/>
                <a:ea typeface="等线" panose="02010600030101010101" pitchFamily="2" charset="-122"/>
              </a:rPr>
              <a:t>第二最佳实施例：交互式版图局部微调</a:t>
            </a:r>
            <a:endParaRPr lang="en-US" altLang="zh-CN" sz="1800" dirty="0">
              <a:latin typeface="等线" panose="02010600030101010101" pitchFamily="2" charset="-122"/>
              <a:ea typeface="等线" panose="02010600030101010101" pitchFamily="2" charset="-122"/>
            </a:endParaRPr>
          </a:p>
          <a:p>
            <a:pPr marL="0" indent="0">
              <a:lnSpc>
                <a:spcPct val="100000"/>
              </a:lnSpc>
              <a:buNone/>
            </a:pPr>
            <a:endParaRPr lang="zh-CN" altLang="en-US" sz="1800" dirty="0">
              <a:latin typeface="等线" panose="02010600030101010101" pitchFamily="2" charset="-122"/>
              <a:ea typeface="等线" panose="02010600030101010101" pitchFamily="2" charset="-122"/>
            </a:endParaRPr>
          </a:p>
          <a:p>
            <a:pPr marL="285750" indent="-285750">
              <a:lnSpc>
                <a:spcPct val="100000"/>
              </a:lnSpc>
              <a:buFont typeface="Arial" panose="020B0604020202020204" pitchFamily="34" charset="0"/>
              <a:buChar char="•"/>
            </a:pPr>
            <a:r>
              <a:rPr lang="zh-CN" altLang="en-US" sz="1800" dirty="0">
                <a:latin typeface="等线" panose="02010600030101010101" pitchFamily="2" charset="-122"/>
                <a:ea typeface="等线" panose="02010600030101010101" pitchFamily="2" charset="-122"/>
              </a:rPr>
              <a:t>场景：用户对</a:t>
            </a:r>
            <a:r>
              <a:rPr lang="en-US" altLang="zh-CN" sz="1800" dirty="0">
                <a:latin typeface="等线" panose="02010600030101010101" pitchFamily="2" charset="-122"/>
                <a:ea typeface="等线" panose="02010600030101010101" pitchFamily="2" charset="-122"/>
              </a:rPr>
              <a:t>AI</a:t>
            </a:r>
            <a:r>
              <a:rPr lang="zh-CN" altLang="en-US" sz="1800" dirty="0">
                <a:latin typeface="等线" panose="02010600030101010101" pitchFamily="2" charset="-122"/>
                <a:ea typeface="等线" panose="02010600030101010101" pitchFamily="2" charset="-122"/>
              </a:rPr>
              <a:t>生成布局基本满意，希望微调差分对管间距。</a:t>
            </a:r>
          </a:p>
          <a:p>
            <a:pPr marL="0" indent="0">
              <a:lnSpc>
                <a:spcPct val="100000"/>
              </a:lnSpc>
              <a:buNone/>
            </a:pPr>
            <a:endParaRPr lang="zh-CN" altLang="en-US" sz="1800" dirty="0">
              <a:latin typeface="等线" panose="02010600030101010101" pitchFamily="2" charset="-122"/>
              <a:ea typeface="等线" panose="02010600030101010101" pitchFamily="2" charset="-122"/>
            </a:endParaRPr>
          </a:p>
          <a:p>
            <a:pPr marL="285750" indent="-285750">
              <a:lnSpc>
                <a:spcPct val="100000"/>
              </a:lnSpc>
              <a:buFont typeface="Arial" panose="020B0604020202020204" pitchFamily="34" charset="0"/>
              <a:buChar char="•"/>
            </a:pPr>
            <a:r>
              <a:rPr lang="zh-CN" altLang="en-US" sz="1800" dirty="0">
                <a:latin typeface="等线" panose="02010600030101010101" pitchFamily="2" charset="-122"/>
                <a:ea typeface="等线" panose="02010600030101010101" pitchFamily="2" charset="-122"/>
              </a:rPr>
              <a:t>步骤：</a:t>
            </a:r>
          </a:p>
          <a:p>
            <a:pPr marL="800100" lvl="1" indent="-342900">
              <a:buFont typeface="+mj-lt"/>
              <a:buAutoNum type="arabicPeriod"/>
            </a:pPr>
            <a:r>
              <a:rPr lang="zh-CN" altLang="en-US" dirty="0">
                <a:latin typeface="等线" panose="02010600030101010101" pitchFamily="2" charset="-122"/>
                <a:ea typeface="等线" panose="02010600030101010101" pitchFamily="2" charset="-122"/>
              </a:rPr>
              <a:t>用户输入：手画拖拽箭头（</a:t>
            </a:r>
            <a:r>
              <a:rPr lang="en-US" altLang="zh-CN" dirty="0">
                <a:latin typeface="等线" panose="02010600030101010101" pitchFamily="2" charset="-122"/>
                <a:ea typeface="等线" panose="02010600030101010101" pitchFamily="2" charset="-122"/>
              </a:rPr>
              <a:t>M1→M2</a:t>
            </a:r>
            <a:r>
              <a:rPr lang="zh-CN" altLang="en-US" dirty="0">
                <a:latin typeface="等线" panose="02010600030101010101" pitchFamily="2" charset="-122"/>
                <a:ea typeface="等线" panose="02010600030101010101" pitchFamily="2" charset="-122"/>
              </a:rPr>
              <a:t>方向） </a:t>
            </a:r>
            <a:r>
              <a:rPr lang="en-US" altLang="zh-CN" dirty="0">
                <a:latin typeface="等线" panose="02010600030101010101" pitchFamily="2" charset="-122"/>
                <a:ea typeface="等线" panose="02010600030101010101" pitchFamily="2" charset="-122"/>
              </a:rPr>
              <a:t>+ </a:t>
            </a:r>
            <a:r>
              <a:rPr lang="zh-CN" altLang="en-US" dirty="0">
                <a:latin typeface="等线" panose="02010600030101010101" pitchFamily="2" charset="-122"/>
                <a:ea typeface="等线" panose="02010600030101010101" pitchFamily="2" charset="-122"/>
              </a:rPr>
              <a:t>语音“间距加大</a:t>
            </a:r>
            <a:r>
              <a:rPr lang="en-US" altLang="zh-CN" dirty="0">
                <a:latin typeface="等线" panose="02010600030101010101" pitchFamily="2" charset="-122"/>
                <a:ea typeface="等线" panose="02010600030101010101" pitchFamily="2" charset="-122"/>
              </a:rPr>
              <a:t>0.4</a:t>
            </a:r>
            <a:r>
              <a:rPr lang="zh-CN" altLang="en-US" dirty="0">
                <a:latin typeface="等线" panose="02010600030101010101" pitchFamily="2" charset="-122"/>
                <a:ea typeface="等线" panose="02010600030101010101" pitchFamily="2" charset="-122"/>
              </a:rPr>
              <a:t>微米”</a:t>
            </a:r>
          </a:p>
          <a:p>
            <a:pPr marL="800100" lvl="1" indent="-342900">
              <a:buFont typeface="+mj-lt"/>
              <a:buAutoNum type="arabicPeriod"/>
            </a:pPr>
            <a:r>
              <a:rPr lang="en-US" altLang="zh-CN" dirty="0">
                <a:latin typeface="等线" panose="02010600030101010101" pitchFamily="2" charset="-122"/>
                <a:ea typeface="等线" panose="02010600030101010101" pitchFamily="2" charset="-122"/>
              </a:rPr>
              <a:t>Agent</a:t>
            </a:r>
            <a:r>
              <a:rPr lang="zh-CN" altLang="en-US" dirty="0">
                <a:latin typeface="等线" panose="02010600030101010101" pitchFamily="2" charset="-122"/>
                <a:ea typeface="等线" panose="02010600030101010101" pitchFamily="2" charset="-122"/>
              </a:rPr>
              <a:t>理解：识别箭头为平移操作，目标元件</a:t>
            </a:r>
            <a:r>
              <a:rPr lang="en-US" altLang="zh-CN" dirty="0">
                <a:latin typeface="等线" panose="02010600030101010101" pitchFamily="2" charset="-122"/>
                <a:ea typeface="等线" panose="02010600030101010101" pitchFamily="2" charset="-122"/>
              </a:rPr>
              <a:t>M1/M2</a:t>
            </a:r>
            <a:r>
              <a:rPr lang="zh-CN" altLang="en-US" dirty="0">
                <a:latin typeface="等线" panose="02010600030101010101" pitchFamily="2" charset="-122"/>
                <a:ea typeface="等线" panose="02010600030101010101" pitchFamily="2" charset="-122"/>
              </a:rPr>
              <a:t>，当前间距</a:t>
            </a:r>
            <a:r>
              <a:rPr lang="en-US" altLang="zh-CN" dirty="0">
                <a:latin typeface="等线" panose="02010600030101010101" pitchFamily="2" charset="-122"/>
                <a:ea typeface="等线" panose="02010600030101010101" pitchFamily="2" charset="-122"/>
              </a:rPr>
              <a:t>0.8um→</a:t>
            </a:r>
            <a:r>
              <a:rPr lang="zh-CN" altLang="en-US" dirty="0">
                <a:latin typeface="等线" panose="02010600030101010101" pitchFamily="2" charset="-122"/>
                <a:ea typeface="等线" panose="02010600030101010101" pitchFamily="2" charset="-122"/>
              </a:rPr>
              <a:t>目标</a:t>
            </a:r>
            <a:r>
              <a:rPr lang="en-US" altLang="zh-CN" dirty="0">
                <a:latin typeface="等线" panose="02010600030101010101" pitchFamily="2" charset="-122"/>
                <a:ea typeface="等线" panose="02010600030101010101" pitchFamily="2" charset="-122"/>
              </a:rPr>
              <a:t>1.2um</a:t>
            </a:r>
          </a:p>
          <a:p>
            <a:pPr marL="800100" lvl="1" indent="-342900">
              <a:buFont typeface="+mj-lt"/>
              <a:buAutoNum type="arabicPeriod"/>
            </a:pPr>
            <a:r>
              <a:rPr lang="zh-CN" altLang="en-US" dirty="0">
                <a:latin typeface="等线" panose="02010600030101010101" pitchFamily="2" charset="-122"/>
                <a:ea typeface="等线" panose="02010600030101010101" pitchFamily="2" charset="-122"/>
              </a:rPr>
              <a:t>局部重绘：计算受影响区域（</a:t>
            </a:r>
            <a:r>
              <a:rPr lang="en-US" altLang="zh-CN" dirty="0">
                <a:latin typeface="等线" panose="02010600030101010101" pitchFamily="2" charset="-122"/>
                <a:ea typeface="等线" panose="02010600030101010101" pitchFamily="2" charset="-122"/>
              </a:rPr>
              <a:t>18um×16um</a:t>
            </a:r>
            <a:r>
              <a:rPr lang="zh-CN" altLang="en-US" dirty="0">
                <a:latin typeface="等线" panose="02010600030101010101" pitchFamily="2" charset="-122"/>
                <a:ea typeface="等线" panose="02010600030101010101" pitchFamily="2" charset="-122"/>
              </a:rPr>
              <a:t>），扩散模型</a:t>
            </a:r>
            <a:r>
              <a:rPr lang="en-US" altLang="zh-CN" dirty="0">
                <a:latin typeface="等线" panose="02010600030101010101" pitchFamily="2" charset="-122"/>
                <a:ea typeface="等线" panose="02010600030101010101" pitchFamily="2" charset="-122"/>
              </a:rPr>
              <a:t>20</a:t>
            </a:r>
            <a:r>
              <a:rPr lang="zh-CN" altLang="en-US" dirty="0">
                <a:latin typeface="等线" panose="02010600030101010101" pitchFamily="2" charset="-122"/>
                <a:ea typeface="等线" panose="02010600030101010101" pitchFamily="2" charset="-122"/>
              </a:rPr>
              <a:t>步局部重绘（全量需</a:t>
            </a:r>
            <a:r>
              <a:rPr lang="en-US" altLang="zh-CN" dirty="0">
                <a:latin typeface="等线" panose="02010600030101010101" pitchFamily="2" charset="-122"/>
                <a:ea typeface="等线" panose="02010600030101010101" pitchFamily="2" charset="-122"/>
              </a:rPr>
              <a:t>50</a:t>
            </a:r>
            <a:r>
              <a:rPr lang="zh-CN" altLang="en-US" dirty="0">
                <a:latin typeface="等线" panose="02010600030101010101" pitchFamily="2" charset="-122"/>
                <a:ea typeface="等线" panose="02010600030101010101" pitchFamily="2" charset="-122"/>
              </a:rPr>
              <a:t>步）</a:t>
            </a:r>
          </a:p>
          <a:p>
            <a:pPr marL="800100" lvl="1" indent="-342900">
              <a:buFont typeface="+mj-lt"/>
              <a:buAutoNum type="arabicPeriod"/>
            </a:pPr>
            <a:r>
              <a:rPr lang="zh-CN" altLang="en-US" dirty="0">
                <a:latin typeface="等线" panose="02010600030101010101" pitchFamily="2" charset="-122"/>
                <a:ea typeface="等线" panose="02010600030101010101" pitchFamily="2" charset="-122"/>
              </a:rPr>
              <a:t>预览确认：白板显示半透明虚线预览（透明度</a:t>
            </a:r>
            <a:r>
              <a:rPr lang="en-US" altLang="zh-CN" dirty="0">
                <a:latin typeface="等线" panose="02010600030101010101" pitchFamily="2" charset="-122"/>
                <a:ea typeface="等线" panose="02010600030101010101" pitchFamily="2" charset="-122"/>
              </a:rPr>
              <a:t>0.5</a:t>
            </a:r>
            <a:r>
              <a:rPr lang="zh-CN" altLang="en-US" dirty="0">
                <a:latin typeface="等线" panose="02010600030101010101" pitchFamily="2" charset="-122"/>
                <a:ea typeface="等线" panose="02010600030101010101" pitchFamily="2" charset="-122"/>
              </a:rPr>
              <a:t>），用户确认</a:t>
            </a:r>
          </a:p>
          <a:p>
            <a:pPr marL="800100" lvl="1" indent="-342900">
              <a:buFont typeface="+mj-lt"/>
              <a:buAutoNum type="arabicPeriod"/>
            </a:pPr>
            <a:r>
              <a:rPr lang="zh-CN" altLang="en-US" dirty="0">
                <a:latin typeface="等线" panose="02010600030101010101" pitchFamily="2" charset="-122"/>
                <a:ea typeface="等线" panose="02010600030101010101" pitchFamily="2" charset="-122"/>
              </a:rPr>
              <a:t>执行渲染：</a:t>
            </a:r>
            <a:r>
              <a:rPr lang="en-US" altLang="zh-CN" dirty="0">
                <a:latin typeface="等线" panose="02010600030101010101" pitchFamily="2" charset="-122"/>
                <a:ea typeface="等线" panose="02010600030101010101" pitchFamily="2" charset="-122"/>
              </a:rPr>
              <a:t>DRC</a:t>
            </a:r>
            <a:r>
              <a:rPr lang="zh-CN" altLang="en-US" dirty="0">
                <a:latin typeface="等线" panose="02010600030101010101" pitchFamily="2" charset="-122"/>
                <a:ea typeface="等线" panose="02010600030101010101" pitchFamily="2" charset="-122"/>
              </a:rPr>
              <a:t>合规，</a:t>
            </a:r>
            <a:r>
              <a:rPr lang="en-US" altLang="zh-CN" dirty="0">
                <a:latin typeface="等线" panose="02010600030101010101" pitchFamily="2" charset="-122"/>
                <a:ea typeface="等线" panose="02010600030101010101" pitchFamily="2" charset="-122"/>
              </a:rPr>
              <a:t>M2</a:t>
            </a:r>
            <a:r>
              <a:rPr lang="zh-CN" altLang="en-US" dirty="0">
                <a:latin typeface="等线" panose="02010600030101010101" pitchFamily="2" charset="-122"/>
                <a:ea typeface="等线" panose="02010600030101010101" pitchFamily="2" charset="-122"/>
              </a:rPr>
              <a:t>移至新位置，</a:t>
            </a:r>
            <a:r>
              <a:rPr lang="en-US" altLang="zh-CN" dirty="0">
                <a:latin typeface="等线" panose="02010600030101010101" pitchFamily="2" charset="-122"/>
                <a:ea typeface="等线" panose="02010600030101010101" pitchFamily="2" charset="-122"/>
              </a:rPr>
              <a:t>3</a:t>
            </a:r>
            <a:r>
              <a:rPr lang="zh-CN" altLang="en-US" dirty="0">
                <a:latin typeface="等线" panose="02010600030101010101" pitchFamily="2" charset="-122"/>
                <a:ea typeface="等线" panose="02010600030101010101" pitchFamily="2" charset="-122"/>
              </a:rPr>
              <a:t>条金属线自动重连，绿色闪烁</a:t>
            </a:r>
          </a:p>
          <a:p>
            <a:pPr marL="0" indent="0">
              <a:lnSpc>
                <a:spcPct val="100000"/>
              </a:lnSpc>
              <a:buNone/>
            </a:pPr>
            <a:endParaRPr lang="zh-CN" altLang="en-US" sz="1800" dirty="0">
              <a:latin typeface="等线" panose="02010600030101010101" pitchFamily="2" charset="-122"/>
              <a:ea typeface="等线" panose="02010600030101010101" pitchFamily="2" charset="-122"/>
            </a:endParaRPr>
          </a:p>
          <a:p>
            <a:pPr marL="285750" indent="-285750">
              <a:lnSpc>
                <a:spcPct val="100000"/>
              </a:lnSpc>
              <a:buFont typeface="Arial" panose="020B0604020202020204" pitchFamily="34" charset="0"/>
              <a:buChar char="•"/>
            </a:pPr>
            <a:r>
              <a:rPr lang="zh-CN" altLang="en-US" sz="1800" dirty="0">
                <a:latin typeface="等线" panose="02010600030101010101" pitchFamily="2" charset="-122"/>
                <a:ea typeface="等线" panose="02010600030101010101" pitchFamily="2" charset="-122"/>
              </a:rPr>
              <a:t>关键参数：局部扩散</a:t>
            </a:r>
            <a:r>
              <a:rPr lang="en-US" altLang="zh-CN" sz="1800" dirty="0">
                <a:latin typeface="等线" panose="02010600030101010101" pitchFamily="2" charset="-122"/>
                <a:ea typeface="等线" panose="02010600030101010101" pitchFamily="2" charset="-122"/>
              </a:rPr>
              <a:t>20</a:t>
            </a:r>
            <a:r>
              <a:rPr lang="zh-CN" altLang="en-US" sz="1800" dirty="0">
                <a:latin typeface="等线" panose="02010600030101010101" pitchFamily="2" charset="-122"/>
                <a:ea typeface="等线" panose="02010600030101010101" pitchFamily="2" charset="-122"/>
              </a:rPr>
              <a:t>步 </a:t>
            </a:r>
            <a:r>
              <a:rPr lang="en-US" altLang="zh-CN" sz="1800" dirty="0">
                <a:latin typeface="等线" panose="02010600030101010101" pitchFamily="2" charset="-122"/>
                <a:ea typeface="等线" panose="02010600030101010101" pitchFamily="2" charset="-122"/>
              </a:rPr>
              <a:t>/ </a:t>
            </a:r>
            <a:r>
              <a:rPr lang="zh-CN" altLang="en-US" sz="1800" dirty="0">
                <a:latin typeface="等线" panose="02010600030101010101" pitchFamily="2" charset="-122"/>
                <a:ea typeface="等线" panose="02010600030101010101" pitchFamily="2" charset="-122"/>
              </a:rPr>
              <a:t>迭代</a:t>
            </a:r>
            <a:r>
              <a:rPr lang="en-US" altLang="zh-CN" sz="1800" dirty="0">
                <a:latin typeface="等线" panose="02010600030101010101" pitchFamily="2" charset="-122"/>
                <a:ea typeface="等线" panose="02010600030101010101" pitchFamily="2" charset="-122"/>
              </a:rPr>
              <a:t>3</a:t>
            </a:r>
            <a:r>
              <a:rPr lang="zh-CN" altLang="en-US" sz="1800" dirty="0">
                <a:latin typeface="等线" panose="02010600030101010101" pitchFamily="2" charset="-122"/>
                <a:ea typeface="等线" panose="02010600030101010101" pitchFamily="2" charset="-122"/>
              </a:rPr>
              <a:t>次 </a:t>
            </a:r>
            <a:r>
              <a:rPr lang="en-US" altLang="zh-CN" sz="1800" dirty="0">
                <a:latin typeface="等线" panose="02010600030101010101" pitchFamily="2" charset="-122"/>
                <a:ea typeface="等线" panose="02010600030101010101" pitchFamily="2" charset="-122"/>
              </a:rPr>
              <a:t>/ </a:t>
            </a:r>
            <a:r>
              <a:rPr lang="zh-CN" altLang="en-US" sz="1800" dirty="0">
                <a:latin typeface="等线" panose="02010600030101010101" pitchFamily="2" charset="-122"/>
                <a:ea typeface="等线" panose="02010600030101010101" pitchFamily="2" charset="-122"/>
              </a:rPr>
              <a:t>单次耗时约</a:t>
            </a:r>
            <a:r>
              <a:rPr lang="en-US" altLang="zh-CN" sz="1800" dirty="0">
                <a:latin typeface="等线" panose="02010600030101010101" pitchFamily="2" charset="-122"/>
                <a:ea typeface="等线" panose="02010600030101010101" pitchFamily="2" charset="-122"/>
              </a:rPr>
              <a:t>5</a:t>
            </a:r>
            <a:r>
              <a:rPr lang="zh-CN" altLang="en-US" sz="1800" dirty="0">
                <a:latin typeface="等线" panose="02010600030101010101" pitchFamily="2" charset="-122"/>
                <a:ea typeface="等线" panose="02010600030101010101" pitchFamily="2" charset="-122"/>
              </a:rPr>
              <a:t>秒</a:t>
            </a:r>
            <a:endParaRPr lang="en-US" altLang="zh-CN" sz="1800" dirty="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44311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7</a:t>
            </a:r>
          </a:p>
        </p:txBody>
      </p:sp>
      <p:sp>
        <p:nvSpPr>
          <p:cNvPr id="7" name="TextBox 48"/>
          <p:cNvSpPr txBox="1"/>
          <p:nvPr/>
        </p:nvSpPr>
        <p:spPr>
          <a:xfrm>
            <a:off x="980440" y="223520"/>
            <a:ext cx="6132629"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附图与说明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(Figures and description)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14</a:t>
            </a:fld>
            <a:endParaRPr kumimoji="1" lang="zh-CN" altLang="en-US" dirty="0"/>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26"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graphicFrame>
        <p:nvGraphicFramePr>
          <p:cNvPr id="2" name="表格 2">
            <a:extLst>
              <a:ext uri="{FF2B5EF4-FFF2-40B4-BE49-F238E27FC236}">
                <a16:creationId xmlns:a16="http://schemas.microsoft.com/office/drawing/2014/main" id="{701305E2-2142-4655-A6F6-437690EE358E}"/>
              </a:ext>
            </a:extLst>
          </p:cNvPr>
          <p:cNvGraphicFramePr>
            <a:graphicFrameLocks noGrp="1"/>
          </p:cNvGraphicFramePr>
          <p:nvPr>
            <p:extLst>
              <p:ext uri="{D42A27DB-BD31-4B8C-83A1-F6EECF244321}">
                <p14:modId xmlns:p14="http://schemas.microsoft.com/office/powerpoint/2010/main" val="754271672"/>
              </p:ext>
            </p:extLst>
          </p:nvPr>
        </p:nvGraphicFramePr>
        <p:xfrm>
          <a:off x="1640115" y="1547256"/>
          <a:ext cx="8127999" cy="21234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92103162"/>
                    </a:ext>
                  </a:extLst>
                </a:gridCol>
                <a:gridCol w="2709333">
                  <a:extLst>
                    <a:ext uri="{9D8B030D-6E8A-4147-A177-3AD203B41FA5}">
                      <a16:colId xmlns:a16="http://schemas.microsoft.com/office/drawing/2014/main" val="1105986770"/>
                    </a:ext>
                  </a:extLst>
                </a:gridCol>
                <a:gridCol w="2709333">
                  <a:extLst>
                    <a:ext uri="{9D8B030D-6E8A-4147-A177-3AD203B41FA5}">
                      <a16:colId xmlns:a16="http://schemas.microsoft.com/office/drawing/2014/main" val="2373301983"/>
                    </a:ext>
                  </a:extLst>
                </a:gridCol>
              </a:tblGrid>
              <a:tr h="370840">
                <a:tc>
                  <a:txBody>
                    <a:bodyPr/>
                    <a:lstStyle/>
                    <a:p>
                      <a:r>
                        <a:rPr lang="zh-CN" altLang="en-US" dirty="0"/>
                        <a:t>图号</a:t>
                      </a:r>
                    </a:p>
                  </a:txBody>
                  <a:tcPr/>
                </a:tc>
                <a:tc>
                  <a:txBody>
                    <a:bodyPr/>
                    <a:lstStyle/>
                    <a:p>
                      <a:r>
                        <a:rPr lang="zh-CN" altLang="en-US" dirty="0"/>
                        <a:t>内容</a:t>
                      </a:r>
                    </a:p>
                  </a:txBody>
                  <a:tcPr/>
                </a:tc>
                <a:tc>
                  <a:txBody>
                    <a:bodyPr/>
                    <a:lstStyle/>
                    <a:p>
                      <a:r>
                        <a:rPr lang="zh-CN" altLang="en-US" dirty="0"/>
                        <a:t>对应步骤</a:t>
                      </a:r>
                    </a:p>
                  </a:txBody>
                  <a:tcPr/>
                </a:tc>
                <a:extLst>
                  <a:ext uri="{0D108BD9-81ED-4DB2-BD59-A6C34878D82A}">
                    <a16:rowId xmlns:a16="http://schemas.microsoft.com/office/drawing/2014/main" val="665159575"/>
                  </a:ext>
                </a:extLst>
              </a:tr>
              <a:tr h="370840">
                <a:tc>
                  <a:txBody>
                    <a:bodyPr/>
                    <a:lstStyle/>
                    <a:p>
                      <a:r>
                        <a:rPr lang="zh-CN" altLang="en-US" dirty="0"/>
                        <a:t>图</a:t>
                      </a:r>
                      <a:r>
                        <a:rPr lang="en-US" altLang="zh-CN" dirty="0"/>
                        <a:t>1</a:t>
                      </a:r>
                      <a:endParaRPr lang="zh-CN" altLang="en-US" dirty="0"/>
                    </a:p>
                  </a:txBody>
                  <a:tcPr/>
                </a:tc>
                <a:tc>
                  <a:txBody>
                    <a:bodyPr/>
                    <a:lstStyle/>
                    <a:p>
                      <a:r>
                        <a:rPr lang="zh-CN" altLang="en-US" dirty="0"/>
                        <a:t>系统架构图</a:t>
                      </a:r>
                    </a:p>
                  </a:txBody>
                  <a:tcPr/>
                </a:tc>
                <a:tc>
                  <a:txBody>
                    <a:bodyPr/>
                    <a:lstStyle/>
                    <a:p>
                      <a:r>
                        <a:rPr lang="zh-CN" altLang="en-US" dirty="0"/>
                        <a:t>两个实施例均适用</a:t>
                      </a:r>
                    </a:p>
                  </a:txBody>
                  <a:tcPr/>
                </a:tc>
                <a:extLst>
                  <a:ext uri="{0D108BD9-81ED-4DB2-BD59-A6C34878D82A}">
                    <a16:rowId xmlns:a16="http://schemas.microsoft.com/office/drawing/2014/main" val="3622956974"/>
                  </a:ext>
                </a:extLst>
              </a:tr>
              <a:tr h="370840">
                <a:tc>
                  <a:txBody>
                    <a:bodyPr/>
                    <a:lstStyle/>
                    <a:p>
                      <a:r>
                        <a:rPr lang="zh-CN" altLang="en-US" dirty="0"/>
                        <a:t>图</a:t>
                      </a:r>
                      <a:r>
                        <a:rPr lang="en-US" altLang="zh-CN" dirty="0"/>
                        <a:t>2</a:t>
                      </a:r>
                      <a:endParaRPr lang="zh-CN" altLang="en-US" dirty="0"/>
                    </a:p>
                  </a:txBody>
                  <a:tcPr/>
                </a:tc>
                <a:tc>
                  <a:txBody>
                    <a:bodyPr/>
                    <a:lstStyle/>
                    <a:p>
                      <a:r>
                        <a:rPr lang="zh-CN" altLang="en-US" dirty="0"/>
                        <a:t>交互白板界面</a:t>
                      </a:r>
                    </a:p>
                  </a:txBody>
                  <a:tcPr/>
                </a:tc>
                <a:tc>
                  <a:txBody>
                    <a:bodyPr/>
                    <a:lstStyle/>
                    <a:p>
                      <a:r>
                        <a:rPr lang="zh-CN" altLang="en-US" dirty="0"/>
                        <a:t>实施例一步骤</a:t>
                      </a:r>
                      <a:r>
                        <a:rPr lang="en-US" altLang="zh-CN" dirty="0"/>
                        <a:t>3</a:t>
                      </a:r>
                      <a:r>
                        <a:rPr lang="zh-CN" altLang="en-US" dirty="0"/>
                        <a:t>（</a:t>
                      </a:r>
                      <a:r>
                        <a:rPr lang="en-US" altLang="zh-CN" dirty="0"/>
                        <a:t>TCAD</a:t>
                      </a:r>
                      <a:r>
                        <a:rPr lang="zh-CN" altLang="en-US" dirty="0"/>
                        <a:t>图贴入）</a:t>
                      </a:r>
                    </a:p>
                  </a:txBody>
                  <a:tcPr/>
                </a:tc>
                <a:extLst>
                  <a:ext uri="{0D108BD9-81ED-4DB2-BD59-A6C34878D82A}">
                    <a16:rowId xmlns:a16="http://schemas.microsoft.com/office/drawing/2014/main" val="2273067228"/>
                  </a:ext>
                </a:extLst>
              </a:tr>
              <a:tr h="370840">
                <a:tc>
                  <a:txBody>
                    <a:bodyPr/>
                    <a:lstStyle/>
                    <a:p>
                      <a:r>
                        <a:rPr lang="zh-CN" altLang="en-US" dirty="0"/>
                        <a:t>图</a:t>
                      </a:r>
                      <a:r>
                        <a:rPr lang="en-US" altLang="zh-CN" dirty="0"/>
                        <a:t>3</a:t>
                      </a:r>
                      <a:endParaRPr lang="zh-CN" altLang="en-US" dirty="0"/>
                    </a:p>
                  </a:txBody>
                  <a:tcPr/>
                </a:tc>
                <a:tc>
                  <a:txBody>
                    <a:bodyPr/>
                    <a:lstStyle/>
                    <a:p>
                      <a:r>
                        <a:rPr lang="zh-CN" altLang="en-US" dirty="0"/>
                        <a:t>时序违例分析流程图</a:t>
                      </a:r>
                    </a:p>
                  </a:txBody>
                  <a:tcPr/>
                </a:tc>
                <a:tc>
                  <a:txBody>
                    <a:bodyPr/>
                    <a:lstStyle/>
                    <a:p>
                      <a:r>
                        <a:rPr lang="zh-CN" altLang="en-US" dirty="0"/>
                        <a:t>实施例一</a:t>
                      </a:r>
                    </a:p>
                  </a:txBody>
                  <a:tcPr/>
                </a:tc>
                <a:extLst>
                  <a:ext uri="{0D108BD9-81ED-4DB2-BD59-A6C34878D82A}">
                    <a16:rowId xmlns:a16="http://schemas.microsoft.com/office/drawing/2014/main" val="3929708030"/>
                  </a:ext>
                </a:extLst>
              </a:tr>
              <a:tr h="370840">
                <a:tc>
                  <a:txBody>
                    <a:bodyPr/>
                    <a:lstStyle/>
                    <a:p>
                      <a:r>
                        <a:rPr lang="zh-CN" altLang="en-US" dirty="0"/>
                        <a:t>图</a:t>
                      </a:r>
                      <a:r>
                        <a:rPr lang="en-US" altLang="zh-CN" dirty="0"/>
                        <a:t>4</a:t>
                      </a:r>
                      <a:endParaRPr lang="zh-CN" altLang="en-US" dirty="0"/>
                    </a:p>
                  </a:txBody>
                  <a:tcPr/>
                </a:tc>
                <a:tc>
                  <a:txBody>
                    <a:bodyPr/>
                    <a:lstStyle/>
                    <a:p>
                      <a:r>
                        <a:rPr lang="zh-CN" altLang="en-US" dirty="0"/>
                        <a:t>局部扩散重绘流程图</a:t>
                      </a:r>
                    </a:p>
                  </a:txBody>
                  <a:tcPr/>
                </a:tc>
                <a:tc>
                  <a:txBody>
                    <a:bodyPr/>
                    <a:lstStyle/>
                    <a:p>
                      <a:r>
                        <a:rPr lang="zh-CN" altLang="en-US" dirty="0"/>
                        <a:t>实施例二</a:t>
                      </a:r>
                    </a:p>
                  </a:txBody>
                  <a:tcPr/>
                </a:tc>
                <a:extLst>
                  <a:ext uri="{0D108BD9-81ED-4DB2-BD59-A6C34878D82A}">
                    <a16:rowId xmlns:a16="http://schemas.microsoft.com/office/drawing/2014/main" val="2364682511"/>
                  </a:ext>
                </a:extLst>
              </a:tr>
            </a:tbl>
          </a:graphicData>
        </a:graphic>
      </p:graphicFrame>
    </p:spTree>
    <p:extLst>
      <p:ext uri="{BB962C8B-B14F-4D97-AF65-F5344CB8AC3E}">
        <p14:creationId xmlns:p14="http://schemas.microsoft.com/office/powerpoint/2010/main" val="498236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7</a:t>
            </a:r>
          </a:p>
        </p:txBody>
      </p:sp>
      <p:sp>
        <p:nvSpPr>
          <p:cNvPr id="7" name="TextBox 48"/>
          <p:cNvSpPr txBox="1"/>
          <p:nvPr/>
        </p:nvSpPr>
        <p:spPr>
          <a:xfrm>
            <a:off x="980440" y="223520"/>
            <a:ext cx="6132629"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附图与说明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(Figures and description)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15</a:t>
            </a:fld>
            <a:endParaRPr kumimoji="1" lang="zh-CN" altLang="en-US" dirty="0"/>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26"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pic>
        <p:nvPicPr>
          <p:cNvPr id="4" name="图片 3">
            <a:extLst>
              <a:ext uri="{FF2B5EF4-FFF2-40B4-BE49-F238E27FC236}">
                <a16:creationId xmlns:a16="http://schemas.microsoft.com/office/drawing/2014/main" id="{64B4ACCF-4819-4D34-890F-7679AB3EDB08}"/>
              </a:ext>
            </a:extLst>
          </p:cNvPr>
          <p:cNvPicPr>
            <a:picLocks noChangeAspect="1"/>
          </p:cNvPicPr>
          <p:nvPr/>
        </p:nvPicPr>
        <p:blipFill>
          <a:blip r:embed="rId6"/>
          <a:stretch>
            <a:fillRect/>
          </a:stretch>
        </p:blipFill>
        <p:spPr>
          <a:xfrm>
            <a:off x="-94" y="985759"/>
            <a:ext cx="12192000" cy="4329723"/>
          </a:xfrm>
          <a:prstGeom prst="rect">
            <a:avLst/>
          </a:prstGeom>
        </p:spPr>
      </p:pic>
      <p:sp>
        <p:nvSpPr>
          <p:cNvPr id="17" name="文本框 16">
            <a:extLst>
              <a:ext uri="{FF2B5EF4-FFF2-40B4-BE49-F238E27FC236}">
                <a16:creationId xmlns:a16="http://schemas.microsoft.com/office/drawing/2014/main" id="{4507B0B8-B15F-469F-B942-4F87F7142917}"/>
              </a:ext>
            </a:extLst>
          </p:cNvPr>
          <p:cNvSpPr txBox="1"/>
          <p:nvPr/>
        </p:nvSpPr>
        <p:spPr>
          <a:xfrm>
            <a:off x="300895" y="5381258"/>
            <a:ext cx="11595635" cy="1200329"/>
          </a:xfrm>
          <a:prstGeom prst="rect">
            <a:avLst/>
          </a:prstGeom>
          <a:noFill/>
        </p:spPr>
        <p:txBody>
          <a:bodyPr wrap="square">
            <a:spAutoFit/>
          </a:bodyPr>
          <a:lstStyle/>
          <a:p>
            <a:r>
              <a:rPr lang="zh-CN" altLang="en-US" dirty="0"/>
              <a:t>图1 本发明系统架构图，展示四层结构：用户与交互白板双向通信，白板将多模态指令送入统一多模态大模型（核心层），模型输出JSON命令经EDA映射层转为可执行脚本，渲染层将执行结果更新至白板；同时模型可直接向白板输出图文/动效预览，实现执行前确认。</a:t>
            </a:r>
          </a:p>
          <a:p>
            <a:endParaRPr lang="zh-CN" altLang="en-US" dirty="0"/>
          </a:p>
        </p:txBody>
      </p:sp>
    </p:spTree>
    <p:extLst>
      <p:ext uri="{BB962C8B-B14F-4D97-AF65-F5344CB8AC3E}">
        <p14:creationId xmlns:p14="http://schemas.microsoft.com/office/powerpoint/2010/main" val="3546378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7</a:t>
            </a:r>
          </a:p>
        </p:txBody>
      </p:sp>
      <p:sp>
        <p:nvSpPr>
          <p:cNvPr id="7" name="TextBox 48"/>
          <p:cNvSpPr txBox="1"/>
          <p:nvPr/>
        </p:nvSpPr>
        <p:spPr>
          <a:xfrm>
            <a:off x="980440" y="223520"/>
            <a:ext cx="6132629"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附图与说明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(Figures and description)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16</a:t>
            </a:fld>
            <a:endParaRPr kumimoji="1" lang="zh-CN" altLang="en-US" dirty="0"/>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26"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pic>
        <p:nvPicPr>
          <p:cNvPr id="4" name="图片 3">
            <a:extLst>
              <a:ext uri="{FF2B5EF4-FFF2-40B4-BE49-F238E27FC236}">
                <a16:creationId xmlns:a16="http://schemas.microsoft.com/office/drawing/2014/main" id="{4FABAFE2-1EBC-4D48-B7CC-6EC66B5267BB}"/>
              </a:ext>
            </a:extLst>
          </p:cNvPr>
          <p:cNvPicPr>
            <a:picLocks noChangeAspect="1"/>
          </p:cNvPicPr>
          <p:nvPr/>
        </p:nvPicPr>
        <p:blipFill>
          <a:blip r:embed="rId6"/>
          <a:stretch>
            <a:fillRect/>
          </a:stretch>
        </p:blipFill>
        <p:spPr>
          <a:xfrm>
            <a:off x="2987886" y="985759"/>
            <a:ext cx="6216228" cy="4347499"/>
          </a:xfrm>
          <a:prstGeom prst="rect">
            <a:avLst/>
          </a:prstGeom>
        </p:spPr>
      </p:pic>
      <p:sp>
        <p:nvSpPr>
          <p:cNvPr id="17" name="文本框 16">
            <a:extLst>
              <a:ext uri="{FF2B5EF4-FFF2-40B4-BE49-F238E27FC236}">
                <a16:creationId xmlns:a16="http://schemas.microsoft.com/office/drawing/2014/main" id="{63AC891A-65DF-4A9A-B16B-FEAE8F63FFAB}"/>
              </a:ext>
            </a:extLst>
          </p:cNvPr>
          <p:cNvSpPr txBox="1"/>
          <p:nvPr/>
        </p:nvSpPr>
        <p:spPr>
          <a:xfrm>
            <a:off x="3098500" y="5250039"/>
            <a:ext cx="6106884" cy="1200329"/>
          </a:xfrm>
          <a:prstGeom prst="rect">
            <a:avLst/>
          </a:prstGeom>
          <a:noFill/>
        </p:spPr>
        <p:txBody>
          <a:bodyPr wrap="square">
            <a:spAutoFit/>
          </a:bodyPr>
          <a:lstStyle/>
          <a:p>
            <a:r>
              <a:rPr lang="zh-CN" altLang="en-US" dirty="0"/>
              <a:t>图2 交互白板界面布局示意图，主画布区域位于窗口中央用于显示版图或原理图，对话气泡区位于右侧展示Agent的文字解释，工具条包含语音输入按钮和确认/拒绝按钮，用户可在此界面完成圈选、语音、确认等交互操作。</a:t>
            </a:r>
          </a:p>
        </p:txBody>
      </p:sp>
    </p:spTree>
    <p:extLst>
      <p:ext uri="{BB962C8B-B14F-4D97-AF65-F5344CB8AC3E}">
        <p14:creationId xmlns:p14="http://schemas.microsoft.com/office/powerpoint/2010/main" val="3587726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180D64C-E7BE-4A48-85E2-9B36BEC5AD58}"/>
              </a:ext>
            </a:extLst>
          </p:cNvPr>
          <p:cNvPicPr>
            <a:picLocks noChangeAspect="1"/>
          </p:cNvPicPr>
          <p:nvPr/>
        </p:nvPicPr>
        <p:blipFill>
          <a:blip r:embed="rId3"/>
          <a:stretch>
            <a:fillRect/>
          </a:stretch>
        </p:blipFill>
        <p:spPr>
          <a:xfrm>
            <a:off x="1367797" y="505460"/>
            <a:ext cx="4247322" cy="6138065"/>
          </a:xfrm>
          <a:prstGeom prst="rect">
            <a:avLst/>
          </a:prstGeom>
        </p:spPr>
      </p:pic>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7</a:t>
            </a:r>
          </a:p>
        </p:txBody>
      </p:sp>
      <p:sp>
        <p:nvSpPr>
          <p:cNvPr id="7" name="TextBox 48"/>
          <p:cNvSpPr txBox="1"/>
          <p:nvPr/>
        </p:nvSpPr>
        <p:spPr>
          <a:xfrm>
            <a:off x="980440" y="223520"/>
            <a:ext cx="6132629"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附图与说明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(Figures and description)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5"/>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17</a:t>
            </a:fld>
            <a:endParaRPr kumimoji="1" lang="zh-CN" altLang="en-US" dirty="0"/>
          </a:p>
        </p:txBody>
      </p:sp>
      <p:pic>
        <p:nvPicPr>
          <p:cNvPr id="15" name="图片 14" descr="777"/>
          <p:cNvPicPr>
            <a:picLocks noChangeAspect="1"/>
          </p:cNvPicPr>
          <p:nvPr/>
        </p:nvPicPr>
        <p:blipFill>
          <a:blip r:embed="rId6"/>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26"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
        <p:nvSpPr>
          <p:cNvPr id="17" name="文本框 16">
            <a:extLst>
              <a:ext uri="{FF2B5EF4-FFF2-40B4-BE49-F238E27FC236}">
                <a16:creationId xmlns:a16="http://schemas.microsoft.com/office/drawing/2014/main" id="{54B025EE-9811-4CFB-A96A-79C993F73408}"/>
              </a:ext>
            </a:extLst>
          </p:cNvPr>
          <p:cNvSpPr txBox="1"/>
          <p:nvPr/>
        </p:nvSpPr>
        <p:spPr>
          <a:xfrm>
            <a:off x="5668556" y="1227176"/>
            <a:ext cx="6106884" cy="738664"/>
          </a:xfrm>
          <a:prstGeom prst="rect">
            <a:avLst/>
          </a:prstGeom>
          <a:noFill/>
        </p:spPr>
        <p:txBody>
          <a:bodyPr wrap="square">
            <a:spAutoFit/>
          </a:bodyPr>
          <a:lstStyle/>
          <a:p>
            <a:r>
              <a:rPr lang="zh-CN" altLang="en-US" sz="1400" dirty="0"/>
              <a:t>图3 用户圈选时序违例路径后，Agent自动调取时序报告和TCAD仿真图，以图文形式向用户解释问题根因，用户确认后Agent执行优化并更新版图的完整流程。</a:t>
            </a:r>
          </a:p>
        </p:txBody>
      </p:sp>
    </p:spTree>
    <p:extLst>
      <p:ext uri="{BB962C8B-B14F-4D97-AF65-F5344CB8AC3E}">
        <p14:creationId xmlns:p14="http://schemas.microsoft.com/office/powerpoint/2010/main" val="3451734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6DF24A7-52FB-4946-8A7A-3E000FDD2FC8}"/>
              </a:ext>
            </a:extLst>
          </p:cNvPr>
          <p:cNvPicPr>
            <a:picLocks noChangeAspect="1"/>
          </p:cNvPicPr>
          <p:nvPr/>
        </p:nvPicPr>
        <p:blipFill>
          <a:blip r:embed="rId3"/>
          <a:stretch>
            <a:fillRect/>
          </a:stretch>
        </p:blipFill>
        <p:spPr>
          <a:xfrm>
            <a:off x="411386" y="525784"/>
            <a:ext cx="4565415" cy="6332216"/>
          </a:xfrm>
          <a:prstGeom prst="rect">
            <a:avLst/>
          </a:prstGeom>
        </p:spPr>
      </p:pic>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7</a:t>
            </a:r>
          </a:p>
        </p:txBody>
      </p:sp>
      <p:sp>
        <p:nvSpPr>
          <p:cNvPr id="7" name="TextBox 48"/>
          <p:cNvSpPr txBox="1"/>
          <p:nvPr/>
        </p:nvSpPr>
        <p:spPr>
          <a:xfrm>
            <a:off x="980440" y="223520"/>
            <a:ext cx="6132629"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附图与说明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(Figures and description) </a:t>
            </a:r>
            <a:r>
              <a:rPr lang="en-US" altLang="zh-CN" sz="2400" dirty="0">
                <a:solidFill>
                  <a:srgbClr val="FF0000"/>
                </a:solidFill>
                <a:latin typeface="思源黑体 CN Regular" panose="020B0500000000000000" charset="-122"/>
                <a:ea typeface="思源黑体 CN Regular" panose="020B0500000000000000" charset="-122"/>
                <a:cs typeface="思源黑体 CN Bold" panose="020B0800000000000000" charset="-122"/>
                <a:sym typeface="+mn-ea"/>
              </a:rPr>
              <a:t>*</a:t>
            </a:r>
          </a:p>
        </p:txBody>
      </p:sp>
      <p:pic>
        <p:nvPicPr>
          <p:cNvPr id="9" name="图片 8" descr="未标题-15464646"/>
          <p:cNvPicPr>
            <a:picLocks noChangeAspect="1"/>
          </p:cNvPicPr>
          <p:nvPr/>
        </p:nvPicPr>
        <p:blipFill>
          <a:blip r:embed="rId5"/>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18</a:t>
            </a:fld>
            <a:endParaRPr kumimoji="1" lang="zh-CN" altLang="en-US" dirty="0"/>
          </a:p>
        </p:txBody>
      </p:sp>
      <p:pic>
        <p:nvPicPr>
          <p:cNvPr id="15" name="图片 14" descr="777"/>
          <p:cNvPicPr>
            <a:picLocks noChangeAspect="1"/>
          </p:cNvPicPr>
          <p:nvPr/>
        </p:nvPicPr>
        <p:blipFill>
          <a:blip r:embed="rId6"/>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sp>
        <p:nvSpPr>
          <p:cNvPr id="26"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
        <p:nvSpPr>
          <p:cNvPr id="17" name="文本框 16">
            <a:extLst>
              <a:ext uri="{FF2B5EF4-FFF2-40B4-BE49-F238E27FC236}">
                <a16:creationId xmlns:a16="http://schemas.microsoft.com/office/drawing/2014/main" id="{737ECE56-086C-4BEC-B284-B1F585D4A24E}"/>
              </a:ext>
            </a:extLst>
          </p:cNvPr>
          <p:cNvSpPr txBox="1"/>
          <p:nvPr/>
        </p:nvSpPr>
        <p:spPr>
          <a:xfrm>
            <a:off x="4807598" y="1092816"/>
            <a:ext cx="6106884" cy="738664"/>
          </a:xfrm>
          <a:prstGeom prst="rect">
            <a:avLst/>
          </a:prstGeom>
          <a:noFill/>
        </p:spPr>
        <p:txBody>
          <a:bodyPr wrap="square">
            <a:spAutoFit/>
          </a:bodyPr>
          <a:lstStyle/>
          <a:p>
            <a:r>
              <a:rPr lang="zh-CN" altLang="en-US" sz="1400" dirty="0"/>
              <a:t>图4 用户通过手绘箭头和语音指令请求调整元件间距后，系统计算受影响区域、调用扩散模型进行局部重绘（20步）、以半透明虚线预览供用户确认、最终执行并更新版图的完整流程。</a:t>
            </a:r>
          </a:p>
        </p:txBody>
      </p:sp>
    </p:spTree>
    <p:extLst>
      <p:ext uri="{BB962C8B-B14F-4D97-AF65-F5344CB8AC3E}">
        <p14:creationId xmlns:p14="http://schemas.microsoft.com/office/powerpoint/2010/main" val="3114844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0"/>
          <p:cNvCxnSpPr/>
          <p:nvPr/>
        </p:nvCxnSpPr>
        <p:spPr>
          <a:xfrm>
            <a:off x="0" y="789305"/>
            <a:ext cx="12200255" cy="0"/>
          </a:xfrm>
          <a:prstGeom prst="line">
            <a:avLst/>
          </a:prstGeom>
          <a:ln w="12700">
            <a:solidFill>
              <a:srgbClr val="005CB9"/>
            </a:solidFill>
          </a:ln>
        </p:spPr>
        <p:style>
          <a:lnRef idx="1">
            <a:schemeClr val="accent1"/>
          </a:lnRef>
          <a:fillRef idx="0">
            <a:schemeClr val="accent1"/>
          </a:fillRef>
          <a:effectRef idx="0">
            <a:schemeClr val="accent1"/>
          </a:effectRef>
          <a:fontRef idx="minor">
            <a:schemeClr val="tx1"/>
          </a:fontRef>
        </p:style>
      </p:cxnSp>
      <p:pic>
        <p:nvPicPr>
          <p:cNvPr id="126" name="图片 1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1489" y="322069"/>
            <a:ext cx="644388" cy="171837"/>
          </a:xfrm>
          <a:prstGeom prst="rect">
            <a:avLst/>
          </a:prstGeom>
        </p:spPr>
      </p:pic>
      <p:sp>
        <p:nvSpPr>
          <p:cNvPr id="5" name="矩形 4"/>
          <p:cNvSpPr/>
          <p:nvPr/>
        </p:nvSpPr>
        <p:spPr>
          <a:xfrm>
            <a:off x="389890" y="261620"/>
            <a:ext cx="480060" cy="292735"/>
          </a:xfrm>
          <a:prstGeom prst="rect">
            <a:avLst/>
          </a:prstGeom>
          <a:solidFill>
            <a:srgbClr val="005CB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dist">
              <a:lnSpc>
                <a:spcPct val="120000"/>
              </a:lnSpc>
            </a:pPr>
            <a:r>
              <a:rPr lang="en-US" altLang="zh-CN" sz="1200" dirty="0">
                <a:latin typeface="思源黑体 CN Medium" panose="020B0600000000000000" charset="-122"/>
                <a:ea typeface="思源黑体 CN Medium" panose="020B0600000000000000" charset="-122"/>
                <a:cs typeface="Aparajita" panose="020B0604020202020204" pitchFamily="34" charset="0"/>
              </a:rPr>
              <a:t>8</a:t>
            </a:r>
          </a:p>
        </p:txBody>
      </p:sp>
      <p:sp>
        <p:nvSpPr>
          <p:cNvPr id="7" name="TextBox 48"/>
          <p:cNvSpPr txBox="1"/>
          <p:nvPr/>
        </p:nvSpPr>
        <p:spPr>
          <a:xfrm>
            <a:off x="980440" y="223520"/>
            <a:ext cx="6055627" cy="369332"/>
          </a:xfrm>
          <a:prstGeom prst="rect">
            <a:avLst/>
          </a:prstGeom>
          <a:noFill/>
        </p:spPr>
        <p:txBody>
          <a:bodyPr wrap="square" lIns="0" tIns="0" rIns="0" bIns="0" rtlCol="0">
            <a:spAutoFit/>
          </a:bodyPr>
          <a:lstStyle/>
          <a:p>
            <a:pPr>
              <a:defRPr/>
            </a:pPr>
            <a:r>
              <a:rPr lang="zh-CN" altLang="en-US" sz="2400" dirty="0">
                <a:latin typeface="思源黑体 CN Regular" panose="020B0500000000000000" charset="-122"/>
                <a:ea typeface="思源黑体 CN Regular" panose="020B0500000000000000" charset="-122"/>
                <a:cs typeface="思源黑体 CN Bold" panose="020B0800000000000000" charset="-122"/>
                <a:sym typeface="+mn-ea"/>
              </a:rPr>
              <a:t>缩略语 </a:t>
            </a:r>
            <a:r>
              <a:rPr lang="en-US" altLang="zh-CN" sz="2400" dirty="0">
                <a:latin typeface="思源黑体 CN Regular" panose="020B0500000000000000" charset="-122"/>
                <a:ea typeface="思源黑体 CN Regular" panose="020B0500000000000000" charset="-122"/>
                <a:cs typeface="思源黑体 CN Bold" panose="020B0800000000000000" charset="-122"/>
                <a:sym typeface="+mn-ea"/>
              </a:rPr>
              <a:t>(Description of the abbreviation) </a:t>
            </a:r>
          </a:p>
        </p:txBody>
      </p:sp>
      <p:pic>
        <p:nvPicPr>
          <p:cNvPr id="9" name="图片 8" descr="未标题-15464646"/>
          <p:cNvPicPr>
            <a:picLocks noChangeAspect="1"/>
          </p:cNvPicPr>
          <p:nvPr/>
        </p:nvPicPr>
        <p:blipFill>
          <a:blip r:embed="rId4"/>
          <a:srcRect r="44315" b="-12355"/>
          <a:stretch>
            <a:fillRect/>
          </a:stretch>
        </p:blipFill>
        <p:spPr>
          <a:xfrm>
            <a:off x="11765915" y="320675"/>
            <a:ext cx="426085" cy="184785"/>
          </a:xfrm>
          <a:prstGeom prst="rect">
            <a:avLst/>
          </a:prstGeom>
        </p:spPr>
      </p:pic>
      <p:sp>
        <p:nvSpPr>
          <p:cNvPr id="23" name="灯片编号占位符 22"/>
          <p:cNvSpPr>
            <a:spLocks noGrp="1"/>
          </p:cNvSpPr>
          <p:nvPr>
            <p:ph type="sldNum" sz="quarter" idx="12"/>
          </p:nvPr>
        </p:nvSpPr>
        <p:spPr>
          <a:xfrm>
            <a:off x="9295765" y="6406515"/>
            <a:ext cx="2743200" cy="365125"/>
          </a:xfrm>
        </p:spPr>
        <p:txBody>
          <a:bodyPr/>
          <a:lstStyle/>
          <a:p>
            <a:fld id="{4085C35A-A984-384D-9063-286D40D760B5}" type="slidenum">
              <a:rPr kumimoji="1" lang="zh-CN" altLang="en-US" smtClean="0"/>
              <a:t>19</a:t>
            </a:fld>
            <a:endParaRPr kumimoji="1" lang="zh-CN" altLang="en-US"/>
          </a:p>
        </p:txBody>
      </p:sp>
      <p:pic>
        <p:nvPicPr>
          <p:cNvPr id="15" name="图片 14" descr="777"/>
          <p:cNvPicPr>
            <a:picLocks noChangeAspect="1"/>
          </p:cNvPicPr>
          <p:nvPr/>
        </p:nvPicPr>
        <p:blipFill>
          <a:blip r:embed="rId5"/>
          <a:stretch>
            <a:fillRect/>
          </a:stretch>
        </p:blipFill>
        <p:spPr>
          <a:xfrm>
            <a:off x="11775440" y="6451600"/>
            <a:ext cx="266065" cy="269875"/>
          </a:xfrm>
          <a:prstGeom prst="rect">
            <a:avLst/>
          </a:prstGeom>
        </p:spPr>
      </p:pic>
      <p:sp>
        <p:nvSpPr>
          <p:cNvPr id="14" name="TextBox 48"/>
          <p:cNvSpPr txBox="1"/>
          <p:nvPr/>
        </p:nvSpPr>
        <p:spPr>
          <a:xfrm>
            <a:off x="389890" y="6535420"/>
            <a:ext cx="1775794" cy="107722"/>
          </a:xfrm>
          <a:prstGeom prst="rect">
            <a:avLst/>
          </a:prstGeom>
          <a:noFill/>
        </p:spPr>
        <p:txBody>
          <a:bodyPr wrap="square" lIns="0" tIns="0" rIns="0" bIns="0" rtlCol="0">
            <a:spAutoFit/>
          </a:bodyPr>
          <a:lstStyle/>
          <a:p>
            <a:pPr algn="dist">
              <a:lnSpc>
                <a:spcPct val="100000"/>
              </a:lnSpc>
              <a:buClrTx/>
              <a:buSzTx/>
              <a:buFontTx/>
              <a:defRPr/>
            </a:pPr>
            <a:r>
              <a:rPr lang="en-US" altLang="zh-CN" sz="700" b="1" dirty="0" err="1">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ChangXin</a:t>
            </a:r>
            <a:r>
              <a:rPr lang="en-US" altLang="zh-CN" sz="7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 Memory Technologies, Inc.</a:t>
            </a:r>
            <a:endParaRPr lang="zh-CN" altLang="en-US" sz="7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cxnSp>
        <p:nvCxnSpPr>
          <p:cNvPr id="16" name="Straight Connector 14"/>
          <p:cNvCxnSpPr/>
          <p:nvPr/>
        </p:nvCxnSpPr>
        <p:spPr>
          <a:xfrm>
            <a:off x="-94" y="6586447"/>
            <a:ext cx="30099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cxnSp>
        <p:nvCxnSpPr>
          <p:cNvPr id="18" name="Straight Connector 14"/>
          <p:cNvCxnSpPr/>
          <p:nvPr/>
        </p:nvCxnSpPr>
        <p:spPr>
          <a:xfrm>
            <a:off x="2233101" y="6589622"/>
            <a:ext cx="6423660" cy="0"/>
          </a:xfrm>
          <a:prstGeom prst="line">
            <a:avLst/>
          </a:prstGeom>
          <a:ln w="12700">
            <a:solidFill>
              <a:srgbClr val="005C9F"/>
            </a:solidFill>
          </a:ln>
        </p:spPr>
        <p:style>
          <a:lnRef idx="1">
            <a:schemeClr val="accent1"/>
          </a:lnRef>
          <a:fillRef idx="0">
            <a:schemeClr val="accent1"/>
          </a:fillRef>
          <a:effectRef idx="0">
            <a:schemeClr val="accent1"/>
          </a:effectRef>
          <a:fontRef idx="minor">
            <a:schemeClr val="tx1"/>
          </a:fontRef>
        </p:style>
      </p:cxnSp>
      <p:graphicFrame>
        <p:nvGraphicFramePr>
          <p:cNvPr id="12" name="表格 11"/>
          <p:cNvGraphicFramePr>
            <a:graphicFrameLocks noGrp="1"/>
          </p:cNvGraphicFramePr>
          <p:nvPr>
            <p:extLst>
              <p:ext uri="{D42A27DB-BD31-4B8C-83A1-F6EECF244321}">
                <p14:modId xmlns:p14="http://schemas.microsoft.com/office/powerpoint/2010/main" val="180066454"/>
              </p:ext>
            </p:extLst>
          </p:nvPr>
        </p:nvGraphicFramePr>
        <p:xfrm>
          <a:off x="169545" y="1840967"/>
          <a:ext cx="11871960" cy="4450080"/>
        </p:xfrm>
        <a:graphic>
          <a:graphicData uri="http://schemas.openxmlformats.org/drawingml/2006/table">
            <a:tbl>
              <a:tblPr firstRow="1" bandRow="1"/>
              <a:tblGrid>
                <a:gridCol w="3957320">
                  <a:extLst>
                    <a:ext uri="{9D8B030D-6E8A-4147-A177-3AD203B41FA5}">
                      <a16:colId xmlns:a16="http://schemas.microsoft.com/office/drawing/2014/main" val="2287033212"/>
                    </a:ext>
                  </a:extLst>
                </a:gridCol>
                <a:gridCol w="3957320">
                  <a:extLst>
                    <a:ext uri="{9D8B030D-6E8A-4147-A177-3AD203B41FA5}">
                      <a16:colId xmlns:a16="http://schemas.microsoft.com/office/drawing/2014/main" val="1128220425"/>
                    </a:ext>
                  </a:extLst>
                </a:gridCol>
                <a:gridCol w="3957320">
                  <a:extLst>
                    <a:ext uri="{9D8B030D-6E8A-4147-A177-3AD203B41FA5}">
                      <a16:colId xmlns:a16="http://schemas.microsoft.com/office/drawing/2014/main" val="1489511942"/>
                    </a:ext>
                  </a:extLst>
                </a:gridCol>
              </a:tblGrid>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a:t>缩写 </a:t>
                      </a:r>
                      <a:r>
                        <a:rPr lang="en-US" altLang="zh-CN" dirty="0"/>
                        <a:t>(Abbreviation)</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a:t>中文</a:t>
                      </a:r>
                      <a:r>
                        <a:rPr lang="en-US" altLang="zh-CN" dirty="0"/>
                        <a:t>(Chinese)</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英文 </a:t>
                      </a:r>
                      <a:r>
                        <a:rPr lang="en-US" altLang="zh-CN" dirty="0"/>
                        <a:t>(English)</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910365626"/>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EDA</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Electronic Design Automation</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a:t>电子设计自动化</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354985312"/>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MLLM</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Multi-modal Large Language Model</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a:t>多模态大语言模型</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409477993"/>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TCAD</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Technology Computer-Aided Design</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a:t>工艺计算机辅助设计（仿真）</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878876753"/>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DRC</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Design Rule Check</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a:t>设计规则检查</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655683665"/>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err="1"/>
                        <a:t>ViT</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Vision Transformer</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a:t>视觉</a:t>
                      </a:r>
                      <a:r>
                        <a:rPr lang="en-US" altLang="zh-CN" dirty="0"/>
                        <a:t>Transformer</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115396810"/>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GNN</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Graph Neural Network</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a:t>图神经网络</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286169574"/>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JSON</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JavaScript Object Notation</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JavaScript</a:t>
                      </a:r>
                      <a:r>
                        <a:rPr lang="zh-CN" altLang="en-US" dirty="0"/>
                        <a:t>对象表示法</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988400443"/>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API</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Application Programming Interface</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zh-CN" altLang="en-US" dirty="0"/>
                        <a:t>应用程序编程接口</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250688946"/>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PDK</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altLang="zh-CN" dirty="0"/>
                        <a:t>Process Design Kit</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工艺设计套件</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4055934356"/>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179966524"/>
                  </a:ext>
                </a:extLst>
              </a:tr>
              <a:tr h="3708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756373129"/>
                  </a:ext>
                </a:extLst>
              </a:tr>
            </a:tbl>
          </a:graphicData>
        </a:graphic>
      </p:graphicFrame>
      <p:sp>
        <p:nvSpPr>
          <p:cNvPr id="17" name="TextBox 48"/>
          <p:cNvSpPr txBox="1"/>
          <p:nvPr/>
        </p:nvSpPr>
        <p:spPr>
          <a:xfrm>
            <a:off x="10667365" y="6514842"/>
            <a:ext cx="931194" cy="184666"/>
          </a:xfrm>
          <a:prstGeom prst="rect">
            <a:avLst/>
          </a:prstGeom>
          <a:noFill/>
        </p:spPr>
        <p:txBody>
          <a:bodyPr wrap="square" lIns="0" tIns="0" rIns="0" bIns="0" rtlCol="0">
            <a:spAutoFit/>
          </a:bodyPr>
          <a:lstStyle/>
          <a:p>
            <a:pPr>
              <a:lnSpc>
                <a:spcPct val="100000"/>
              </a:lnSpc>
              <a:buClrTx/>
              <a:buSzTx/>
              <a:buFontTx/>
              <a:defRPr/>
            </a:pPr>
            <a:r>
              <a:rPr lang="en-US" altLang="zh-CN" sz="1200" b="1" dirty="0">
                <a:solidFill>
                  <a:srgbClr val="005CB9"/>
                </a:solidFill>
                <a:latin typeface="思源黑体 CN ExtraLight" panose="020B0200000000000000" charset="-122"/>
                <a:ea typeface="思源黑体 CN ExtraLight" panose="020B0200000000000000" charset="-122"/>
                <a:cs typeface="思源黑体 CN Bold" panose="020B0800000000000000" charset="-122"/>
                <a:sym typeface="+mn-ea"/>
              </a:rPr>
              <a:t>Confidential</a:t>
            </a:r>
            <a:endParaRPr lang="zh-CN" altLang="en-US" sz="1200" b="1" dirty="0">
              <a:solidFill>
                <a:srgbClr val="005CB9"/>
              </a:solidFill>
              <a:effectLst/>
              <a:latin typeface="思源黑体 CN ExtraLight" panose="020B0200000000000000" charset="-122"/>
              <a:ea typeface="思源黑体 CN ExtraLight" panose="020B0200000000000000" charset="-122"/>
              <a:cs typeface="思源黑体 CN Bold" panose="020B0800000000000000" charset="-122"/>
              <a:sym typeface="+mn-ea"/>
            </a:endParaRPr>
          </a:p>
        </p:txBody>
      </p:sp>
      <p:sp>
        <p:nvSpPr>
          <p:cNvPr id="19" name="内容占位符 2">
            <a:extLst>
              <a:ext uri="{FF2B5EF4-FFF2-40B4-BE49-F238E27FC236}">
                <a16:creationId xmlns:a16="http://schemas.microsoft.com/office/drawing/2014/main" id="{78507D69-2EC3-4A8F-83A8-7FE3B7CEE702}"/>
              </a:ext>
            </a:extLst>
          </p:cNvPr>
          <p:cNvSpPr txBox="1">
            <a:spLocks/>
          </p:cNvSpPr>
          <p:nvPr/>
        </p:nvSpPr>
        <p:spPr>
          <a:xfrm>
            <a:off x="150401" y="960997"/>
            <a:ext cx="11871960" cy="757783"/>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000" dirty="0">
                <a:latin typeface="等线" panose="02010600030101010101" pitchFamily="2" charset="-122"/>
                <a:ea typeface="等线" panose="02010600030101010101" pitchFamily="2" charset="-122"/>
              </a:rPr>
              <a:t>英文缩写，请在这一部分写清楚对应的中文和英文全称。</a:t>
            </a:r>
            <a:endParaRPr lang="en-US" altLang="zh-CN" sz="2000" dirty="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2223127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c1YzY1YTYyOWRiMTdhZTgzN2E1NDYxMjU0OTQ4NDEifQ=="/>
  <p:tag name="KSO_WPP_MARK_KEY" val="26e85459-0fda-4a04-aa0b-61ef4b14333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3215</TotalTime>
  <Words>4615</Words>
  <Application>Microsoft Office PowerPoint</Application>
  <PresentationFormat>宽屏</PresentationFormat>
  <Paragraphs>419</Paragraphs>
  <Slides>19</Slides>
  <Notes>18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19</vt:i4>
      </vt:variant>
    </vt:vector>
  </HeadingPairs>
  <TitlesOfParts>
    <vt:vector size="32" baseType="lpstr">
      <vt:lpstr>等线</vt:lpstr>
      <vt:lpstr>等线 Light</vt:lpstr>
      <vt:lpstr>思源黑体 CN Bold</vt:lpstr>
      <vt:lpstr>思源黑体 CN ExtraLight</vt:lpstr>
      <vt:lpstr>思源黑体 CN Light</vt:lpstr>
      <vt:lpstr>思源黑体 CN Medium</vt:lpstr>
      <vt:lpstr>思源黑体 CN Regular</vt:lpstr>
      <vt:lpstr>宋体</vt:lpstr>
      <vt:lpstr>Arial</vt:lpstr>
      <vt:lpstr>Arial</vt:lpstr>
      <vt:lpstr>Calibri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74102</dc:creator>
  <cp:lastModifiedBy>Paul Liu (刘杨)</cp:lastModifiedBy>
  <cp:revision>312</cp:revision>
  <dcterms:created xsi:type="dcterms:W3CDTF">2022-07-02T04:15:00Z</dcterms:created>
  <dcterms:modified xsi:type="dcterms:W3CDTF">2026-04-22T05:06:18Z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2BD93C7C25D54DDDAC986DEB88100A09</vt:lpwstr>
  </property>
  <property fmtid="{D5CDD505-2E9C-101B-9397-08002B2CF9AE}" pid="3" name="KSOProductBuildVer">
    <vt:lpwstr>2052-11.1.0.12763</vt:lpwstr>
  </property>
</Properties>
</file>